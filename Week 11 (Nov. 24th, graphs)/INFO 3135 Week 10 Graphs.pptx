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256" r:id="rId3"/>
    <p:sldId id="257" r:id="rId4"/>
    <p:sldId id="258" r:id="rId5"/>
    <p:sldId id="268" r:id="rId6"/>
    <p:sldId id="259" r:id="rId7"/>
    <p:sldId id="260" r:id="rId8"/>
    <p:sldId id="261" r:id="rId9"/>
    <p:sldId id="262" r:id="rId10"/>
    <p:sldId id="263" r:id="rId11"/>
    <p:sldId id="264" r:id="rId12"/>
    <p:sldId id="265" r:id="rId13"/>
    <p:sldId id="266" r:id="rId14"/>
    <p:sldId id="267" r:id="rId15"/>
    <p:sldId id="270" r:id="rId16"/>
    <p:sldId id="269" r:id="rId17"/>
    <p:sldId id="271" r:id="rId18"/>
    <p:sldId id="272" r:id="rId19"/>
    <p:sldId id="273" r:id="rId20"/>
    <p:sldId id="274" r:id="rId21"/>
    <p:sldId id="278" r:id="rId22"/>
    <p:sldId id="275" r:id="rId23"/>
    <p:sldId id="279" r:id="rId24"/>
    <p:sldId id="27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snapToGrid="0">
      <p:cViewPr varScale="1">
        <p:scale>
          <a:sx n="108" d="100"/>
          <a:sy n="108" d="100"/>
        </p:scale>
        <p:origin x="70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p:cNvSpPr>
            <a:spLocks noGrp="1"/>
          </p:cNvSpPr>
          <p:nvPr>
            <p:ph type="dt" sz="half" idx="10"/>
          </p:nvPr>
        </p:nvSpPr>
        <p:spPr/>
        <p:txBody>
          <a:bodyPr/>
          <a:lstStyle/>
          <a:p>
            <a:fld id="{1E4A8252-26A2-422C-8021-53F2FA7F3083}" type="datetimeFigureOut">
              <a:rPr lang="en-CA" smtClean="0"/>
              <a:t>2020-11-12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2077059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1E4A8252-26A2-422C-8021-53F2FA7F3083}" type="datetimeFigureOut">
              <a:rPr lang="en-CA" smtClean="0"/>
              <a:t>2020-11-12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2963017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4A8252-26A2-422C-8021-53F2FA7F3083}" type="datetimeFigureOut">
              <a:rPr lang="en-CA" smtClean="0"/>
              <a:t>2020-11-12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1255086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p:cNvSpPr>
            <a:spLocks noGrp="1"/>
          </p:cNvSpPr>
          <p:nvPr>
            <p:ph type="dt" sz="half" idx="10"/>
          </p:nvPr>
        </p:nvSpPr>
        <p:spPr/>
        <p:txBody>
          <a:bodyPr/>
          <a:lstStyle/>
          <a:p>
            <a:fld id="{1E4A8252-26A2-422C-8021-53F2FA7F3083}" type="datetimeFigureOut">
              <a:rPr lang="en-CA" smtClean="0"/>
              <a:t>2020-11-12</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3034710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p:cNvSpPr>
            <a:spLocks noGrp="1"/>
          </p:cNvSpPr>
          <p:nvPr>
            <p:ph type="dt" sz="half" idx="10"/>
          </p:nvPr>
        </p:nvSpPr>
        <p:spPr/>
        <p:txBody>
          <a:bodyPr/>
          <a:lstStyle/>
          <a:p>
            <a:fld id="{1E4A8252-26A2-422C-8021-53F2FA7F3083}" type="datetimeFigureOut">
              <a:rPr lang="en-CA" smtClean="0"/>
              <a:t>2020-11-12</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3894773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p:txBody>
          <a:bodyPr/>
          <a:lstStyle/>
          <a:p>
            <a:fld id="{1E4A8252-26A2-422C-8021-53F2FA7F3083}" type="datetimeFigureOut">
              <a:rPr lang="en-CA" smtClean="0"/>
              <a:t>2020-11-12</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1678366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4A8252-26A2-422C-8021-53F2FA7F3083}" type="datetimeFigureOut">
              <a:rPr lang="en-CA" smtClean="0"/>
              <a:t>2020-11-12</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4280413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4A8252-26A2-422C-8021-53F2FA7F3083}" type="datetimeFigureOut">
              <a:rPr lang="en-CA" smtClean="0"/>
              <a:t>2020-11-12</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3439465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4A8252-26A2-422C-8021-53F2FA7F3083}" type="datetimeFigureOut">
              <a:rPr lang="en-CA" smtClean="0"/>
              <a:t>2020-11-12</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1493598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1E4A8252-26A2-422C-8021-53F2FA7F3083}" type="datetimeFigureOut">
              <a:rPr lang="en-CA" smtClean="0"/>
              <a:t>2020-11-12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4179238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1E4A8252-26A2-422C-8021-53F2FA7F3083}" type="datetimeFigureOut">
              <a:rPr lang="en-CA" smtClean="0"/>
              <a:t>2020-11-12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ADD8DDE3-37DC-4FC1-86DE-98D0EA336BFE}" type="slidenum">
              <a:rPr lang="en-CA" smtClean="0"/>
              <a:t>‹#›</a:t>
            </a:fld>
            <a:endParaRPr lang="en-CA"/>
          </a:p>
        </p:txBody>
      </p:sp>
    </p:spTree>
    <p:extLst>
      <p:ext uri="{BB962C8B-B14F-4D97-AF65-F5344CB8AC3E}">
        <p14:creationId xmlns:p14="http://schemas.microsoft.com/office/powerpoint/2010/main" val="3697055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39815" y="182245"/>
            <a:ext cx="9313985" cy="830629"/>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p:cNvSpPr>
            <a:spLocks noGrp="1"/>
          </p:cNvSpPr>
          <p:nvPr>
            <p:ph type="body" idx="1"/>
          </p:nvPr>
        </p:nvSpPr>
        <p:spPr>
          <a:xfrm>
            <a:off x="838200" y="1508943"/>
            <a:ext cx="10515600" cy="455423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4A8252-26A2-422C-8021-53F2FA7F3083}" type="datetimeFigureOut">
              <a:rPr lang="en-CA" smtClean="0"/>
              <a:t>2020-11-12</a:t>
            </a:fld>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D8DDE3-37DC-4FC1-86DE-98D0EA336BFE}" type="slidenum">
              <a:rPr lang="en-CA" smtClean="0"/>
              <a:t>‹#›</a:t>
            </a:fld>
            <a:endParaRPr lang="en-CA"/>
          </a:p>
        </p:txBody>
      </p:sp>
    </p:spTree>
    <p:extLst>
      <p:ext uri="{BB962C8B-B14F-4D97-AF65-F5344CB8AC3E}">
        <p14:creationId xmlns:p14="http://schemas.microsoft.com/office/powerpoint/2010/main" val="17719772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566E1-6D0D-4136-929A-CF217DA0BBEF}"/>
              </a:ext>
            </a:extLst>
          </p:cNvPr>
          <p:cNvSpPr>
            <a:spLocks noGrp="1"/>
          </p:cNvSpPr>
          <p:nvPr>
            <p:ph type="ctrTitle"/>
          </p:nvPr>
        </p:nvSpPr>
        <p:spPr/>
        <p:txBody>
          <a:bodyPr/>
          <a:lstStyle/>
          <a:p>
            <a:r>
              <a:rPr lang="en-US" dirty="0"/>
              <a:t>INFO-3135</a:t>
            </a:r>
            <a:endParaRPr lang="en-CA" dirty="0"/>
          </a:p>
        </p:txBody>
      </p:sp>
      <p:sp>
        <p:nvSpPr>
          <p:cNvPr id="3" name="Subtitle 2">
            <a:extLst>
              <a:ext uri="{FF2B5EF4-FFF2-40B4-BE49-F238E27FC236}">
                <a16:creationId xmlns:a16="http://schemas.microsoft.com/office/drawing/2014/main" id="{F6392471-ACDA-4F88-AF6D-1BF89FE4D687}"/>
              </a:ext>
            </a:extLst>
          </p:cNvPr>
          <p:cNvSpPr>
            <a:spLocks noGrp="1"/>
          </p:cNvSpPr>
          <p:nvPr>
            <p:ph type="subTitle" idx="1"/>
          </p:nvPr>
        </p:nvSpPr>
        <p:spPr/>
        <p:txBody>
          <a:bodyPr/>
          <a:lstStyle/>
          <a:p>
            <a:r>
              <a:rPr lang="en-US" dirty="0"/>
              <a:t>Graphs</a:t>
            </a:r>
            <a:endParaRPr lang="en-CA" dirty="0"/>
          </a:p>
        </p:txBody>
      </p:sp>
    </p:spTree>
    <p:extLst>
      <p:ext uri="{BB962C8B-B14F-4D97-AF65-F5344CB8AC3E}">
        <p14:creationId xmlns:p14="http://schemas.microsoft.com/office/powerpoint/2010/main" val="822750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Graphs</a:t>
            </a:r>
          </a:p>
        </p:txBody>
      </p:sp>
      <p:sp>
        <p:nvSpPr>
          <p:cNvPr id="3" name="Content Placeholder 2"/>
          <p:cNvSpPr>
            <a:spLocks noGrp="1"/>
          </p:cNvSpPr>
          <p:nvPr>
            <p:ph idx="1"/>
          </p:nvPr>
        </p:nvSpPr>
        <p:spPr/>
        <p:txBody>
          <a:bodyPr>
            <a:normAutofit lnSpcReduction="10000"/>
          </a:bodyPr>
          <a:lstStyle/>
          <a:p>
            <a:r>
              <a:rPr lang="en-CA" dirty="0"/>
              <a:t>A graph is a way of representing relationships that exist between pairs of objects.</a:t>
            </a:r>
          </a:p>
          <a:p>
            <a:r>
              <a:rPr lang="en-CA" dirty="0"/>
              <a:t>That is, a graph is a set of objects, called vertices, together with a collection of pairwise connections between them.</a:t>
            </a:r>
          </a:p>
          <a:p>
            <a:r>
              <a:rPr lang="en-CA" dirty="0"/>
              <a:t>Graphs have applications in mapping, transportation, electrical engineering, and computer networks.</a:t>
            </a:r>
          </a:p>
          <a:p>
            <a:r>
              <a:rPr lang="en-CA" dirty="0"/>
              <a:t>Viewed abstractly, a graph G is simply a set N of Nodes and a collection E of pairs of vertices from N, called edges. </a:t>
            </a:r>
          </a:p>
          <a:p>
            <a:pPr lvl="1"/>
            <a:r>
              <a:rPr lang="en-CA" dirty="0"/>
              <a:t>Therefore, a graph is a way of representing connections or relationships between pairs of objects from some set N.</a:t>
            </a:r>
          </a:p>
          <a:p>
            <a:pPr lvl="1"/>
            <a:r>
              <a:rPr lang="en-CA" dirty="0"/>
              <a:t>There is no limit to the number of Nodes or the edges between them</a:t>
            </a:r>
          </a:p>
        </p:txBody>
      </p:sp>
    </p:spTree>
    <p:extLst>
      <p:ext uri="{BB962C8B-B14F-4D97-AF65-F5344CB8AC3E}">
        <p14:creationId xmlns:p14="http://schemas.microsoft.com/office/powerpoint/2010/main" val="15809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Graphs</a:t>
            </a:r>
          </a:p>
        </p:txBody>
      </p:sp>
      <p:sp>
        <p:nvSpPr>
          <p:cNvPr id="3" name="Content Placeholder 2"/>
          <p:cNvSpPr>
            <a:spLocks noGrp="1"/>
          </p:cNvSpPr>
          <p:nvPr>
            <p:ph idx="1"/>
          </p:nvPr>
        </p:nvSpPr>
        <p:spPr/>
        <p:txBody>
          <a:bodyPr>
            <a:normAutofit/>
          </a:bodyPr>
          <a:lstStyle/>
          <a:p>
            <a:r>
              <a:rPr lang="en-CA" dirty="0"/>
              <a:t>Edges in a graph are either directed or undirected. </a:t>
            </a:r>
          </a:p>
          <a:p>
            <a:r>
              <a:rPr lang="en-CA" dirty="0"/>
              <a:t>An edge (</a:t>
            </a:r>
            <a:r>
              <a:rPr lang="en-CA" dirty="0" err="1"/>
              <a:t>u,v</a:t>
            </a:r>
            <a:r>
              <a:rPr lang="en-CA" dirty="0"/>
              <a:t>) is said to be directed from u to v if the pair (</a:t>
            </a:r>
            <a:r>
              <a:rPr lang="en-CA" dirty="0" err="1"/>
              <a:t>u,v</a:t>
            </a:r>
            <a:r>
              <a:rPr lang="en-CA" dirty="0"/>
              <a:t>) is ordered, with u preceding v. </a:t>
            </a:r>
          </a:p>
          <a:p>
            <a:r>
              <a:rPr lang="en-CA" dirty="0"/>
              <a:t>An edge (</a:t>
            </a:r>
            <a:r>
              <a:rPr lang="en-CA" dirty="0" err="1"/>
              <a:t>u,v</a:t>
            </a:r>
            <a:r>
              <a:rPr lang="en-CA" dirty="0"/>
              <a:t>) is said to be undirected if the pair (</a:t>
            </a:r>
            <a:r>
              <a:rPr lang="en-CA" dirty="0" err="1"/>
              <a:t>u,v</a:t>
            </a:r>
            <a:r>
              <a:rPr lang="en-CA" dirty="0"/>
              <a:t>) is not ordered. </a:t>
            </a:r>
          </a:p>
          <a:p>
            <a:r>
              <a:rPr lang="en-CA" dirty="0"/>
              <a:t>Undirected edges are sometimes denoted with set notation, as {</a:t>
            </a:r>
            <a:r>
              <a:rPr lang="en-CA" dirty="0" err="1"/>
              <a:t>u,v</a:t>
            </a:r>
            <a:r>
              <a:rPr lang="en-CA" dirty="0"/>
              <a:t>}</a:t>
            </a:r>
          </a:p>
          <a:p>
            <a:r>
              <a:rPr lang="en-CA" dirty="0"/>
              <a:t>Graphs are typically visualized by drawing the vertices as ovals or rectangles and the edges as segments or curves connecting pairs of ovals and rectangles.</a:t>
            </a:r>
          </a:p>
        </p:txBody>
      </p:sp>
    </p:spTree>
    <p:extLst>
      <p:ext uri="{BB962C8B-B14F-4D97-AF65-F5344CB8AC3E}">
        <p14:creationId xmlns:p14="http://schemas.microsoft.com/office/powerpoint/2010/main" val="3316252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Graphs</a:t>
            </a:r>
          </a:p>
        </p:txBody>
      </p:sp>
      <p:sp>
        <p:nvSpPr>
          <p:cNvPr id="3" name="Content Placeholder 2"/>
          <p:cNvSpPr>
            <a:spLocks noGrp="1"/>
          </p:cNvSpPr>
          <p:nvPr>
            <p:ph idx="1"/>
          </p:nvPr>
        </p:nvSpPr>
        <p:spPr>
          <a:xfrm>
            <a:off x="59191" y="1517107"/>
            <a:ext cx="6566807" cy="4554232"/>
          </a:xfrm>
        </p:spPr>
        <p:txBody>
          <a:bodyPr>
            <a:normAutofit fontScale="92500" lnSpcReduction="10000"/>
          </a:bodyPr>
          <a:lstStyle/>
          <a:p>
            <a:r>
              <a:rPr lang="en-CA" dirty="0"/>
              <a:t>We can visualize collaborations among researchers of a certain discipline by creating a graph whose </a:t>
            </a:r>
          </a:p>
          <a:p>
            <a:r>
              <a:rPr lang="en-CA" dirty="0"/>
              <a:t>Nodes are associated with the researchers themselves</a:t>
            </a:r>
          </a:p>
          <a:p>
            <a:r>
              <a:rPr lang="en-CA" dirty="0"/>
              <a:t>Edges connect pairs of Nodes associated with researchers who have co-authored a paper or book.</a:t>
            </a:r>
          </a:p>
          <a:p>
            <a:r>
              <a:rPr lang="en-CA" dirty="0"/>
              <a:t>These edges are undirected because co-authorship is a symmetric relation; that is, if A has coauthored something with B, then B has coauthored something with A.</a:t>
            </a:r>
          </a:p>
          <a:p>
            <a:endParaRPr lang="en-CA" dirty="0"/>
          </a:p>
        </p:txBody>
      </p:sp>
      <p:pic>
        <p:nvPicPr>
          <p:cNvPr id="4" name="Picture 3"/>
          <p:cNvPicPr>
            <a:picLocks noChangeAspect="1"/>
          </p:cNvPicPr>
          <p:nvPr/>
        </p:nvPicPr>
        <p:blipFill>
          <a:blip r:embed="rId2"/>
          <a:stretch>
            <a:fillRect/>
          </a:stretch>
        </p:blipFill>
        <p:spPr>
          <a:xfrm>
            <a:off x="6625998" y="1774923"/>
            <a:ext cx="5324475" cy="4038600"/>
          </a:xfrm>
          <a:prstGeom prst="rect">
            <a:avLst/>
          </a:prstGeom>
        </p:spPr>
      </p:pic>
    </p:spTree>
    <p:extLst>
      <p:ext uri="{BB962C8B-B14F-4D97-AF65-F5344CB8AC3E}">
        <p14:creationId xmlns:p14="http://schemas.microsoft.com/office/powerpoint/2010/main" val="1269329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Examples of Graphs</a:t>
            </a:r>
          </a:p>
        </p:txBody>
      </p:sp>
      <p:pic>
        <p:nvPicPr>
          <p:cNvPr id="4" name="Picture 3"/>
          <p:cNvPicPr>
            <a:picLocks noChangeAspect="1"/>
          </p:cNvPicPr>
          <p:nvPr/>
        </p:nvPicPr>
        <p:blipFill>
          <a:blip r:embed="rId2"/>
          <a:stretch>
            <a:fillRect/>
          </a:stretch>
        </p:blipFill>
        <p:spPr>
          <a:xfrm>
            <a:off x="1243693" y="2104344"/>
            <a:ext cx="9639300" cy="4543425"/>
          </a:xfrm>
          <a:prstGeom prst="rect">
            <a:avLst/>
          </a:prstGeom>
        </p:spPr>
      </p:pic>
      <p:pic>
        <p:nvPicPr>
          <p:cNvPr id="5" name="Picture 4"/>
          <p:cNvPicPr>
            <a:picLocks noChangeAspect="1"/>
          </p:cNvPicPr>
          <p:nvPr/>
        </p:nvPicPr>
        <p:blipFill>
          <a:blip r:embed="rId3"/>
          <a:stretch>
            <a:fillRect/>
          </a:stretch>
        </p:blipFill>
        <p:spPr>
          <a:xfrm>
            <a:off x="2166257" y="1428069"/>
            <a:ext cx="7581900" cy="676275"/>
          </a:xfrm>
          <a:prstGeom prst="rect">
            <a:avLst/>
          </a:prstGeom>
        </p:spPr>
      </p:pic>
    </p:spTree>
    <p:extLst>
      <p:ext uri="{BB962C8B-B14F-4D97-AF65-F5344CB8AC3E}">
        <p14:creationId xmlns:p14="http://schemas.microsoft.com/office/powerpoint/2010/main" val="2896890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Representing Graphs</a:t>
            </a:r>
          </a:p>
        </p:txBody>
      </p:sp>
      <p:sp>
        <p:nvSpPr>
          <p:cNvPr id="3" name="Content Placeholder 2"/>
          <p:cNvSpPr>
            <a:spLocks noGrp="1"/>
          </p:cNvSpPr>
          <p:nvPr>
            <p:ph idx="1"/>
          </p:nvPr>
        </p:nvSpPr>
        <p:spPr>
          <a:xfrm>
            <a:off x="440871" y="1508942"/>
            <a:ext cx="11127922" cy="5055143"/>
          </a:xfrm>
        </p:spPr>
        <p:txBody>
          <a:bodyPr>
            <a:normAutofit fontScale="92500"/>
          </a:bodyPr>
          <a:lstStyle/>
          <a:p>
            <a:r>
              <a:rPr lang="en-CA" dirty="0"/>
              <a:t>There three popular ways of representing graphs, which are usually referred to as the :</a:t>
            </a:r>
          </a:p>
          <a:p>
            <a:pPr lvl="1"/>
            <a:r>
              <a:rPr lang="en-CA" dirty="0"/>
              <a:t>edge list structure</a:t>
            </a:r>
          </a:p>
          <a:p>
            <a:pPr lvl="1"/>
            <a:r>
              <a:rPr lang="en-CA" dirty="0"/>
              <a:t>adjacency list structure</a:t>
            </a:r>
          </a:p>
          <a:p>
            <a:pPr lvl="1"/>
            <a:r>
              <a:rPr lang="en-CA" dirty="0"/>
              <a:t>adjacency matrix. or incidence matrix</a:t>
            </a:r>
          </a:p>
          <a:p>
            <a:r>
              <a:rPr lang="en-CA" dirty="0"/>
              <a:t>All three representations, we use a collection to store the vertices</a:t>
            </a:r>
          </a:p>
          <a:p>
            <a:r>
              <a:rPr lang="en-CA" dirty="0"/>
              <a:t>of the graph. </a:t>
            </a:r>
          </a:p>
          <a:p>
            <a:r>
              <a:rPr lang="en-CA" dirty="0"/>
              <a:t>Regarding the edges, there is a difference between the first two structures and the last. </a:t>
            </a:r>
          </a:p>
          <a:p>
            <a:r>
              <a:rPr lang="en-CA" dirty="0"/>
              <a:t>The edge list structure and the adjacency list structure only store the edges actually present in the graph, while the adjacency matrix stores a placeholder for every pair of vertices (whether there is an edge between them or not).</a:t>
            </a:r>
          </a:p>
        </p:txBody>
      </p:sp>
    </p:spTree>
    <p:extLst>
      <p:ext uri="{BB962C8B-B14F-4D97-AF65-F5344CB8AC3E}">
        <p14:creationId xmlns:p14="http://schemas.microsoft.com/office/powerpoint/2010/main" val="438738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The Edge List Structure</a:t>
            </a:r>
          </a:p>
        </p:txBody>
      </p:sp>
      <p:sp>
        <p:nvSpPr>
          <p:cNvPr id="3" name="Content Placeholder 2"/>
          <p:cNvSpPr>
            <a:spLocks noGrp="1"/>
          </p:cNvSpPr>
          <p:nvPr>
            <p:ph idx="1"/>
          </p:nvPr>
        </p:nvSpPr>
        <p:spPr/>
        <p:txBody>
          <a:bodyPr>
            <a:normAutofit fontScale="77500" lnSpcReduction="20000"/>
          </a:bodyPr>
          <a:lstStyle/>
          <a:p>
            <a:r>
              <a:rPr lang="en-CA" dirty="0"/>
              <a:t>The edge list structure the simplest, though not the most efficient, representation of a graph G. </a:t>
            </a:r>
          </a:p>
          <a:p>
            <a:r>
              <a:rPr lang="en-CA" dirty="0"/>
              <a:t>In this representation, a Node N of G storing an element x is explicitly represented by a Node object. </a:t>
            </a:r>
          </a:p>
          <a:p>
            <a:r>
              <a:rPr lang="en-CA" dirty="0"/>
              <a:t>All such Node objects are stored in a collection V, such as a vector or list. We can think of the nodes being numbered</a:t>
            </a:r>
          </a:p>
          <a:p>
            <a:pPr marL="0" indent="0">
              <a:buNone/>
            </a:pPr>
            <a:r>
              <a:rPr lang="en-CA" b="1" dirty="0">
                <a:solidFill>
                  <a:schemeClr val="accent1">
                    <a:lumMod val="75000"/>
                  </a:schemeClr>
                </a:solidFill>
              </a:rPr>
              <a:t>Node Objects</a:t>
            </a:r>
          </a:p>
          <a:p>
            <a:r>
              <a:rPr lang="en-CA" dirty="0"/>
              <a:t>The object for a node N storing element x has member variables for:</a:t>
            </a:r>
          </a:p>
          <a:p>
            <a:pPr lvl="1"/>
            <a:r>
              <a:rPr lang="en-CA" dirty="0"/>
              <a:t>A copy of x</a:t>
            </a:r>
          </a:p>
          <a:p>
            <a:pPr lvl="1"/>
            <a:r>
              <a:rPr lang="en-CA" dirty="0"/>
              <a:t>The position (or entry) of the vertex-object in collection V </a:t>
            </a:r>
          </a:p>
          <a:p>
            <a:r>
              <a:rPr lang="en-CA" dirty="0"/>
              <a:t>The distinguishing feature of the edge list structure is the way in which it represents edges. </a:t>
            </a:r>
          </a:p>
          <a:p>
            <a:r>
              <a:rPr lang="en-CA" dirty="0"/>
              <a:t>In this structure, an edge E of G storing an element x is explicitly represented by an edge object. The edge objects are stored in a collection E, which would typically be a vector or list.</a:t>
            </a:r>
          </a:p>
        </p:txBody>
      </p:sp>
    </p:spTree>
    <p:extLst>
      <p:ext uri="{BB962C8B-B14F-4D97-AF65-F5344CB8AC3E}">
        <p14:creationId xmlns:p14="http://schemas.microsoft.com/office/powerpoint/2010/main" val="3587635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The Edge List Structure</a:t>
            </a:r>
          </a:p>
        </p:txBody>
      </p:sp>
      <p:sp>
        <p:nvSpPr>
          <p:cNvPr id="3" name="Content Placeholder 2"/>
          <p:cNvSpPr>
            <a:spLocks noGrp="1"/>
          </p:cNvSpPr>
          <p:nvPr>
            <p:ph idx="1"/>
          </p:nvPr>
        </p:nvSpPr>
        <p:spPr>
          <a:xfrm>
            <a:off x="503464" y="1508943"/>
            <a:ext cx="5766707" cy="4554232"/>
          </a:xfrm>
        </p:spPr>
        <p:txBody>
          <a:bodyPr/>
          <a:lstStyle/>
          <a:p>
            <a:pPr marL="0" indent="0">
              <a:buNone/>
            </a:pPr>
            <a:r>
              <a:rPr lang="en-CA" dirty="0">
                <a:solidFill>
                  <a:schemeClr val="accent1">
                    <a:lumMod val="75000"/>
                  </a:schemeClr>
                </a:solidFill>
              </a:rPr>
              <a:t>Edge Objects</a:t>
            </a:r>
          </a:p>
          <a:p>
            <a:r>
              <a:rPr lang="en-CA" dirty="0"/>
              <a:t>The edge object for an edge e storing element x has member variables for:</a:t>
            </a:r>
          </a:p>
          <a:p>
            <a:r>
              <a:rPr lang="en-CA" dirty="0"/>
              <a:t>A copy of x</a:t>
            </a:r>
          </a:p>
          <a:p>
            <a:r>
              <a:rPr lang="en-CA" dirty="0"/>
              <a:t>The vertex positions associated with the endpoint vertices of e</a:t>
            </a:r>
          </a:p>
          <a:p>
            <a:r>
              <a:rPr lang="en-CA" dirty="0"/>
              <a:t>The position (or entry) of the edge-object in collection E</a:t>
            </a:r>
          </a:p>
        </p:txBody>
      </p:sp>
      <p:pic>
        <p:nvPicPr>
          <p:cNvPr id="4" name="Picture 3"/>
          <p:cNvPicPr>
            <a:picLocks noChangeAspect="1"/>
          </p:cNvPicPr>
          <p:nvPr/>
        </p:nvPicPr>
        <p:blipFill>
          <a:blip r:embed="rId2"/>
          <a:stretch>
            <a:fillRect/>
          </a:stretch>
        </p:blipFill>
        <p:spPr>
          <a:xfrm>
            <a:off x="6157231" y="2064203"/>
            <a:ext cx="5887767" cy="2932339"/>
          </a:xfrm>
          <a:prstGeom prst="rect">
            <a:avLst/>
          </a:prstGeom>
        </p:spPr>
      </p:pic>
    </p:spTree>
    <p:extLst>
      <p:ext uri="{BB962C8B-B14F-4D97-AF65-F5344CB8AC3E}">
        <p14:creationId xmlns:p14="http://schemas.microsoft.com/office/powerpoint/2010/main" val="3711927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The Edge List Structure</a:t>
            </a:r>
          </a:p>
        </p:txBody>
      </p:sp>
      <p:sp>
        <p:nvSpPr>
          <p:cNvPr id="3" name="Content Placeholder 2"/>
          <p:cNvSpPr>
            <a:spLocks noGrp="1"/>
          </p:cNvSpPr>
          <p:nvPr>
            <p:ph idx="1"/>
          </p:nvPr>
        </p:nvSpPr>
        <p:spPr>
          <a:xfrm>
            <a:off x="274864" y="1833433"/>
            <a:ext cx="4991100" cy="4229741"/>
          </a:xfrm>
        </p:spPr>
        <p:txBody>
          <a:bodyPr>
            <a:normAutofit/>
          </a:bodyPr>
          <a:lstStyle/>
          <a:p>
            <a:r>
              <a:rPr lang="en-CA" sz="2400" dirty="0"/>
              <a:t>The reason this structure is called the edge list structure is that the simplest and most common implementation of the edge collection E is by using a list.</a:t>
            </a:r>
          </a:p>
          <a:p>
            <a:r>
              <a:rPr lang="en-CA" sz="2400" dirty="0"/>
              <a:t>The main feature of the edge list structure is that it provides direct access from edges to the nodes they are incident upon.</a:t>
            </a:r>
          </a:p>
        </p:txBody>
      </p:sp>
      <p:pic>
        <p:nvPicPr>
          <p:cNvPr id="4" name="Picture 3"/>
          <p:cNvPicPr>
            <a:picLocks noChangeAspect="1"/>
          </p:cNvPicPr>
          <p:nvPr/>
        </p:nvPicPr>
        <p:blipFill>
          <a:blip r:embed="rId2"/>
          <a:stretch>
            <a:fillRect/>
          </a:stretch>
        </p:blipFill>
        <p:spPr>
          <a:xfrm>
            <a:off x="5655128" y="1833434"/>
            <a:ext cx="6172200" cy="3905250"/>
          </a:xfrm>
          <a:prstGeom prst="rect">
            <a:avLst/>
          </a:prstGeom>
        </p:spPr>
      </p:pic>
      <p:sp>
        <p:nvSpPr>
          <p:cNvPr id="5" name="TextBox 4"/>
          <p:cNvSpPr txBox="1"/>
          <p:nvPr/>
        </p:nvSpPr>
        <p:spPr>
          <a:xfrm>
            <a:off x="6106886" y="1648768"/>
            <a:ext cx="1428750" cy="369332"/>
          </a:xfrm>
          <a:prstGeom prst="rect">
            <a:avLst/>
          </a:prstGeom>
          <a:noFill/>
        </p:spPr>
        <p:txBody>
          <a:bodyPr wrap="square" rtlCol="0">
            <a:spAutoFit/>
          </a:bodyPr>
          <a:lstStyle/>
          <a:p>
            <a:r>
              <a:rPr lang="en-CA" dirty="0"/>
              <a:t>List of Nodes</a:t>
            </a:r>
          </a:p>
        </p:txBody>
      </p:sp>
      <p:sp>
        <p:nvSpPr>
          <p:cNvPr id="6" name="TextBox 5"/>
          <p:cNvSpPr txBox="1"/>
          <p:nvPr/>
        </p:nvSpPr>
        <p:spPr>
          <a:xfrm>
            <a:off x="5940879" y="5767811"/>
            <a:ext cx="1428750" cy="369332"/>
          </a:xfrm>
          <a:prstGeom prst="rect">
            <a:avLst/>
          </a:prstGeom>
          <a:noFill/>
        </p:spPr>
        <p:txBody>
          <a:bodyPr wrap="square" rtlCol="0">
            <a:spAutoFit/>
          </a:bodyPr>
          <a:lstStyle/>
          <a:p>
            <a:r>
              <a:rPr lang="en-CA" dirty="0"/>
              <a:t>List of Edges</a:t>
            </a:r>
          </a:p>
        </p:txBody>
      </p:sp>
    </p:spTree>
    <p:extLst>
      <p:ext uri="{BB962C8B-B14F-4D97-AF65-F5344CB8AC3E}">
        <p14:creationId xmlns:p14="http://schemas.microsoft.com/office/powerpoint/2010/main" val="3916443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Let’s compare side by side</a:t>
            </a:r>
          </a:p>
        </p:txBody>
      </p:sp>
      <p:pic>
        <p:nvPicPr>
          <p:cNvPr id="4" name="Picture 3"/>
          <p:cNvPicPr>
            <a:picLocks noChangeAspect="1"/>
          </p:cNvPicPr>
          <p:nvPr/>
        </p:nvPicPr>
        <p:blipFill>
          <a:blip r:embed="rId2"/>
          <a:stretch>
            <a:fillRect/>
          </a:stretch>
        </p:blipFill>
        <p:spPr>
          <a:xfrm>
            <a:off x="0" y="1403724"/>
            <a:ext cx="5887767" cy="2932339"/>
          </a:xfrm>
          <a:prstGeom prst="rect">
            <a:avLst/>
          </a:prstGeom>
        </p:spPr>
      </p:pic>
      <p:pic>
        <p:nvPicPr>
          <p:cNvPr id="5" name="Picture 4"/>
          <p:cNvPicPr>
            <a:picLocks noChangeAspect="1"/>
          </p:cNvPicPr>
          <p:nvPr/>
        </p:nvPicPr>
        <p:blipFill>
          <a:blip r:embed="rId3"/>
          <a:stretch>
            <a:fillRect/>
          </a:stretch>
        </p:blipFill>
        <p:spPr>
          <a:xfrm>
            <a:off x="5887767" y="1972226"/>
            <a:ext cx="6172200" cy="3905250"/>
          </a:xfrm>
          <a:prstGeom prst="rect">
            <a:avLst/>
          </a:prstGeom>
        </p:spPr>
      </p:pic>
      <p:sp>
        <p:nvSpPr>
          <p:cNvPr id="6" name="TextBox 5"/>
          <p:cNvSpPr txBox="1"/>
          <p:nvPr/>
        </p:nvSpPr>
        <p:spPr>
          <a:xfrm>
            <a:off x="6339525" y="1787560"/>
            <a:ext cx="1428750" cy="369332"/>
          </a:xfrm>
          <a:prstGeom prst="rect">
            <a:avLst/>
          </a:prstGeom>
          <a:noFill/>
        </p:spPr>
        <p:txBody>
          <a:bodyPr wrap="square" rtlCol="0">
            <a:spAutoFit/>
          </a:bodyPr>
          <a:lstStyle/>
          <a:p>
            <a:r>
              <a:rPr lang="en-CA" dirty="0"/>
              <a:t>List of Nodes</a:t>
            </a:r>
          </a:p>
        </p:txBody>
      </p:sp>
      <p:sp>
        <p:nvSpPr>
          <p:cNvPr id="7" name="TextBox 6"/>
          <p:cNvSpPr txBox="1"/>
          <p:nvPr/>
        </p:nvSpPr>
        <p:spPr>
          <a:xfrm>
            <a:off x="6173518" y="5906603"/>
            <a:ext cx="1428750" cy="369332"/>
          </a:xfrm>
          <a:prstGeom prst="rect">
            <a:avLst/>
          </a:prstGeom>
          <a:noFill/>
        </p:spPr>
        <p:txBody>
          <a:bodyPr wrap="square" rtlCol="0">
            <a:spAutoFit/>
          </a:bodyPr>
          <a:lstStyle/>
          <a:p>
            <a:r>
              <a:rPr lang="en-CA" dirty="0"/>
              <a:t>List of Edges</a:t>
            </a:r>
          </a:p>
        </p:txBody>
      </p:sp>
    </p:spTree>
    <p:extLst>
      <p:ext uri="{BB962C8B-B14F-4D97-AF65-F5344CB8AC3E}">
        <p14:creationId xmlns:p14="http://schemas.microsoft.com/office/powerpoint/2010/main" val="4248696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The Adjacency List Structure</a:t>
            </a:r>
          </a:p>
        </p:txBody>
      </p:sp>
      <p:sp>
        <p:nvSpPr>
          <p:cNvPr id="3" name="Content Placeholder 2"/>
          <p:cNvSpPr>
            <a:spLocks noGrp="1"/>
          </p:cNvSpPr>
          <p:nvPr>
            <p:ph idx="1"/>
          </p:nvPr>
        </p:nvSpPr>
        <p:spPr/>
        <p:txBody>
          <a:bodyPr>
            <a:normAutofit fontScale="92500" lnSpcReduction="10000"/>
          </a:bodyPr>
          <a:lstStyle/>
          <a:p>
            <a:r>
              <a:rPr lang="en-CA" dirty="0"/>
              <a:t>The adjacency list structure for a graph G adds extra information to the edge list structure that supports direct access to the incident edges (and thus to the adjacent nodes) of each node. </a:t>
            </a:r>
          </a:p>
          <a:p>
            <a:r>
              <a:rPr lang="en-CA" dirty="0"/>
              <a:t>This approach allows us to implement several functions of the graph much faster than what is possible with the edge list structure, even though both of these two representations use an amount of space proportional to the number of vertices and edges in the graph.</a:t>
            </a:r>
          </a:p>
          <a:p>
            <a:r>
              <a:rPr lang="en-CA" dirty="0"/>
              <a:t>The adjacency list structure includes all the structural components of the edge list structure plus the following:</a:t>
            </a:r>
          </a:p>
          <a:p>
            <a:pPr lvl="1"/>
            <a:r>
              <a:rPr lang="en-CA" dirty="0"/>
              <a:t>A node object v holds a reference to a collection I(v), called the incidence collection of v, whose elements store references to the edges incident on v.</a:t>
            </a:r>
          </a:p>
          <a:p>
            <a:pPr lvl="1"/>
            <a:r>
              <a:rPr lang="en-CA" dirty="0"/>
              <a:t>The edge object for an edge e with end nodes v and w holds references to the positions (or entries) associated with edge e in the incidence collections I(v) and I(w).</a:t>
            </a:r>
          </a:p>
        </p:txBody>
      </p:sp>
    </p:spTree>
    <p:extLst>
      <p:ext uri="{BB962C8B-B14F-4D97-AF65-F5344CB8AC3E}">
        <p14:creationId xmlns:p14="http://schemas.microsoft.com/office/powerpoint/2010/main" val="3045948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The Adjacency List Structure</a:t>
            </a:r>
          </a:p>
        </p:txBody>
      </p:sp>
      <p:sp>
        <p:nvSpPr>
          <p:cNvPr id="3" name="Content Placeholder 2"/>
          <p:cNvSpPr>
            <a:spLocks noGrp="1"/>
          </p:cNvSpPr>
          <p:nvPr>
            <p:ph idx="1"/>
          </p:nvPr>
        </p:nvSpPr>
        <p:spPr>
          <a:xfrm>
            <a:off x="228601" y="1704886"/>
            <a:ext cx="5102678" cy="4704078"/>
          </a:xfrm>
        </p:spPr>
        <p:txBody>
          <a:bodyPr/>
          <a:lstStyle/>
          <a:p>
            <a:r>
              <a:rPr lang="en-CA" dirty="0"/>
              <a:t>The incidence collection I(v) for a vertex v is a list, which is why we call this way of representing a graph the adjacency list structure. The adjacency list structure provides direct access both from the edges to the vertices and from the vertices to their incident edges.</a:t>
            </a:r>
          </a:p>
          <a:p>
            <a:endParaRPr lang="en-CA" dirty="0"/>
          </a:p>
        </p:txBody>
      </p:sp>
      <p:pic>
        <p:nvPicPr>
          <p:cNvPr id="4" name="Picture 3"/>
          <p:cNvPicPr>
            <a:picLocks noChangeAspect="1"/>
          </p:cNvPicPr>
          <p:nvPr/>
        </p:nvPicPr>
        <p:blipFill>
          <a:blip r:embed="rId2"/>
          <a:stretch>
            <a:fillRect/>
          </a:stretch>
        </p:blipFill>
        <p:spPr>
          <a:xfrm>
            <a:off x="5652681" y="1291519"/>
            <a:ext cx="6098041" cy="5437211"/>
          </a:xfrm>
          <a:prstGeom prst="rect">
            <a:avLst/>
          </a:prstGeom>
        </p:spPr>
      </p:pic>
    </p:spTree>
    <p:extLst>
      <p:ext uri="{BB962C8B-B14F-4D97-AF65-F5344CB8AC3E}">
        <p14:creationId xmlns:p14="http://schemas.microsoft.com/office/powerpoint/2010/main" val="3799422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The Adjacency Matrix Structure</a:t>
            </a:r>
          </a:p>
        </p:txBody>
      </p:sp>
      <p:sp>
        <p:nvSpPr>
          <p:cNvPr id="3" name="Content Placeholder 2"/>
          <p:cNvSpPr>
            <a:spLocks noGrp="1"/>
          </p:cNvSpPr>
          <p:nvPr>
            <p:ph idx="1"/>
          </p:nvPr>
        </p:nvSpPr>
        <p:spPr>
          <a:xfrm>
            <a:off x="432707" y="1508943"/>
            <a:ext cx="10921093" cy="5136786"/>
          </a:xfrm>
        </p:spPr>
        <p:txBody>
          <a:bodyPr>
            <a:normAutofit fontScale="92500" lnSpcReduction="10000"/>
          </a:bodyPr>
          <a:lstStyle/>
          <a:p>
            <a:r>
              <a:rPr lang="en-CA" dirty="0"/>
              <a:t>Like the adjacency list structure, the adjacency matrix structure of a graph also extends the edge list structure with an additional component. </a:t>
            </a:r>
          </a:p>
          <a:p>
            <a:r>
              <a:rPr lang="en-CA" dirty="0"/>
              <a:t>We add a matrix (a two-dimensional array) A that allows us to determine adjacencies between pairs of nodes. </a:t>
            </a:r>
          </a:p>
          <a:p>
            <a:r>
              <a:rPr lang="en-CA" dirty="0"/>
              <a:t>In the adjacency matrix representation, we think of the nodes as being the integers in the set {0,1, . . . ,n−1} and the edges as being pairs of such integers. This allows us to store references to edges in the cells of a two-dimensional </a:t>
            </a:r>
            <a:r>
              <a:rPr lang="en-CA" dirty="0" err="1"/>
              <a:t>n×n</a:t>
            </a:r>
            <a:r>
              <a:rPr lang="en-CA" dirty="0"/>
              <a:t> array A. </a:t>
            </a:r>
          </a:p>
          <a:p>
            <a:r>
              <a:rPr lang="en-CA" dirty="0"/>
              <a:t>Specifically, the adjacency matrix representation extends the edge list structure as follows:</a:t>
            </a:r>
          </a:p>
          <a:p>
            <a:pPr lvl="1"/>
            <a:r>
              <a:rPr lang="en-CA" dirty="0"/>
              <a:t>A node object v stores a distinct integer </a:t>
            </a:r>
            <a:r>
              <a:rPr lang="en-CA" dirty="0" err="1"/>
              <a:t>i</a:t>
            </a:r>
            <a:r>
              <a:rPr lang="en-CA" dirty="0"/>
              <a:t> in the range 0,1, . . . ,n−1, called the index of v.</a:t>
            </a:r>
          </a:p>
          <a:p>
            <a:pPr lvl="1"/>
            <a:r>
              <a:rPr lang="en-CA" dirty="0"/>
              <a:t>We keep a two-dimensional </a:t>
            </a:r>
            <a:r>
              <a:rPr lang="en-CA" dirty="0" err="1"/>
              <a:t>n×n</a:t>
            </a:r>
            <a:r>
              <a:rPr lang="en-CA" dirty="0"/>
              <a:t> array A such that the cell A[</a:t>
            </a:r>
            <a:r>
              <a:rPr lang="en-CA" dirty="0" err="1"/>
              <a:t>i</a:t>
            </a:r>
            <a:r>
              <a:rPr lang="en-CA" dirty="0"/>
              <a:t>, j] holds a reference to the edge (</a:t>
            </a:r>
            <a:r>
              <a:rPr lang="en-CA" dirty="0" err="1"/>
              <a:t>v,w</a:t>
            </a:r>
            <a:r>
              <a:rPr lang="en-CA" dirty="0"/>
              <a:t>), if it exists, where v is the node with index </a:t>
            </a:r>
            <a:r>
              <a:rPr lang="en-CA" dirty="0" err="1"/>
              <a:t>i</a:t>
            </a:r>
            <a:r>
              <a:rPr lang="en-CA" dirty="0"/>
              <a:t> and w is the node with index j. </a:t>
            </a:r>
          </a:p>
          <a:p>
            <a:pPr lvl="1"/>
            <a:r>
              <a:rPr lang="en-CA" dirty="0"/>
              <a:t>If there is no such edge, then A[</a:t>
            </a:r>
            <a:r>
              <a:rPr lang="en-CA" dirty="0" err="1"/>
              <a:t>i</a:t>
            </a:r>
            <a:r>
              <a:rPr lang="en-CA" dirty="0"/>
              <a:t>, j] = null.</a:t>
            </a:r>
          </a:p>
        </p:txBody>
      </p:sp>
    </p:spTree>
    <p:extLst>
      <p:ext uri="{BB962C8B-B14F-4D97-AF65-F5344CB8AC3E}">
        <p14:creationId xmlns:p14="http://schemas.microsoft.com/office/powerpoint/2010/main" val="1361327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Adjacency Matrix Structure</a:t>
            </a:r>
          </a:p>
        </p:txBody>
      </p:sp>
      <p:pic>
        <p:nvPicPr>
          <p:cNvPr id="4" name="Content Placeholder 3"/>
          <p:cNvPicPr>
            <a:picLocks noGrp="1" noChangeAspect="1"/>
          </p:cNvPicPr>
          <p:nvPr>
            <p:ph idx="1"/>
          </p:nvPr>
        </p:nvPicPr>
        <p:blipFill>
          <a:blip r:embed="rId2"/>
          <a:stretch>
            <a:fillRect/>
          </a:stretch>
        </p:blipFill>
        <p:spPr>
          <a:xfrm>
            <a:off x="786493" y="3003096"/>
            <a:ext cx="3850854" cy="630011"/>
          </a:xfrm>
          <a:prstGeom prst="rect">
            <a:avLst/>
          </a:prstGeom>
        </p:spPr>
      </p:pic>
      <p:pic>
        <p:nvPicPr>
          <p:cNvPr id="5" name="Picture 4"/>
          <p:cNvPicPr>
            <a:picLocks noChangeAspect="1"/>
          </p:cNvPicPr>
          <p:nvPr/>
        </p:nvPicPr>
        <p:blipFill>
          <a:blip r:embed="rId3"/>
          <a:stretch>
            <a:fillRect/>
          </a:stretch>
        </p:blipFill>
        <p:spPr>
          <a:xfrm>
            <a:off x="5404757" y="1198908"/>
            <a:ext cx="5074784" cy="5494445"/>
          </a:xfrm>
          <a:prstGeom prst="rect">
            <a:avLst/>
          </a:prstGeom>
        </p:spPr>
      </p:pic>
    </p:spTree>
    <p:extLst>
      <p:ext uri="{BB962C8B-B14F-4D97-AF65-F5344CB8AC3E}">
        <p14:creationId xmlns:p14="http://schemas.microsoft.com/office/powerpoint/2010/main" val="1853483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Weighted Graphs</a:t>
            </a:r>
          </a:p>
        </p:txBody>
      </p:sp>
      <p:sp>
        <p:nvSpPr>
          <p:cNvPr id="3" name="Content Placeholder 2"/>
          <p:cNvSpPr>
            <a:spLocks noGrp="1"/>
          </p:cNvSpPr>
          <p:nvPr>
            <p:ph idx="1"/>
          </p:nvPr>
        </p:nvSpPr>
        <p:spPr>
          <a:xfrm>
            <a:off x="481693" y="1508943"/>
            <a:ext cx="5380263" cy="4842871"/>
          </a:xfrm>
        </p:spPr>
        <p:txBody>
          <a:bodyPr>
            <a:normAutofit lnSpcReduction="10000"/>
          </a:bodyPr>
          <a:lstStyle/>
          <a:p>
            <a:r>
              <a:rPr lang="en-CA" dirty="0"/>
              <a:t>In weighted graphs every edge will have a weight or cost associated with it.</a:t>
            </a:r>
          </a:p>
          <a:p>
            <a:r>
              <a:rPr lang="en-CA" dirty="0"/>
              <a:t>A positive value assigned to each edge indicating its length (distance between the nodes connected by an edge) is called weight. </a:t>
            </a:r>
          </a:p>
          <a:p>
            <a:r>
              <a:rPr lang="en-CA" dirty="0"/>
              <a:t>A graph containing weighted edges is called a weighted graph. The weight of an edge e is denoted by w(e) and it indicates the cost of traversing an edge.</a:t>
            </a:r>
          </a:p>
          <a:p>
            <a:endParaRPr lang="en-CA" dirty="0"/>
          </a:p>
        </p:txBody>
      </p:sp>
      <p:pic>
        <p:nvPicPr>
          <p:cNvPr id="4" name="Picture 3"/>
          <p:cNvPicPr>
            <a:picLocks noChangeAspect="1"/>
          </p:cNvPicPr>
          <p:nvPr/>
        </p:nvPicPr>
        <p:blipFill>
          <a:blip r:embed="rId2"/>
          <a:stretch>
            <a:fillRect/>
          </a:stretch>
        </p:blipFill>
        <p:spPr>
          <a:xfrm>
            <a:off x="6402160" y="1970994"/>
            <a:ext cx="4227739" cy="3702474"/>
          </a:xfrm>
          <a:prstGeom prst="rect">
            <a:avLst/>
          </a:prstGeom>
        </p:spPr>
      </p:pic>
    </p:spTree>
    <p:extLst>
      <p:ext uri="{BB962C8B-B14F-4D97-AF65-F5344CB8AC3E}">
        <p14:creationId xmlns:p14="http://schemas.microsoft.com/office/powerpoint/2010/main" val="136276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Adjacency List Implementation</a:t>
            </a:r>
          </a:p>
        </p:txBody>
      </p:sp>
      <p:sp>
        <p:nvSpPr>
          <p:cNvPr id="3" name="Content Placeholder 2"/>
          <p:cNvSpPr>
            <a:spLocks noGrp="1"/>
          </p:cNvSpPr>
          <p:nvPr>
            <p:ph idx="1"/>
          </p:nvPr>
        </p:nvSpPr>
        <p:spPr>
          <a:xfrm>
            <a:off x="4675414" y="3256012"/>
            <a:ext cx="1602921" cy="523964"/>
          </a:xfrm>
        </p:spPr>
        <p:txBody>
          <a:bodyPr/>
          <a:lstStyle/>
          <a:p>
            <a:pPr marL="0" indent="0">
              <a:buNone/>
            </a:pPr>
            <a:r>
              <a:rPr lang="en-CA" dirty="0"/>
              <a:t>becomes</a:t>
            </a:r>
          </a:p>
        </p:txBody>
      </p:sp>
      <p:pic>
        <p:nvPicPr>
          <p:cNvPr id="4" name="Picture 3"/>
          <p:cNvPicPr>
            <a:picLocks noChangeAspect="1"/>
          </p:cNvPicPr>
          <p:nvPr/>
        </p:nvPicPr>
        <p:blipFill>
          <a:blip r:embed="rId2"/>
          <a:stretch>
            <a:fillRect/>
          </a:stretch>
        </p:blipFill>
        <p:spPr>
          <a:xfrm>
            <a:off x="394975" y="2236926"/>
            <a:ext cx="3765257" cy="3322953"/>
          </a:xfrm>
          <a:prstGeom prst="rect">
            <a:avLst/>
          </a:prstGeom>
        </p:spPr>
      </p:pic>
      <p:pic>
        <p:nvPicPr>
          <p:cNvPr id="5" name="Picture 4"/>
          <p:cNvPicPr>
            <a:picLocks noChangeAspect="1"/>
          </p:cNvPicPr>
          <p:nvPr/>
        </p:nvPicPr>
        <p:blipFill>
          <a:blip r:embed="rId3"/>
          <a:stretch>
            <a:fillRect/>
          </a:stretch>
        </p:blipFill>
        <p:spPr>
          <a:xfrm>
            <a:off x="6939643" y="2236926"/>
            <a:ext cx="4347038" cy="3486238"/>
          </a:xfrm>
          <a:prstGeom prst="rect">
            <a:avLst/>
          </a:prstGeom>
        </p:spPr>
      </p:pic>
    </p:spTree>
    <p:extLst>
      <p:ext uri="{BB962C8B-B14F-4D97-AF65-F5344CB8AC3E}">
        <p14:creationId xmlns:p14="http://schemas.microsoft.com/office/powerpoint/2010/main" val="33415466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Undirected Graphs</a:t>
            </a:r>
          </a:p>
        </p:txBody>
      </p:sp>
      <p:sp>
        <p:nvSpPr>
          <p:cNvPr id="3" name="Content Placeholder 2"/>
          <p:cNvSpPr>
            <a:spLocks noGrp="1"/>
          </p:cNvSpPr>
          <p:nvPr>
            <p:ph idx="1"/>
          </p:nvPr>
        </p:nvSpPr>
        <p:spPr>
          <a:xfrm>
            <a:off x="236764" y="2064114"/>
            <a:ext cx="6119813" cy="3446778"/>
          </a:xfrm>
        </p:spPr>
        <p:txBody>
          <a:bodyPr/>
          <a:lstStyle/>
          <a:p>
            <a:r>
              <a:rPr lang="en-CA" dirty="0"/>
              <a:t>Graph G is a set of nodes {A,B,C,D,E} </a:t>
            </a:r>
          </a:p>
          <a:p>
            <a:r>
              <a:rPr lang="en-CA" dirty="0"/>
              <a:t>and a set of edges {(A,B),(B,C),(A,D),(D,E),(E,C),(B,E),(B,D)}</a:t>
            </a:r>
          </a:p>
        </p:txBody>
      </p:sp>
      <p:pic>
        <p:nvPicPr>
          <p:cNvPr id="4" name="Picture 3"/>
          <p:cNvPicPr>
            <a:picLocks noChangeAspect="1"/>
          </p:cNvPicPr>
          <p:nvPr/>
        </p:nvPicPr>
        <p:blipFill>
          <a:blip r:embed="rId2"/>
          <a:stretch>
            <a:fillRect/>
          </a:stretch>
        </p:blipFill>
        <p:spPr>
          <a:xfrm>
            <a:off x="6356577" y="2251937"/>
            <a:ext cx="5650287" cy="3071132"/>
          </a:xfrm>
          <a:prstGeom prst="rect">
            <a:avLst/>
          </a:prstGeom>
        </p:spPr>
      </p:pic>
    </p:spTree>
    <p:extLst>
      <p:ext uri="{BB962C8B-B14F-4D97-AF65-F5344CB8AC3E}">
        <p14:creationId xmlns:p14="http://schemas.microsoft.com/office/powerpoint/2010/main" val="490213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Directed Graphs</a:t>
            </a:r>
          </a:p>
        </p:txBody>
      </p:sp>
      <p:sp>
        <p:nvSpPr>
          <p:cNvPr id="3" name="Content Placeholder 2"/>
          <p:cNvSpPr>
            <a:spLocks noGrp="1"/>
          </p:cNvSpPr>
          <p:nvPr>
            <p:ph idx="1"/>
          </p:nvPr>
        </p:nvSpPr>
        <p:spPr>
          <a:xfrm>
            <a:off x="114300" y="1508943"/>
            <a:ext cx="5747657" cy="4483643"/>
          </a:xfrm>
        </p:spPr>
        <p:txBody>
          <a:bodyPr>
            <a:normAutofit fontScale="92500" lnSpcReduction="10000"/>
          </a:bodyPr>
          <a:lstStyle/>
          <a:p>
            <a:r>
              <a:rPr lang="en-CA" dirty="0"/>
              <a:t>Edges form an ordered pair where each edge represents a specific path from one node to another node. </a:t>
            </a:r>
          </a:p>
          <a:p>
            <a:r>
              <a:rPr lang="en-CA" dirty="0"/>
              <a:t>The node from which the path initiates is called “</a:t>
            </a:r>
            <a:r>
              <a:rPr lang="en-CA" dirty="0">
                <a:solidFill>
                  <a:srgbClr val="FF0000"/>
                </a:solidFill>
              </a:rPr>
              <a:t>Initial Node</a:t>
            </a:r>
            <a:r>
              <a:rPr lang="en-CA" dirty="0"/>
              <a:t>” while the node into which the path terminates is called the “</a:t>
            </a:r>
            <a:r>
              <a:rPr lang="en-CA" dirty="0">
                <a:solidFill>
                  <a:srgbClr val="FF0000"/>
                </a:solidFill>
              </a:rPr>
              <a:t>Terminal Node</a:t>
            </a:r>
            <a:r>
              <a:rPr lang="en-CA" dirty="0"/>
              <a:t>”.</a:t>
            </a:r>
          </a:p>
          <a:p>
            <a:r>
              <a:rPr lang="en-CA" dirty="0"/>
              <a:t>In above graph, the set of nodes is </a:t>
            </a:r>
          </a:p>
          <a:p>
            <a:r>
              <a:rPr lang="en-CA" dirty="0"/>
              <a:t>(A, B, C, D, E) </a:t>
            </a:r>
          </a:p>
          <a:p>
            <a:r>
              <a:rPr lang="en-CA" dirty="0"/>
              <a:t>and the set of edges is ((A,B),(A,D),(B,C),(B,E),(D,E)(E,C))</a:t>
            </a:r>
          </a:p>
        </p:txBody>
      </p:sp>
      <p:pic>
        <p:nvPicPr>
          <p:cNvPr id="4" name="Picture 3"/>
          <p:cNvPicPr>
            <a:picLocks noChangeAspect="1"/>
          </p:cNvPicPr>
          <p:nvPr/>
        </p:nvPicPr>
        <p:blipFill>
          <a:blip r:embed="rId2"/>
          <a:stretch>
            <a:fillRect/>
          </a:stretch>
        </p:blipFill>
        <p:spPr>
          <a:xfrm>
            <a:off x="5940922" y="2000929"/>
            <a:ext cx="6119194" cy="3240541"/>
          </a:xfrm>
          <a:prstGeom prst="rect">
            <a:avLst/>
          </a:prstGeom>
        </p:spPr>
      </p:pic>
    </p:spTree>
    <p:extLst>
      <p:ext uri="{BB962C8B-B14F-4D97-AF65-F5344CB8AC3E}">
        <p14:creationId xmlns:p14="http://schemas.microsoft.com/office/powerpoint/2010/main" val="42437338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Traversing Graphs</a:t>
            </a:r>
          </a:p>
        </p:txBody>
      </p:sp>
      <p:sp>
        <p:nvSpPr>
          <p:cNvPr id="3" name="Content Placeholder 2"/>
          <p:cNvSpPr>
            <a:spLocks noGrp="1"/>
          </p:cNvSpPr>
          <p:nvPr>
            <p:ph idx="1"/>
          </p:nvPr>
        </p:nvSpPr>
        <p:spPr/>
        <p:txBody>
          <a:bodyPr>
            <a:normAutofit/>
          </a:bodyPr>
          <a:lstStyle/>
          <a:p>
            <a:r>
              <a:rPr lang="en-CA" dirty="0"/>
              <a:t>As in trees, traversing a graph consists of visiting each node only one time. </a:t>
            </a:r>
          </a:p>
          <a:p>
            <a:r>
              <a:rPr lang="en-CA" dirty="0"/>
              <a:t>The simple traversal algorithms used for trees cannot be applied here because graphs may include cycles; which would result in infinite loops.</a:t>
            </a:r>
          </a:p>
          <a:p>
            <a:r>
              <a:rPr lang="en-CA" dirty="0"/>
              <a:t>To prevent that from happening, each visited node can be marked to avoid revisiting it. </a:t>
            </a:r>
          </a:p>
          <a:p>
            <a:r>
              <a:rPr lang="en-CA" dirty="0"/>
              <a:t>However, graphs can have isolated nodes, which means that some parts of the graph are left out if unmodified tree traversal methods are applied.</a:t>
            </a:r>
          </a:p>
        </p:txBody>
      </p:sp>
    </p:spTree>
    <p:extLst>
      <p:ext uri="{BB962C8B-B14F-4D97-AF65-F5344CB8AC3E}">
        <p14:creationId xmlns:p14="http://schemas.microsoft.com/office/powerpoint/2010/main" val="5456340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Depth-First Traversal</a:t>
            </a:r>
          </a:p>
        </p:txBody>
      </p:sp>
      <p:sp>
        <p:nvSpPr>
          <p:cNvPr id="3" name="Content Placeholder 2"/>
          <p:cNvSpPr>
            <a:spLocks noGrp="1"/>
          </p:cNvSpPr>
          <p:nvPr>
            <p:ph idx="1"/>
          </p:nvPr>
        </p:nvSpPr>
        <p:spPr>
          <a:xfrm>
            <a:off x="473529" y="1508943"/>
            <a:ext cx="10880271" cy="5120457"/>
          </a:xfrm>
        </p:spPr>
        <p:txBody>
          <a:bodyPr>
            <a:normAutofit fontScale="92500" lnSpcReduction="20000"/>
          </a:bodyPr>
          <a:lstStyle/>
          <a:p>
            <a:r>
              <a:rPr lang="en-CA" dirty="0"/>
              <a:t>Each node v is visited and then each unvisited node adjacent to v is visited. </a:t>
            </a:r>
          </a:p>
          <a:p>
            <a:r>
              <a:rPr lang="en-CA" dirty="0"/>
              <a:t>If a node v has no adjacent nodes or all of its adjacent nodes have been visited, we backtrack to the predecessor of v. </a:t>
            </a:r>
          </a:p>
          <a:p>
            <a:r>
              <a:rPr lang="en-CA" dirty="0"/>
              <a:t>The traversal is finished if this visiting and backtracking process leads to the first node where the traversal started. </a:t>
            </a:r>
          </a:p>
          <a:p>
            <a:r>
              <a:rPr lang="en-CA" dirty="0"/>
              <a:t>If there are still some unvisited nodes in the graph, the traversal continues restarting for one of the unvisited nodes.</a:t>
            </a:r>
          </a:p>
          <a:p>
            <a:r>
              <a:rPr lang="en-CA" dirty="0"/>
              <a:t>So - whenever a node v is visited during this traversal, we will recursively visit all of v 's unvisited neighbors. </a:t>
            </a:r>
          </a:p>
          <a:p>
            <a:r>
              <a:rPr lang="en-CA" dirty="0"/>
              <a:t>We will add all edges leading out of v to a stack. The next node to be visited is determined by popping the stack and following that edge. </a:t>
            </a:r>
          </a:p>
          <a:p>
            <a:r>
              <a:rPr lang="en-CA" dirty="0"/>
              <a:t>The effect is to follow one branch through the graph to its conclusion, then it will back up and follow another branch, and so on. </a:t>
            </a:r>
          </a:p>
          <a:p>
            <a:r>
              <a:rPr lang="en-CA" dirty="0"/>
              <a:t>Depth-First can be applied to directed or undirected graphs.</a:t>
            </a:r>
          </a:p>
        </p:txBody>
      </p:sp>
    </p:spTree>
    <p:extLst>
      <p:ext uri="{BB962C8B-B14F-4D97-AF65-F5344CB8AC3E}">
        <p14:creationId xmlns:p14="http://schemas.microsoft.com/office/powerpoint/2010/main" val="2782238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Depth First</a:t>
            </a:r>
          </a:p>
        </p:txBody>
      </p:sp>
      <p:sp>
        <p:nvSpPr>
          <p:cNvPr id="5" name="TextBox 4"/>
          <p:cNvSpPr txBox="1"/>
          <p:nvPr/>
        </p:nvSpPr>
        <p:spPr>
          <a:xfrm>
            <a:off x="2563524" y="6151418"/>
            <a:ext cx="10469243" cy="369332"/>
          </a:xfrm>
          <a:prstGeom prst="rect">
            <a:avLst/>
          </a:prstGeom>
          <a:noFill/>
        </p:spPr>
        <p:txBody>
          <a:bodyPr wrap="square" rtlCol="0">
            <a:spAutoFit/>
          </a:bodyPr>
          <a:lstStyle/>
          <a:p>
            <a:r>
              <a:rPr lang="en-CA" dirty="0"/>
              <a:t>A common implementation uses a stack to keep track of nodes already visited.</a:t>
            </a:r>
          </a:p>
        </p:txBody>
      </p:sp>
      <p:pic>
        <p:nvPicPr>
          <p:cNvPr id="1026" name="Picture 2" descr="Image result for graph depth first search with stack"/>
          <p:cNvPicPr>
            <a:picLocks noChangeAspect="1" noChangeArrowheads="1"/>
          </p:cNvPicPr>
          <p:nvPr/>
        </p:nvPicPr>
        <p:blipFill rotWithShape="1">
          <a:blip r:embed="rId2">
            <a:extLst>
              <a:ext uri="{28A0092B-C50C-407E-A947-70E740481C1C}">
                <a14:useLocalDpi xmlns:a14="http://schemas.microsoft.com/office/drawing/2010/main" val="0"/>
              </a:ext>
            </a:extLst>
          </a:blip>
          <a:srcRect l="8029" t="22053" r="6099" b="7086"/>
          <a:stretch/>
        </p:blipFill>
        <p:spPr bwMode="auto">
          <a:xfrm>
            <a:off x="1413162" y="1385455"/>
            <a:ext cx="8977747" cy="4663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2703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Breadth-First Traversal</a:t>
            </a:r>
          </a:p>
        </p:txBody>
      </p:sp>
      <p:sp>
        <p:nvSpPr>
          <p:cNvPr id="3" name="Content Placeholder 2"/>
          <p:cNvSpPr>
            <a:spLocks noGrp="1"/>
          </p:cNvSpPr>
          <p:nvPr>
            <p:ph idx="1"/>
          </p:nvPr>
        </p:nvSpPr>
        <p:spPr/>
        <p:txBody>
          <a:bodyPr/>
          <a:lstStyle/>
          <a:p>
            <a:r>
              <a:rPr lang="en-CA" dirty="0"/>
              <a:t>This examines all nodes connected to the start node before visiting nodes further away. </a:t>
            </a:r>
          </a:p>
          <a:p>
            <a:r>
              <a:rPr lang="en-CA" dirty="0"/>
              <a:t>Breadth-First is implemented similarly to Depth-First, except that a queue replaces the recursion stack. </a:t>
            </a:r>
          </a:p>
          <a:p>
            <a:r>
              <a:rPr lang="en-CA" dirty="0"/>
              <a:t>Note that if the graph is a tree and the start node is at the root, Breadth-First is equivalent to visiting nodes level by level from top to bottom.</a:t>
            </a:r>
          </a:p>
        </p:txBody>
      </p:sp>
    </p:spTree>
    <p:extLst>
      <p:ext uri="{BB962C8B-B14F-4D97-AF65-F5344CB8AC3E}">
        <p14:creationId xmlns:p14="http://schemas.microsoft.com/office/powerpoint/2010/main" val="837542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5492" y="1444695"/>
            <a:ext cx="5923107" cy="4930345"/>
          </a:xfrm>
          <a:prstGeom prst="rect">
            <a:avLst/>
          </a:prstGeom>
          <a:solidFill>
            <a:schemeClr val="accent1">
              <a:alpha val="0"/>
            </a:schemeClr>
          </a:solidFill>
        </p:spPr>
      </p:pic>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Breadth First</a:t>
            </a:r>
          </a:p>
        </p:txBody>
      </p:sp>
      <p:sp>
        <p:nvSpPr>
          <p:cNvPr id="3" name="Content Placeholder 2"/>
          <p:cNvSpPr>
            <a:spLocks noGrp="1"/>
          </p:cNvSpPr>
          <p:nvPr>
            <p:ph idx="1"/>
          </p:nvPr>
        </p:nvSpPr>
        <p:spPr>
          <a:xfrm>
            <a:off x="367145" y="2266325"/>
            <a:ext cx="4592782" cy="1871566"/>
          </a:xfrm>
        </p:spPr>
        <p:txBody>
          <a:bodyPr>
            <a:normAutofit fontScale="85000" lnSpcReduction="20000"/>
          </a:bodyPr>
          <a:lstStyle/>
          <a:p>
            <a:r>
              <a:rPr lang="en-CA" dirty="0"/>
              <a:t>Breadth-first traversal uses a queue as the basic data structure to navigate the nodes</a:t>
            </a:r>
          </a:p>
          <a:p>
            <a:r>
              <a:rPr lang="en-CA" dirty="0"/>
              <a:t>BFS first tries to mark all neighbors of a node v before proceeding to other nodes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5493" y="1444695"/>
            <a:ext cx="5923107" cy="4928472"/>
          </a:xfrm>
          <a:prstGeom prst="rect">
            <a:avLst/>
          </a:prstGeom>
          <a:solidFill>
            <a:schemeClr val="accent1">
              <a:alpha val="0"/>
            </a:schemeClr>
          </a:solidFill>
        </p:spPr>
      </p:pic>
    </p:spTree>
    <p:extLst>
      <p:ext uri="{BB962C8B-B14F-4D97-AF65-F5344CB8AC3E}">
        <p14:creationId xmlns:p14="http://schemas.microsoft.com/office/powerpoint/2010/main" val="31024773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4780" y="1286256"/>
            <a:ext cx="7269480" cy="5492496"/>
          </a:xfrm>
          <a:prstGeom prst="rect">
            <a:avLst/>
          </a:prstGeom>
        </p:spPr>
      </p:pic>
      <p:sp>
        <p:nvSpPr>
          <p:cNvPr id="2" name="Title 1"/>
          <p:cNvSpPr>
            <a:spLocks noGrp="1"/>
          </p:cNvSpPr>
          <p:nvPr>
            <p:ph type="title"/>
          </p:nvPr>
        </p:nvSpPr>
        <p:spPr>
          <a:xfrm>
            <a:off x="2039815" y="182245"/>
            <a:ext cx="9710907" cy="830629"/>
          </a:xfrm>
        </p:spPr>
        <p:txBody>
          <a:bodyPr>
            <a:normAutofit/>
          </a:bodyPr>
          <a:lstStyle/>
          <a:p>
            <a:r>
              <a:rPr lang="en-CA" dirty="0">
                <a:solidFill>
                  <a:schemeClr val="bg1"/>
                </a:solidFill>
              </a:rPr>
              <a:t>Review Traversals </a:t>
            </a:r>
          </a:p>
        </p:txBody>
      </p:sp>
      <p:sp>
        <p:nvSpPr>
          <p:cNvPr id="3" name="Content Placeholder 2"/>
          <p:cNvSpPr>
            <a:spLocks noGrp="1"/>
          </p:cNvSpPr>
          <p:nvPr>
            <p:ph idx="1"/>
          </p:nvPr>
        </p:nvSpPr>
        <p:spPr>
          <a:xfrm>
            <a:off x="7070271" y="3566459"/>
            <a:ext cx="4940754" cy="932090"/>
          </a:xfrm>
        </p:spPr>
        <p:txBody>
          <a:bodyPr>
            <a:normAutofit/>
          </a:bodyPr>
          <a:lstStyle/>
          <a:p>
            <a:r>
              <a:rPr lang="en-CA" sz="2000" dirty="0">
                <a:solidFill>
                  <a:schemeClr val="accent5"/>
                </a:solidFill>
              </a:rPr>
              <a:t>https://medium.com/basecs/going-broad-in-a-graph-bfs-traversal-959bd1a09255</a:t>
            </a:r>
          </a:p>
        </p:txBody>
      </p:sp>
    </p:spTree>
    <p:extLst>
      <p:ext uri="{BB962C8B-B14F-4D97-AF65-F5344CB8AC3E}">
        <p14:creationId xmlns:p14="http://schemas.microsoft.com/office/powerpoint/2010/main" val="10216791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904</TotalTime>
  <Words>1758</Words>
  <Application>Microsoft Office PowerPoint</Application>
  <PresentationFormat>Widescreen</PresentationFormat>
  <Paragraphs>111</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Calibri Light</vt:lpstr>
      <vt:lpstr>Office Theme</vt:lpstr>
      <vt:lpstr>INFO-3135</vt:lpstr>
      <vt:lpstr>Graphs</vt:lpstr>
      <vt:lpstr>Graphs</vt:lpstr>
      <vt:lpstr>Graphs</vt:lpstr>
      <vt:lpstr>Examples of Graphs</vt:lpstr>
      <vt:lpstr>Representing Graphs</vt:lpstr>
      <vt:lpstr>The Edge List Structure</vt:lpstr>
      <vt:lpstr>The Edge List Structure</vt:lpstr>
      <vt:lpstr>The Edge List Structure</vt:lpstr>
      <vt:lpstr>Let’s compare side by side</vt:lpstr>
      <vt:lpstr>The Adjacency List Structure</vt:lpstr>
      <vt:lpstr>The Adjacency List Structure</vt:lpstr>
      <vt:lpstr>The Adjacency Matrix Structure</vt:lpstr>
      <vt:lpstr>Adjacency Matrix Structure</vt:lpstr>
      <vt:lpstr>Weighted Graphs</vt:lpstr>
      <vt:lpstr>Adjacency List Implementation</vt:lpstr>
      <vt:lpstr>Undirected Graphs</vt:lpstr>
      <vt:lpstr>Directed Graphs</vt:lpstr>
      <vt:lpstr>Traversing Graphs</vt:lpstr>
      <vt:lpstr>Depth-First Traversal</vt:lpstr>
      <vt:lpstr>Depth First</vt:lpstr>
      <vt:lpstr>Breadth-First Traversal</vt:lpstr>
      <vt:lpstr>Breadth First</vt:lpstr>
      <vt:lpstr>Review Traversals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Sharrie Wing</dc:creator>
  <cp:lastModifiedBy>Daniel Maclam</cp:lastModifiedBy>
  <cp:revision>85</cp:revision>
  <dcterms:created xsi:type="dcterms:W3CDTF">2018-09-03T16:13:27Z</dcterms:created>
  <dcterms:modified xsi:type="dcterms:W3CDTF">2020-11-12T18:13:40Z</dcterms:modified>
</cp:coreProperties>
</file>