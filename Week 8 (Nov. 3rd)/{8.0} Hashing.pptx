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9" r:id="rId2"/>
    <p:sldId id="320" r:id="rId3"/>
    <p:sldId id="324" r:id="rId4"/>
    <p:sldId id="325" r:id="rId5"/>
    <p:sldId id="321" r:id="rId6"/>
    <p:sldId id="288" r:id="rId7"/>
    <p:sldId id="289" r:id="rId8"/>
    <p:sldId id="326" r:id="rId9"/>
    <p:sldId id="313" r:id="rId10"/>
    <p:sldId id="322" r:id="rId11"/>
    <p:sldId id="327" r:id="rId12"/>
    <p:sldId id="292" r:id="rId13"/>
    <p:sldId id="287" r:id="rId14"/>
    <p:sldId id="323" r:id="rId15"/>
    <p:sldId id="306" r:id="rId16"/>
    <p:sldId id="297" r:id="rId17"/>
    <p:sldId id="298" r:id="rId18"/>
    <p:sldId id="295" r:id="rId19"/>
    <p:sldId id="307" r:id="rId20"/>
    <p:sldId id="305" r:id="rId21"/>
    <p:sldId id="290" r:id="rId22"/>
    <p:sldId id="303" r:id="rId23"/>
    <p:sldId id="302" r:id="rId24"/>
    <p:sldId id="296" r:id="rId25"/>
    <p:sldId id="300" r:id="rId26"/>
    <p:sldId id="309" r:id="rId27"/>
    <p:sldId id="317" r:id="rId28"/>
    <p:sldId id="318" r:id="rId29"/>
    <p:sldId id="286" r:id="rId30"/>
    <p:sldId id="310" r:id="rId31"/>
    <p:sldId id="311" r:id="rId32"/>
    <p:sldId id="31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24" y="552"/>
      </p:cViewPr>
      <p:guideLst/>
    </p:cSldViewPr>
  </p:slideViewPr>
  <p:notesTextViewPr>
    <p:cViewPr>
      <p:scale>
        <a:sx n="1" d="1"/>
        <a:sy n="1" d="1"/>
      </p:scale>
      <p:origin x="0" y="0"/>
    </p:cViewPr>
  </p:notesTextViewPr>
  <p:sorterViewPr>
    <p:cViewPr>
      <p:scale>
        <a:sx n="75" d="100"/>
        <a:sy n="75" d="100"/>
      </p:scale>
      <p:origin x="0" y="-413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2024-10-27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2077059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2024-10-27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2963017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4A8252-26A2-422C-8021-53F2FA7F3083}" type="datetimeFigureOut">
              <a:rPr lang="en-CA" smtClean="0"/>
              <a:t>2024-10-27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1255086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1E4A8252-26A2-422C-8021-53F2FA7F3083}" type="datetimeFigureOut">
              <a:rPr lang="en-CA" smtClean="0"/>
              <a:t>2024-10-27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034710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1E4A8252-26A2-422C-8021-53F2FA7F3083}" type="datetimeFigureOut">
              <a:rPr lang="en-CA" smtClean="0"/>
              <a:t>2024-10-27</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894773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1E4A8252-26A2-422C-8021-53F2FA7F3083}" type="datetimeFigureOut">
              <a:rPr lang="en-CA" smtClean="0"/>
              <a:t>2024-10-27</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1678366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A8252-26A2-422C-8021-53F2FA7F3083}" type="datetimeFigureOut">
              <a:rPr lang="en-CA" smtClean="0"/>
              <a:t>2024-10-27</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4280413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4A8252-26A2-422C-8021-53F2FA7F3083}" type="datetimeFigureOut">
              <a:rPr lang="en-CA" smtClean="0"/>
              <a:t>2024-10-27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439465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4A8252-26A2-422C-8021-53F2FA7F3083}" type="datetimeFigureOut">
              <a:rPr lang="en-CA" smtClean="0"/>
              <a:t>2024-10-27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1493598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2024-10-27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4179238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2024-10-27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697055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39815" y="182245"/>
            <a:ext cx="9313985" cy="830629"/>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838200" y="1508943"/>
            <a:ext cx="10515600" cy="45542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4A8252-26A2-422C-8021-53F2FA7F3083}" type="datetimeFigureOut">
              <a:rPr lang="en-CA" smtClean="0"/>
              <a:t>2024-10-27</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8DDE3-37DC-4FC1-86DE-98D0EA336BFE}" type="slidenum">
              <a:rPr lang="en-CA" smtClean="0"/>
              <a:t>‹#›</a:t>
            </a:fld>
            <a:endParaRPr lang="en-CA"/>
          </a:p>
        </p:txBody>
      </p:sp>
    </p:spTree>
    <p:extLst>
      <p:ext uri="{BB962C8B-B14F-4D97-AF65-F5344CB8AC3E}">
        <p14:creationId xmlns:p14="http://schemas.microsoft.com/office/powerpoint/2010/main" val="1771977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7F21A-B12B-DECE-6C5D-766EB9890E0A}"/>
              </a:ext>
            </a:extLst>
          </p:cNvPr>
          <p:cNvSpPr>
            <a:spLocks noGrp="1"/>
          </p:cNvSpPr>
          <p:nvPr>
            <p:ph type="ctrTitle"/>
          </p:nvPr>
        </p:nvSpPr>
        <p:spPr>
          <a:xfrm>
            <a:off x="107003" y="1654655"/>
            <a:ext cx="12305489" cy="1400215"/>
          </a:xfrm>
        </p:spPr>
        <p:txBody>
          <a:bodyPr>
            <a:normAutofit fontScale="90000"/>
          </a:bodyPr>
          <a:lstStyle/>
          <a:p>
            <a:r>
              <a:rPr lang="en-GB" b="1" dirty="0"/>
              <a:t>Data Structures and Algorithms</a:t>
            </a:r>
            <a:br>
              <a:rPr lang="en-GB" dirty="0"/>
            </a:br>
            <a:r>
              <a:rPr lang="en-GB" sz="4800" dirty="0"/>
              <a:t>INFO-3135</a:t>
            </a:r>
            <a:endParaRPr lang="en-CA" sz="4800" dirty="0"/>
          </a:p>
        </p:txBody>
      </p:sp>
      <p:sp>
        <p:nvSpPr>
          <p:cNvPr id="3" name="Subtitle 2">
            <a:extLst>
              <a:ext uri="{FF2B5EF4-FFF2-40B4-BE49-F238E27FC236}">
                <a16:creationId xmlns:a16="http://schemas.microsoft.com/office/drawing/2014/main" id="{FEF66789-A2EA-5320-AC01-CA44DD47CF0E}"/>
              </a:ext>
            </a:extLst>
          </p:cNvPr>
          <p:cNvSpPr>
            <a:spLocks noGrp="1"/>
          </p:cNvSpPr>
          <p:nvPr>
            <p:ph type="subTitle" idx="1"/>
          </p:nvPr>
        </p:nvSpPr>
        <p:spPr>
          <a:xfrm>
            <a:off x="2217931" y="5024440"/>
            <a:ext cx="9144000" cy="641555"/>
          </a:xfrm>
        </p:spPr>
        <p:txBody>
          <a:bodyPr>
            <a:noAutofit/>
          </a:bodyPr>
          <a:lstStyle/>
          <a:p>
            <a:pPr algn="r"/>
            <a:r>
              <a:rPr lang="en-GB" sz="4000" dirty="0"/>
              <a:t>Hashing – Concepts and Algorithms</a:t>
            </a:r>
          </a:p>
        </p:txBody>
      </p:sp>
    </p:spTree>
    <p:extLst>
      <p:ext uri="{BB962C8B-B14F-4D97-AF65-F5344CB8AC3E}">
        <p14:creationId xmlns:p14="http://schemas.microsoft.com/office/powerpoint/2010/main" val="1774883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79E16-EF19-8DBB-EB43-4258A2471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A6B5F-0DBA-2981-BA42-85E6D2B4AC59}"/>
              </a:ext>
            </a:extLst>
          </p:cNvPr>
          <p:cNvSpPr>
            <a:spLocks noGrp="1"/>
          </p:cNvSpPr>
          <p:nvPr>
            <p:ph type="title"/>
          </p:nvPr>
        </p:nvSpPr>
        <p:spPr>
          <a:xfrm>
            <a:off x="2039815" y="182245"/>
            <a:ext cx="9710907" cy="830629"/>
          </a:xfrm>
        </p:spPr>
        <p:txBody>
          <a:bodyPr>
            <a:normAutofit/>
          </a:bodyPr>
          <a:lstStyle/>
          <a:p>
            <a:r>
              <a:rPr lang="en-CA" dirty="0">
                <a:solidFill>
                  <a:schemeClr val="bg1"/>
                </a:solidFill>
              </a:rPr>
              <a:t>Ordering Elements in a Collection</a:t>
            </a:r>
          </a:p>
        </p:txBody>
      </p:sp>
      <p:sp>
        <p:nvSpPr>
          <p:cNvPr id="3" name="Content Placeholder 2">
            <a:extLst>
              <a:ext uri="{FF2B5EF4-FFF2-40B4-BE49-F238E27FC236}">
                <a16:creationId xmlns:a16="http://schemas.microsoft.com/office/drawing/2014/main" id="{D75C9004-27D3-41AF-8A41-02D26899BA65}"/>
              </a:ext>
            </a:extLst>
          </p:cNvPr>
          <p:cNvSpPr>
            <a:spLocks noGrp="1"/>
          </p:cNvSpPr>
          <p:nvPr>
            <p:ph idx="1"/>
          </p:nvPr>
        </p:nvSpPr>
        <p:spPr>
          <a:xfrm>
            <a:off x="838200" y="1508943"/>
            <a:ext cx="10578548" cy="4554232"/>
          </a:xfrm>
        </p:spPr>
        <p:txBody>
          <a:bodyPr>
            <a:normAutofit fontScale="92500" lnSpcReduction="10000"/>
          </a:bodyPr>
          <a:lstStyle/>
          <a:p>
            <a:r>
              <a:rPr lang="en-GB" sz="3200" dirty="0"/>
              <a:t>We care about the order of elements in a collection for two reasons:</a:t>
            </a:r>
          </a:p>
          <a:p>
            <a:pPr lvl="1"/>
            <a:r>
              <a:rPr lang="en-GB" sz="2800" dirty="0"/>
              <a:t>Knowing how data is stored </a:t>
            </a:r>
          </a:p>
          <a:p>
            <a:pPr lvl="1"/>
            <a:r>
              <a:rPr lang="en-GB" sz="2800" dirty="0"/>
              <a:t>Being able to quickly retrieve the data</a:t>
            </a:r>
          </a:p>
          <a:p>
            <a:r>
              <a:rPr lang="en-GB" sz="3200" dirty="0"/>
              <a:t>So far, we have assumed one of two things in our implementation of collections . . .</a:t>
            </a:r>
            <a:endParaRPr lang="en-CA" sz="3200" dirty="0"/>
          </a:p>
          <a:p>
            <a:r>
              <a:rPr lang="en-CA" sz="3200" dirty="0"/>
              <a:t>Order is determined by:</a:t>
            </a:r>
          </a:p>
          <a:p>
            <a:pPr lvl="1"/>
            <a:r>
              <a:rPr lang="en-CA" sz="2800" dirty="0"/>
              <a:t>The order in which elements are added to and/or removed from a collection, for example, stacks, queues, indexed lists</a:t>
            </a:r>
          </a:p>
          <a:p>
            <a:pPr lvl="1"/>
            <a:r>
              <a:rPr lang="en-CA" sz="2800" dirty="0"/>
              <a:t>Comparing values or keys of elements, for example, ordered lists, binary search trees</a:t>
            </a:r>
          </a:p>
          <a:p>
            <a:pPr marL="457200" lvl="1" indent="0">
              <a:buNone/>
            </a:pPr>
            <a:endParaRPr lang="en-GB" dirty="0"/>
          </a:p>
        </p:txBody>
      </p:sp>
    </p:spTree>
    <p:extLst>
      <p:ext uri="{BB962C8B-B14F-4D97-AF65-F5344CB8AC3E}">
        <p14:creationId xmlns:p14="http://schemas.microsoft.com/office/powerpoint/2010/main" val="338477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901CB-30C7-0F1A-7DCF-18871B151A82}"/>
              </a:ext>
            </a:extLst>
          </p:cNvPr>
          <p:cNvSpPr>
            <a:spLocks noGrp="1"/>
          </p:cNvSpPr>
          <p:nvPr>
            <p:ph type="title"/>
          </p:nvPr>
        </p:nvSpPr>
        <p:spPr/>
        <p:txBody>
          <a:bodyPr/>
          <a:lstStyle/>
          <a:p>
            <a:r>
              <a:rPr lang="en-GB" dirty="0"/>
              <a:t>Introduction to Hashing</a:t>
            </a:r>
            <a:endParaRPr lang="en-CA" dirty="0"/>
          </a:p>
        </p:txBody>
      </p:sp>
      <p:sp>
        <p:nvSpPr>
          <p:cNvPr id="3" name="Text Placeholder 2">
            <a:extLst>
              <a:ext uri="{FF2B5EF4-FFF2-40B4-BE49-F238E27FC236}">
                <a16:creationId xmlns:a16="http://schemas.microsoft.com/office/drawing/2014/main" id="{0A31F54E-9015-5817-5D1A-138DCE6E2A40}"/>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2491460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8269C-6049-A4EC-D2AB-F59C7ABF6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E39B8-02FB-FFA7-C290-49527408E673}"/>
              </a:ext>
            </a:extLst>
          </p:cNvPr>
          <p:cNvSpPr>
            <a:spLocks noGrp="1"/>
          </p:cNvSpPr>
          <p:nvPr>
            <p:ph type="title"/>
          </p:nvPr>
        </p:nvSpPr>
        <p:spPr>
          <a:xfrm>
            <a:off x="2039815" y="182245"/>
            <a:ext cx="9710907" cy="830629"/>
          </a:xfrm>
        </p:spPr>
        <p:txBody>
          <a:bodyPr>
            <a:normAutofit/>
          </a:bodyPr>
          <a:lstStyle/>
          <a:p>
            <a:r>
              <a:rPr lang="en-CA" dirty="0">
                <a:solidFill>
                  <a:schemeClr val="bg1"/>
                </a:solidFill>
              </a:rPr>
              <a:t>Ordering Elements using Hashing</a:t>
            </a:r>
          </a:p>
        </p:txBody>
      </p:sp>
      <p:sp>
        <p:nvSpPr>
          <p:cNvPr id="3" name="Content Placeholder 2">
            <a:extLst>
              <a:ext uri="{FF2B5EF4-FFF2-40B4-BE49-F238E27FC236}">
                <a16:creationId xmlns:a16="http://schemas.microsoft.com/office/drawing/2014/main" id="{0FFF0C0D-1FF9-D42D-BB3B-9AB4F90F4239}"/>
              </a:ext>
            </a:extLst>
          </p:cNvPr>
          <p:cNvSpPr>
            <a:spLocks noGrp="1"/>
          </p:cNvSpPr>
          <p:nvPr>
            <p:ph idx="1"/>
          </p:nvPr>
        </p:nvSpPr>
        <p:spPr>
          <a:xfrm>
            <a:off x="530088" y="1432127"/>
            <a:ext cx="8970260" cy="5033051"/>
          </a:xfrm>
        </p:spPr>
        <p:txBody>
          <a:bodyPr>
            <a:normAutofit lnSpcReduction="10000"/>
          </a:bodyPr>
          <a:lstStyle/>
          <a:p>
            <a:r>
              <a:rPr lang="en-CA" dirty="0"/>
              <a:t>Hashing is a new concept where the order of an element is determined by a hashing function based on its value or key</a:t>
            </a:r>
          </a:p>
          <a:p>
            <a:pPr lvl="1"/>
            <a:r>
              <a:rPr lang="en-CA" dirty="0"/>
              <a:t>Elements are stored in a </a:t>
            </a:r>
            <a:r>
              <a:rPr lang="en-CA" i="1" dirty="0">
                <a:solidFill>
                  <a:srgbClr val="FF0000"/>
                </a:solidFill>
              </a:rPr>
              <a:t>hash table</a:t>
            </a:r>
            <a:r>
              <a:rPr lang="en-CA" dirty="0"/>
              <a:t> with their location in the table determined by a </a:t>
            </a:r>
            <a:r>
              <a:rPr lang="en-CA" i="1" dirty="0">
                <a:solidFill>
                  <a:srgbClr val="FF0000"/>
                </a:solidFill>
              </a:rPr>
              <a:t>hashing function</a:t>
            </a:r>
          </a:p>
          <a:p>
            <a:pPr lvl="1"/>
            <a:r>
              <a:rPr lang="en-CA" dirty="0"/>
              <a:t>Each location in a hash table is referred to as a </a:t>
            </a:r>
            <a:r>
              <a:rPr lang="en-CA" i="1" dirty="0">
                <a:solidFill>
                  <a:srgbClr val="FF0000"/>
                </a:solidFill>
              </a:rPr>
              <a:t>cell</a:t>
            </a:r>
            <a:r>
              <a:rPr lang="en-CA" dirty="0"/>
              <a:t> or a </a:t>
            </a:r>
            <a:r>
              <a:rPr lang="en-CA" i="1" dirty="0">
                <a:solidFill>
                  <a:srgbClr val="FF0000"/>
                </a:solidFill>
              </a:rPr>
              <a:t>bucket</a:t>
            </a:r>
          </a:p>
          <a:p>
            <a:r>
              <a:rPr lang="en-CA" dirty="0"/>
              <a:t>Hashing functions are used to determine an element’s position or index in a hash table</a:t>
            </a:r>
          </a:p>
          <a:p>
            <a:r>
              <a:rPr lang="en-CA" dirty="0"/>
              <a:t>Example:</a:t>
            </a:r>
          </a:p>
          <a:p>
            <a:pPr lvl="1"/>
            <a:r>
              <a:rPr lang="en-CA" dirty="0"/>
              <a:t>Create an array to hold 14 names</a:t>
            </a:r>
          </a:p>
          <a:p>
            <a:pPr lvl="1"/>
            <a:r>
              <a:rPr lang="en-CA" dirty="0"/>
              <a:t>Create a hashing function that equates each name to a position in the array based on a formula using its ASCII values</a:t>
            </a:r>
          </a:p>
          <a:p>
            <a:pPr lvl="2"/>
            <a:r>
              <a:rPr lang="en-CA" dirty="0"/>
              <a:t>Given the name “Elizabeth”, would be mapped to Index 0 of the array</a:t>
            </a:r>
          </a:p>
          <a:p>
            <a:pPr lvl="2"/>
            <a:r>
              <a:rPr lang="en-CA" dirty="0"/>
              <a:t>Given the name “Doug”, would be mapped to Index 3 of the array</a:t>
            </a:r>
          </a:p>
          <a:p>
            <a:pPr lvl="1"/>
            <a:endParaRPr lang="en-GB" dirty="0"/>
          </a:p>
        </p:txBody>
      </p:sp>
      <p:graphicFrame>
        <p:nvGraphicFramePr>
          <p:cNvPr id="4" name="Table 3">
            <a:extLst>
              <a:ext uri="{FF2B5EF4-FFF2-40B4-BE49-F238E27FC236}">
                <a16:creationId xmlns:a16="http://schemas.microsoft.com/office/drawing/2014/main" id="{01E14CFD-9C98-1D3D-993E-4B165D3EEF6C}"/>
              </a:ext>
            </a:extLst>
          </p:cNvPr>
          <p:cNvGraphicFramePr>
            <a:graphicFrameLocks noGrp="1"/>
          </p:cNvGraphicFramePr>
          <p:nvPr>
            <p:extLst>
              <p:ext uri="{D42A27DB-BD31-4B8C-83A1-F6EECF244321}">
                <p14:modId xmlns:p14="http://schemas.microsoft.com/office/powerpoint/2010/main" val="2536897176"/>
              </p:ext>
            </p:extLst>
          </p:nvPr>
        </p:nvGraphicFramePr>
        <p:xfrm>
          <a:off x="9700262" y="1301106"/>
          <a:ext cx="1499580" cy="5295092"/>
        </p:xfrm>
        <a:graphic>
          <a:graphicData uri="http://schemas.openxmlformats.org/drawingml/2006/table">
            <a:tbl>
              <a:tblPr firstRow="1" bandRow="1">
                <a:tableStyleId>{2D5ABB26-0587-4C30-8999-92F81FD0307C}</a:tableStyleId>
              </a:tblPr>
              <a:tblGrid>
                <a:gridCol w="448982">
                  <a:extLst>
                    <a:ext uri="{9D8B030D-6E8A-4147-A177-3AD203B41FA5}">
                      <a16:colId xmlns:a16="http://schemas.microsoft.com/office/drawing/2014/main" val="3825788628"/>
                    </a:ext>
                  </a:extLst>
                </a:gridCol>
                <a:gridCol w="1050598">
                  <a:extLst>
                    <a:ext uri="{9D8B030D-6E8A-4147-A177-3AD203B41FA5}">
                      <a16:colId xmlns:a16="http://schemas.microsoft.com/office/drawing/2014/main" val="3659554149"/>
                    </a:ext>
                  </a:extLst>
                </a:gridCol>
              </a:tblGrid>
              <a:tr h="373000">
                <a:tc>
                  <a:txBody>
                    <a:bodyPr/>
                    <a:lstStyle/>
                    <a:p>
                      <a:r>
                        <a:rPr lang="en-GB" dirty="0"/>
                        <a:t>0</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Elizabeth</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2701638"/>
                  </a:ext>
                </a:extLst>
              </a:tr>
              <a:tr h="373000">
                <a:tc>
                  <a:txBody>
                    <a:bodyPr/>
                    <a:lstStyle/>
                    <a:p>
                      <a:r>
                        <a:rPr lang="en-GB" dirty="0"/>
                        <a:t>1</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0787708"/>
                  </a:ext>
                </a:extLst>
              </a:tr>
              <a:tr h="377797">
                <a:tc>
                  <a:txBody>
                    <a:bodyPr/>
                    <a:lstStyle/>
                    <a:p>
                      <a:r>
                        <a:rPr lang="en-GB" dirty="0"/>
                        <a:t>2</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9491194"/>
                  </a:ext>
                </a:extLst>
              </a:tr>
              <a:tr h="441295">
                <a:tc>
                  <a:txBody>
                    <a:bodyPr/>
                    <a:lstStyle/>
                    <a:p>
                      <a:r>
                        <a:rPr lang="en-GB" dirty="0"/>
                        <a:t>3</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Doug</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1321405"/>
                  </a:ext>
                </a:extLst>
              </a:tr>
              <a:tr h="373000">
                <a:tc>
                  <a:txBody>
                    <a:bodyPr/>
                    <a:lstStyle/>
                    <a:p>
                      <a:r>
                        <a:rPr lang="en-GB" dirty="0"/>
                        <a:t>4</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8292560"/>
                  </a:ext>
                </a:extLst>
              </a:tr>
              <a:tr h="373000">
                <a:tc>
                  <a:txBody>
                    <a:bodyPr/>
                    <a:lstStyle/>
                    <a:p>
                      <a:r>
                        <a:rPr lang="en-GB" dirty="0"/>
                        <a:t>5</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4855816"/>
                  </a:ext>
                </a:extLst>
              </a:tr>
              <a:tr h="373000">
                <a:tc>
                  <a:txBody>
                    <a:bodyPr/>
                    <a:lstStyle/>
                    <a:p>
                      <a:r>
                        <a:rPr lang="en-GB" dirty="0"/>
                        <a:t>6</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7037469"/>
                  </a:ext>
                </a:extLst>
              </a:tr>
              <a:tr h="373000">
                <a:tc>
                  <a:txBody>
                    <a:bodyPr/>
                    <a:lstStyle/>
                    <a:p>
                      <a:r>
                        <a:rPr lang="en-GB" dirty="0"/>
                        <a:t>7</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6690518"/>
                  </a:ext>
                </a:extLst>
              </a:tr>
              <a:tr h="373000">
                <a:tc>
                  <a:txBody>
                    <a:bodyPr/>
                    <a:lstStyle/>
                    <a:p>
                      <a:r>
                        <a:rPr lang="en-GB" dirty="0"/>
                        <a:t>8</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76600261"/>
                  </a:ext>
                </a:extLst>
              </a:tr>
              <a:tr h="373000">
                <a:tc>
                  <a:txBody>
                    <a:bodyPr/>
                    <a:lstStyle/>
                    <a:p>
                      <a:r>
                        <a:rPr lang="en-GB" dirty="0"/>
                        <a:t>9</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Ian</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2511322"/>
                  </a:ext>
                </a:extLst>
              </a:tr>
              <a:tr h="373000">
                <a:tc>
                  <a:txBody>
                    <a:bodyPr/>
                    <a:lstStyle/>
                    <a:p>
                      <a:r>
                        <a:rPr lang="en-GB" dirty="0"/>
                        <a:t>10</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5838558"/>
                  </a:ext>
                </a:extLst>
              </a:tr>
              <a:tr h="373000">
                <a:tc>
                  <a:txBody>
                    <a:bodyPr/>
                    <a:lstStyle/>
                    <a:p>
                      <a:r>
                        <a:rPr lang="en-GB" dirty="0"/>
                        <a:t>11</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Anne</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747409"/>
                  </a:ext>
                </a:extLst>
              </a:tr>
              <a:tr h="373000">
                <a:tc>
                  <a:txBody>
                    <a:bodyPr/>
                    <a:lstStyle/>
                    <a:p>
                      <a:r>
                        <a:rPr lang="en-GB" dirty="0"/>
                        <a:t>12</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9452363"/>
                  </a:ext>
                </a:extLst>
              </a:tr>
              <a:tr h="373000">
                <a:tc>
                  <a:txBody>
                    <a:bodyPr/>
                    <a:lstStyle/>
                    <a:p>
                      <a:r>
                        <a:rPr lang="en-GB" dirty="0"/>
                        <a:t>13</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Henry</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7374327"/>
                  </a:ext>
                </a:extLst>
              </a:tr>
            </a:tbl>
          </a:graphicData>
        </a:graphic>
      </p:graphicFrame>
    </p:spTree>
    <p:extLst>
      <p:ext uri="{BB962C8B-B14F-4D97-AF65-F5344CB8AC3E}">
        <p14:creationId xmlns:p14="http://schemas.microsoft.com/office/powerpoint/2010/main" val="251463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3CFBC-2923-409C-C07E-7BFA1E6A5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32DD5-5958-D12A-0B80-729603B9D6EB}"/>
              </a:ext>
            </a:extLst>
          </p:cNvPr>
          <p:cNvSpPr>
            <a:spLocks noGrp="1"/>
          </p:cNvSpPr>
          <p:nvPr>
            <p:ph type="title"/>
          </p:nvPr>
        </p:nvSpPr>
        <p:spPr>
          <a:xfrm>
            <a:off x="2039815" y="182245"/>
            <a:ext cx="9710907" cy="830629"/>
          </a:xfrm>
        </p:spPr>
        <p:txBody>
          <a:bodyPr>
            <a:normAutofit/>
          </a:bodyPr>
          <a:lstStyle/>
          <a:p>
            <a:r>
              <a:rPr lang="en-CA" dirty="0">
                <a:solidFill>
                  <a:schemeClr val="bg1"/>
                </a:solidFill>
              </a:rPr>
              <a:t>Hashing Function Example</a:t>
            </a:r>
          </a:p>
        </p:txBody>
      </p:sp>
      <p:sp>
        <p:nvSpPr>
          <p:cNvPr id="3" name="Content Placeholder 2">
            <a:extLst>
              <a:ext uri="{FF2B5EF4-FFF2-40B4-BE49-F238E27FC236}">
                <a16:creationId xmlns:a16="http://schemas.microsoft.com/office/drawing/2014/main" id="{A5BCEEE4-35E0-BF2B-D182-6A19DB8B2308}"/>
              </a:ext>
            </a:extLst>
          </p:cNvPr>
          <p:cNvSpPr>
            <a:spLocks noGrp="1"/>
          </p:cNvSpPr>
          <p:nvPr>
            <p:ph idx="1"/>
          </p:nvPr>
        </p:nvSpPr>
        <p:spPr>
          <a:xfrm>
            <a:off x="851433" y="1380665"/>
            <a:ext cx="8706971" cy="2090141"/>
          </a:xfrm>
        </p:spPr>
        <p:txBody>
          <a:bodyPr>
            <a:normAutofit/>
          </a:bodyPr>
          <a:lstStyle/>
          <a:p>
            <a:r>
              <a:rPr lang="en-CA" dirty="0"/>
              <a:t>We want to store a list of names where:</a:t>
            </a:r>
          </a:p>
          <a:p>
            <a:pPr lvl="1"/>
            <a:r>
              <a:rPr lang="en-CA" dirty="0"/>
              <a:t>Each name is passed to a hashing function which converts the name into a numerical index</a:t>
            </a:r>
          </a:p>
          <a:p>
            <a:pPr lvl="1"/>
            <a:r>
              <a:rPr lang="en-CA" dirty="0"/>
              <a:t>The name is stored at that index </a:t>
            </a:r>
          </a:p>
          <a:p>
            <a:pPr lvl="1"/>
            <a:r>
              <a:rPr lang="en-CA" dirty="0"/>
              <a:t>The name is retrieved using that index</a:t>
            </a:r>
            <a:endParaRPr lang="en-GB" dirty="0"/>
          </a:p>
        </p:txBody>
      </p:sp>
      <p:graphicFrame>
        <p:nvGraphicFramePr>
          <p:cNvPr id="5" name="Table 4">
            <a:extLst>
              <a:ext uri="{FF2B5EF4-FFF2-40B4-BE49-F238E27FC236}">
                <a16:creationId xmlns:a16="http://schemas.microsoft.com/office/drawing/2014/main" id="{3A6CAA48-C55B-C5C1-389A-B5E293D59EAF}"/>
              </a:ext>
            </a:extLst>
          </p:cNvPr>
          <p:cNvGraphicFramePr>
            <a:graphicFrameLocks noGrp="1"/>
          </p:cNvGraphicFramePr>
          <p:nvPr>
            <p:extLst>
              <p:ext uri="{D42A27DB-BD31-4B8C-83A1-F6EECF244321}">
                <p14:modId xmlns:p14="http://schemas.microsoft.com/office/powerpoint/2010/main" val="1099954090"/>
              </p:ext>
            </p:extLst>
          </p:nvPr>
        </p:nvGraphicFramePr>
        <p:xfrm>
          <a:off x="9899044" y="1380665"/>
          <a:ext cx="1499580" cy="5295092"/>
        </p:xfrm>
        <a:graphic>
          <a:graphicData uri="http://schemas.openxmlformats.org/drawingml/2006/table">
            <a:tbl>
              <a:tblPr firstRow="1" bandRow="1">
                <a:tableStyleId>{2D5ABB26-0587-4C30-8999-92F81FD0307C}</a:tableStyleId>
              </a:tblPr>
              <a:tblGrid>
                <a:gridCol w="448982">
                  <a:extLst>
                    <a:ext uri="{9D8B030D-6E8A-4147-A177-3AD203B41FA5}">
                      <a16:colId xmlns:a16="http://schemas.microsoft.com/office/drawing/2014/main" val="3825788628"/>
                    </a:ext>
                  </a:extLst>
                </a:gridCol>
                <a:gridCol w="1050598">
                  <a:extLst>
                    <a:ext uri="{9D8B030D-6E8A-4147-A177-3AD203B41FA5}">
                      <a16:colId xmlns:a16="http://schemas.microsoft.com/office/drawing/2014/main" val="3659554149"/>
                    </a:ext>
                  </a:extLst>
                </a:gridCol>
              </a:tblGrid>
              <a:tr h="373000">
                <a:tc>
                  <a:txBody>
                    <a:bodyPr/>
                    <a:lstStyle/>
                    <a:p>
                      <a:r>
                        <a:rPr lang="en-GB" dirty="0"/>
                        <a:t>0</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Elizabeth</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2701638"/>
                  </a:ext>
                </a:extLst>
              </a:tr>
              <a:tr h="373000">
                <a:tc>
                  <a:txBody>
                    <a:bodyPr/>
                    <a:lstStyle/>
                    <a:p>
                      <a:r>
                        <a:rPr lang="en-GB" dirty="0"/>
                        <a:t>1</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0787708"/>
                  </a:ext>
                </a:extLst>
              </a:tr>
              <a:tr h="377797">
                <a:tc>
                  <a:txBody>
                    <a:bodyPr/>
                    <a:lstStyle/>
                    <a:p>
                      <a:r>
                        <a:rPr lang="en-GB" dirty="0"/>
                        <a:t>2</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9491194"/>
                  </a:ext>
                </a:extLst>
              </a:tr>
              <a:tr h="441295">
                <a:tc>
                  <a:txBody>
                    <a:bodyPr/>
                    <a:lstStyle/>
                    <a:p>
                      <a:r>
                        <a:rPr lang="en-GB" dirty="0"/>
                        <a:t>3</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Doug</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1321405"/>
                  </a:ext>
                </a:extLst>
              </a:tr>
              <a:tr h="373000">
                <a:tc>
                  <a:txBody>
                    <a:bodyPr/>
                    <a:lstStyle/>
                    <a:p>
                      <a:r>
                        <a:rPr lang="en-GB" dirty="0"/>
                        <a:t>4</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8292560"/>
                  </a:ext>
                </a:extLst>
              </a:tr>
              <a:tr h="373000">
                <a:tc>
                  <a:txBody>
                    <a:bodyPr/>
                    <a:lstStyle/>
                    <a:p>
                      <a:r>
                        <a:rPr lang="en-GB" dirty="0"/>
                        <a:t>5</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4855816"/>
                  </a:ext>
                </a:extLst>
              </a:tr>
              <a:tr h="373000">
                <a:tc>
                  <a:txBody>
                    <a:bodyPr/>
                    <a:lstStyle/>
                    <a:p>
                      <a:r>
                        <a:rPr lang="en-GB" dirty="0"/>
                        <a:t>6</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7037469"/>
                  </a:ext>
                </a:extLst>
              </a:tr>
              <a:tr h="373000">
                <a:tc>
                  <a:txBody>
                    <a:bodyPr/>
                    <a:lstStyle/>
                    <a:p>
                      <a:r>
                        <a:rPr lang="en-GB" dirty="0"/>
                        <a:t>7</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6690518"/>
                  </a:ext>
                </a:extLst>
              </a:tr>
              <a:tr h="373000">
                <a:tc>
                  <a:txBody>
                    <a:bodyPr/>
                    <a:lstStyle/>
                    <a:p>
                      <a:r>
                        <a:rPr lang="en-GB" dirty="0"/>
                        <a:t>8</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76600261"/>
                  </a:ext>
                </a:extLst>
              </a:tr>
              <a:tr h="373000">
                <a:tc>
                  <a:txBody>
                    <a:bodyPr/>
                    <a:lstStyle/>
                    <a:p>
                      <a:r>
                        <a:rPr lang="en-GB" dirty="0"/>
                        <a:t>9</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Ian</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2511322"/>
                  </a:ext>
                </a:extLst>
              </a:tr>
              <a:tr h="373000">
                <a:tc>
                  <a:txBody>
                    <a:bodyPr/>
                    <a:lstStyle/>
                    <a:p>
                      <a:r>
                        <a:rPr lang="en-GB" dirty="0"/>
                        <a:t>10</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5838558"/>
                  </a:ext>
                </a:extLst>
              </a:tr>
              <a:tr h="373000">
                <a:tc>
                  <a:txBody>
                    <a:bodyPr/>
                    <a:lstStyle/>
                    <a:p>
                      <a:r>
                        <a:rPr lang="en-GB" dirty="0"/>
                        <a:t>11</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Anne</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747409"/>
                  </a:ext>
                </a:extLst>
              </a:tr>
              <a:tr h="373000">
                <a:tc>
                  <a:txBody>
                    <a:bodyPr/>
                    <a:lstStyle/>
                    <a:p>
                      <a:r>
                        <a:rPr lang="en-GB" dirty="0"/>
                        <a:t>12</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9452363"/>
                  </a:ext>
                </a:extLst>
              </a:tr>
              <a:tr h="373000">
                <a:tc>
                  <a:txBody>
                    <a:bodyPr/>
                    <a:lstStyle/>
                    <a:p>
                      <a:r>
                        <a:rPr lang="en-GB" dirty="0"/>
                        <a:t>13</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Henry</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7374327"/>
                  </a:ext>
                </a:extLst>
              </a:tr>
            </a:tbl>
          </a:graphicData>
        </a:graphic>
      </p:graphicFrame>
      <p:sp>
        <p:nvSpPr>
          <p:cNvPr id="6" name="TextBox 5">
            <a:extLst>
              <a:ext uri="{FF2B5EF4-FFF2-40B4-BE49-F238E27FC236}">
                <a16:creationId xmlns:a16="http://schemas.microsoft.com/office/drawing/2014/main" id="{B509D054-23DF-7A87-3A6A-29E3C3DC6112}"/>
              </a:ext>
            </a:extLst>
          </p:cNvPr>
          <p:cNvSpPr txBox="1"/>
          <p:nvPr/>
        </p:nvSpPr>
        <p:spPr>
          <a:xfrm>
            <a:off x="234616" y="3604649"/>
            <a:ext cx="4710523" cy="2862322"/>
          </a:xfrm>
          <a:prstGeom prst="rect">
            <a:avLst/>
          </a:prstGeom>
          <a:noFill/>
          <a:ln w="6350">
            <a:solidFill>
              <a:schemeClr val="tx1"/>
            </a:solidFill>
          </a:ln>
        </p:spPr>
        <p:txBody>
          <a:bodyPr wrap="square">
            <a:spAutoFit/>
          </a:bodyPr>
          <a:lstStyle/>
          <a:p>
            <a:r>
              <a:rPr lang="en-GB" dirty="0">
                <a:latin typeface="Courier New" panose="02070309020205020404" pitchFamily="49" charset="0"/>
                <a:cs typeface="Courier New" panose="02070309020205020404" pitchFamily="49" charset="0"/>
              </a:rPr>
              <a:t>int </a:t>
            </a:r>
            <a:r>
              <a:rPr lang="en-GB" dirty="0" err="1">
                <a:latin typeface="Courier New" panose="02070309020205020404" pitchFamily="49" charset="0"/>
                <a:cs typeface="Courier New" panose="02070309020205020404" pitchFamily="49" charset="0"/>
              </a:rPr>
              <a:t>hashFunction</a:t>
            </a:r>
            <a:r>
              <a:rPr lang="en-GB" dirty="0">
                <a:latin typeface="Courier New" panose="02070309020205020404" pitchFamily="49" charset="0"/>
                <a:cs typeface="Courier New" panose="02070309020205020404" pitchFamily="49" charset="0"/>
              </a:rPr>
              <a:t>(string key)</a:t>
            </a:r>
          </a:p>
          <a:p>
            <a:r>
              <a:rPr lang="en-GB" dirty="0">
                <a:latin typeface="Courier New" panose="02070309020205020404" pitchFamily="49" charset="0"/>
                <a:cs typeface="Courier New" panose="02070309020205020404" pitchFamily="49" charset="0"/>
              </a:rPr>
              <a:t>{</a:t>
            </a:r>
          </a:p>
          <a:p>
            <a:r>
              <a:rPr lang="en-GB" dirty="0">
                <a:latin typeface="Courier New" panose="02070309020205020404" pitchFamily="49" charset="0"/>
                <a:cs typeface="Courier New" panose="02070309020205020404" pitchFamily="49" charset="0"/>
              </a:rPr>
              <a:t>    int hash = 0;</a:t>
            </a:r>
          </a:p>
          <a:p>
            <a:r>
              <a:rPr lang="en-GB" dirty="0">
                <a:latin typeface="Courier New" panose="02070309020205020404" pitchFamily="49" charset="0"/>
                <a:cs typeface="Courier New" panose="02070309020205020404" pitchFamily="49" charset="0"/>
              </a:rPr>
              <a:t>    int counter = 1;</a:t>
            </a:r>
          </a:p>
          <a:p>
            <a:endParaRPr lang="en-GB" dirty="0">
              <a:latin typeface="Courier New" panose="02070309020205020404" pitchFamily="49" charset="0"/>
              <a:cs typeface="Courier New" panose="02070309020205020404" pitchFamily="49" charset="0"/>
            </a:endParaRPr>
          </a:p>
          <a:p>
            <a:r>
              <a:rPr lang="en-GB" dirty="0">
                <a:latin typeface="Courier New" panose="02070309020205020404" pitchFamily="49" charset="0"/>
                <a:cs typeface="Courier New" panose="02070309020205020404" pitchFamily="49" charset="0"/>
              </a:rPr>
              <a:t>    for (char </a:t>
            </a:r>
            <a:r>
              <a:rPr lang="en-GB" dirty="0" err="1">
                <a:latin typeface="Courier New" panose="02070309020205020404" pitchFamily="49" charset="0"/>
                <a:cs typeface="Courier New" panose="02070309020205020404" pitchFamily="49" charset="0"/>
              </a:rPr>
              <a:t>ch</a:t>
            </a:r>
            <a:r>
              <a:rPr lang="en-GB" dirty="0">
                <a:latin typeface="Courier New" panose="02070309020205020404" pitchFamily="49" charset="0"/>
                <a:cs typeface="Courier New" panose="02070309020205020404" pitchFamily="49" charset="0"/>
              </a:rPr>
              <a:t> : key)        </a:t>
            </a:r>
          </a:p>
          <a:p>
            <a:r>
              <a:rPr lang="en-GB" dirty="0">
                <a:latin typeface="Courier New" panose="02070309020205020404" pitchFamily="49" charset="0"/>
                <a:cs typeface="Courier New" panose="02070309020205020404" pitchFamily="49" charset="0"/>
              </a:rPr>
              <a:t>        hash += </a:t>
            </a:r>
            <a:r>
              <a:rPr lang="en-GB" dirty="0" err="1">
                <a:latin typeface="Courier New" panose="02070309020205020404" pitchFamily="49" charset="0"/>
                <a:cs typeface="Courier New" panose="02070309020205020404" pitchFamily="49" charset="0"/>
              </a:rPr>
              <a:t>ch</a:t>
            </a:r>
            <a:r>
              <a:rPr lang="en-GB" dirty="0">
                <a:latin typeface="Courier New" panose="02070309020205020404" pitchFamily="49" charset="0"/>
                <a:cs typeface="Courier New" panose="02070309020205020404" pitchFamily="49" charset="0"/>
              </a:rPr>
              <a:t> * counter++; </a:t>
            </a:r>
          </a:p>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return hash % 14;</a:t>
            </a:r>
          </a:p>
          <a:p>
            <a:r>
              <a:rPr lang="en-GB" dirty="0">
                <a:latin typeface="Courier New" panose="02070309020205020404" pitchFamily="49" charset="0"/>
                <a:cs typeface="Courier New" panose="02070309020205020404" pitchFamily="49" charset="0"/>
              </a:rPr>
              <a:t>}</a:t>
            </a:r>
            <a:endParaRPr lang="en-CA" dirty="0">
              <a:latin typeface="Courier New" panose="02070309020205020404" pitchFamily="49" charset="0"/>
              <a:cs typeface="Courier New" panose="02070309020205020404" pitchFamily="49" charset="0"/>
            </a:endParaRPr>
          </a:p>
        </p:txBody>
      </p:sp>
      <p:sp>
        <p:nvSpPr>
          <p:cNvPr id="9" name="TextBox 8">
            <a:extLst>
              <a:ext uri="{FF2B5EF4-FFF2-40B4-BE49-F238E27FC236}">
                <a16:creationId xmlns:a16="http://schemas.microsoft.com/office/drawing/2014/main" id="{B3E61D1B-99BB-B3EC-04B3-F302411DF545}"/>
              </a:ext>
            </a:extLst>
          </p:cNvPr>
          <p:cNvSpPr txBox="1"/>
          <p:nvPr/>
        </p:nvSpPr>
        <p:spPr>
          <a:xfrm>
            <a:off x="5144488" y="3670577"/>
            <a:ext cx="4555207" cy="2585323"/>
          </a:xfrm>
          <a:prstGeom prst="rect">
            <a:avLst/>
          </a:prstGeom>
          <a:noFill/>
        </p:spPr>
        <p:txBody>
          <a:bodyPr wrap="square">
            <a:spAutoFit/>
          </a:bodyPr>
          <a:lstStyle/>
          <a:p>
            <a:r>
              <a:rPr lang="en-GB" dirty="0">
                <a:solidFill>
                  <a:srgbClr val="FF0000"/>
                </a:solidFill>
              </a:rPr>
              <a:t>For key Henry:</a:t>
            </a:r>
          </a:p>
          <a:p>
            <a:r>
              <a:rPr lang="en-GB" dirty="0"/>
              <a:t>hash = 72*1 + 101*2 + 110*3 + 114*4 + 121*5</a:t>
            </a:r>
          </a:p>
          <a:p>
            <a:r>
              <a:rPr lang="en-GB" dirty="0"/>
              <a:t>hash = 1665 % 14</a:t>
            </a:r>
          </a:p>
          <a:p>
            <a:r>
              <a:rPr lang="en-GB" dirty="0"/>
              <a:t>hash = 13</a:t>
            </a:r>
          </a:p>
          <a:p>
            <a:endParaRPr lang="en-GB" dirty="0"/>
          </a:p>
          <a:p>
            <a:r>
              <a:rPr lang="en-GB" dirty="0">
                <a:solidFill>
                  <a:srgbClr val="FF0000"/>
                </a:solidFill>
              </a:rPr>
              <a:t>For key Luke:</a:t>
            </a:r>
          </a:p>
          <a:p>
            <a:r>
              <a:rPr lang="en-GB" dirty="0"/>
              <a:t>hash = 76*1 + 117*2 + 107*3 + 101*4</a:t>
            </a:r>
          </a:p>
          <a:p>
            <a:r>
              <a:rPr lang="en-GB" dirty="0"/>
              <a:t>hash = 1035 % 14</a:t>
            </a:r>
          </a:p>
          <a:p>
            <a:r>
              <a:rPr lang="en-GB" dirty="0"/>
              <a:t>hash = 13</a:t>
            </a:r>
            <a:endParaRPr lang="en-CA" dirty="0"/>
          </a:p>
        </p:txBody>
      </p:sp>
      <p:grpSp>
        <p:nvGrpSpPr>
          <p:cNvPr id="14" name="Group 13">
            <a:extLst>
              <a:ext uri="{FF2B5EF4-FFF2-40B4-BE49-F238E27FC236}">
                <a16:creationId xmlns:a16="http://schemas.microsoft.com/office/drawing/2014/main" id="{D8347BE8-9278-4BB0-C4B8-3D04D0AF45E8}"/>
              </a:ext>
            </a:extLst>
          </p:cNvPr>
          <p:cNvGrpSpPr/>
          <p:nvPr/>
        </p:nvGrpSpPr>
        <p:grpSpPr>
          <a:xfrm>
            <a:off x="7624038" y="6255900"/>
            <a:ext cx="2175332" cy="369332"/>
            <a:chOff x="7371963" y="6271005"/>
            <a:chExt cx="2175332" cy="369332"/>
          </a:xfrm>
        </p:grpSpPr>
        <p:sp>
          <p:nvSpPr>
            <p:cNvPr id="10" name="TextBox 9">
              <a:extLst>
                <a:ext uri="{FF2B5EF4-FFF2-40B4-BE49-F238E27FC236}">
                  <a16:creationId xmlns:a16="http://schemas.microsoft.com/office/drawing/2014/main" id="{5A72935B-7BD4-C072-57F2-DE520D6086BC}"/>
                </a:ext>
              </a:extLst>
            </p:cNvPr>
            <p:cNvSpPr txBox="1"/>
            <p:nvPr/>
          </p:nvSpPr>
          <p:spPr>
            <a:xfrm>
              <a:off x="7371963" y="6271005"/>
              <a:ext cx="1061720" cy="369332"/>
            </a:xfrm>
            <a:prstGeom prst="rect">
              <a:avLst/>
            </a:prstGeom>
            <a:solidFill>
              <a:schemeClr val="bg1"/>
            </a:solidFill>
            <a:ln w="9525">
              <a:solidFill>
                <a:srgbClr val="FF0000"/>
              </a:solidFill>
            </a:ln>
          </p:spPr>
          <p:txBody>
            <a:bodyPr wrap="square" rtlCol="0">
              <a:spAutoFit/>
            </a:bodyPr>
            <a:lstStyle/>
            <a:p>
              <a:pPr algn="ctr"/>
              <a:r>
                <a:rPr lang="en-GB" dirty="0"/>
                <a:t>Luke</a:t>
              </a:r>
              <a:endParaRPr lang="en-CA" dirty="0"/>
            </a:p>
          </p:txBody>
        </p:sp>
        <p:cxnSp>
          <p:nvCxnSpPr>
            <p:cNvPr id="12" name="Straight Arrow Connector 11">
              <a:extLst>
                <a:ext uri="{FF2B5EF4-FFF2-40B4-BE49-F238E27FC236}">
                  <a16:creationId xmlns:a16="http://schemas.microsoft.com/office/drawing/2014/main" id="{8887A49C-F6E1-2E79-D5F9-3501ACD4105B}"/>
                </a:ext>
              </a:extLst>
            </p:cNvPr>
            <p:cNvCxnSpPr>
              <a:cxnSpLocks/>
            </p:cNvCxnSpPr>
            <p:nvPr/>
          </p:nvCxnSpPr>
          <p:spPr>
            <a:xfrm>
              <a:off x="8433683" y="6466971"/>
              <a:ext cx="111361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8273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A Weak Hashing Example</a:t>
            </a:r>
          </a:p>
        </p:txBody>
      </p:sp>
      <p:sp>
        <p:nvSpPr>
          <p:cNvPr id="3" name="Content Placeholder 2"/>
          <p:cNvSpPr>
            <a:spLocks noGrp="1"/>
          </p:cNvSpPr>
          <p:nvPr>
            <p:ph idx="1"/>
          </p:nvPr>
        </p:nvSpPr>
        <p:spPr/>
        <p:txBody>
          <a:bodyPr>
            <a:normAutofit fontScale="92500" lnSpcReduction="10000"/>
          </a:bodyPr>
          <a:lstStyle/>
          <a:p>
            <a:r>
              <a:rPr lang="en-CA" dirty="0"/>
              <a:t>A sample hash algorithm</a:t>
            </a:r>
          </a:p>
          <a:p>
            <a:pPr marL="0" indent="0">
              <a:buNone/>
            </a:pPr>
            <a:r>
              <a:rPr lang="en-CA" dirty="0">
                <a:solidFill>
                  <a:srgbClr val="FF0000"/>
                </a:solidFill>
              </a:rPr>
              <a:t>Example</a:t>
            </a:r>
          </a:p>
          <a:p>
            <a:r>
              <a:rPr lang="en-CA" dirty="0"/>
              <a:t>All the letters of a string can be added together, and the sum can be used as an index. </a:t>
            </a:r>
          </a:p>
          <a:p>
            <a:r>
              <a:rPr lang="en-CA" dirty="0"/>
              <a:t>In this case, the map needs 3,782 elements(for a string </a:t>
            </a:r>
            <a:r>
              <a:rPr lang="en-CA" dirty="0">
                <a:solidFill>
                  <a:srgbClr val="FF0000"/>
                </a:solidFill>
              </a:rPr>
              <a:t>K</a:t>
            </a:r>
            <a:r>
              <a:rPr lang="en-CA" dirty="0"/>
              <a:t> made out of 31 characters like “z,” h(K) = 31 * 122 = 3,782). </a:t>
            </a:r>
          </a:p>
          <a:p>
            <a:r>
              <a:rPr lang="en-CA" dirty="0"/>
              <a:t>But even with this size, the function h does not return unique values. For example, h(“</a:t>
            </a:r>
            <a:r>
              <a:rPr lang="en-CA" dirty="0" err="1"/>
              <a:t>abc</a:t>
            </a:r>
            <a:r>
              <a:rPr lang="en-CA" dirty="0"/>
              <a:t>”) == h(“</a:t>
            </a:r>
            <a:r>
              <a:rPr lang="en-CA" dirty="0" err="1"/>
              <a:t>acb</a:t>
            </a:r>
            <a:r>
              <a:rPr lang="en-CA" dirty="0"/>
              <a:t>”), and therefore map to the same index. </a:t>
            </a:r>
          </a:p>
          <a:p>
            <a:r>
              <a:rPr lang="en-CA" dirty="0"/>
              <a:t>The problem of non-unique keys is called </a:t>
            </a:r>
            <a:r>
              <a:rPr lang="en-CA" dirty="0">
                <a:solidFill>
                  <a:srgbClr val="FF0000"/>
                </a:solidFill>
              </a:rPr>
              <a:t>collision</a:t>
            </a:r>
          </a:p>
          <a:p>
            <a:endParaRPr lang="en-CA" dirty="0">
              <a:solidFill>
                <a:srgbClr val="FF0000"/>
              </a:solidFill>
            </a:endParaRPr>
          </a:p>
          <a:p>
            <a:r>
              <a:rPr lang="en-CA" sz="2600" dirty="0">
                <a:solidFill>
                  <a:srgbClr val="FF0000"/>
                </a:solidFill>
              </a:rPr>
              <a:t>122 is the </a:t>
            </a:r>
            <a:r>
              <a:rPr lang="en-CA" sz="2600" dirty="0" err="1">
                <a:solidFill>
                  <a:srgbClr val="FF0000"/>
                </a:solidFill>
              </a:rPr>
              <a:t>ascii</a:t>
            </a:r>
            <a:r>
              <a:rPr lang="en-CA" sz="2600" dirty="0">
                <a:solidFill>
                  <a:srgbClr val="FF0000"/>
                </a:solidFill>
              </a:rPr>
              <a:t> value of lowercase ‘z’ </a:t>
            </a:r>
          </a:p>
        </p:txBody>
      </p:sp>
    </p:spTree>
    <p:extLst>
      <p:ext uri="{BB962C8B-B14F-4D97-AF65-F5344CB8AC3E}">
        <p14:creationId xmlns:p14="http://schemas.microsoft.com/office/powerpoint/2010/main" val="3343140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Hashing</a:t>
            </a:r>
          </a:p>
        </p:txBody>
      </p:sp>
      <p:sp>
        <p:nvSpPr>
          <p:cNvPr id="3" name="Content Placeholder 2"/>
          <p:cNvSpPr>
            <a:spLocks noGrp="1"/>
          </p:cNvSpPr>
          <p:nvPr>
            <p:ph idx="1"/>
          </p:nvPr>
        </p:nvSpPr>
        <p:spPr>
          <a:xfrm>
            <a:off x="838200" y="1508943"/>
            <a:ext cx="10008704" cy="4554232"/>
          </a:xfrm>
        </p:spPr>
        <p:txBody>
          <a:bodyPr/>
          <a:lstStyle/>
          <a:p>
            <a:r>
              <a:rPr lang="en-CA" sz="2800" dirty="0">
                <a:solidFill>
                  <a:srgbClr val="C00000"/>
                </a:solidFill>
              </a:rPr>
              <a:t>Hashing</a:t>
            </a:r>
            <a:r>
              <a:rPr lang="en-CA" sz="2800" dirty="0"/>
              <a:t> is a process used to transform data called a </a:t>
            </a:r>
            <a:r>
              <a:rPr lang="en-CA" sz="2800" dirty="0">
                <a:solidFill>
                  <a:srgbClr val="C00000"/>
                </a:solidFill>
              </a:rPr>
              <a:t>key</a:t>
            </a:r>
            <a:r>
              <a:rPr lang="en-CA" sz="2800" dirty="0"/>
              <a:t> into a fixed-size value </a:t>
            </a:r>
          </a:p>
          <a:p>
            <a:pPr lvl="1"/>
            <a:r>
              <a:rPr lang="en-CA" dirty="0"/>
              <a:t>Data can be a string or numeric</a:t>
            </a:r>
          </a:p>
          <a:p>
            <a:pPr lvl="1"/>
            <a:r>
              <a:rPr lang="en-CA" dirty="0"/>
              <a:t>The process is a mathematical function or algorithm called a hash function</a:t>
            </a:r>
          </a:p>
          <a:p>
            <a:r>
              <a:rPr lang="en-CA" dirty="0"/>
              <a:t>The fixed-size value is returned by a hash function is:</a:t>
            </a:r>
          </a:p>
          <a:p>
            <a:pPr lvl="1"/>
            <a:r>
              <a:rPr lang="en-CA" dirty="0"/>
              <a:t>Called </a:t>
            </a:r>
            <a:r>
              <a:rPr lang="en-CA" dirty="0">
                <a:solidFill>
                  <a:srgbClr val="C00000"/>
                </a:solidFill>
              </a:rPr>
              <a:t>hash value, hash code, digest, </a:t>
            </a:r>
            <a:r>
              <a:rPr lang="en-CA" dirty="0"/>
              <a:t>or</a:t>
            </a:r>
            <a:r>
              <a:rPr lang="en-CA" dirty="0">
                <a:solidFill>
                  <a:srgbClr val="C00000"/>
                </a:solidFill>
              </a:rPr>
              <a:t> </a:t>
            </a:r>
            <a:r>
              <a:rPr lang="en-CA" dirty="0"/>
              <a:t>simply</a:t>
            </a:r>
            <a:r>
              <a:rPr lang="en-CA" dirty="0">
                <a:solidFill>
                  <a:srgbClr val="C00000"/>
                </a:solidFill>
              </a:rPr>
              <a:t> hash</a:t>
            </a:r>
          </a:p>
          <a:p>
            <a:pPr lvl="1"/>
            <a:r>
              <a:rPr lang="en-CA" dirty="0"/>
              <a:t>Used to index a fixed-size table called a hash table </a:t>
            </a:r>
          </a:p>
          <a:p>
            <a:r>
              <a:rPr lang="en-CA" dirty="0"/>
              <a:t>Use of a hash function to index a hash table is called </a:t>
            </a:r>
            <a:r>
              <a:rPr lang="en-CA" dirty="0">
                <a:solidFill>
                  <a:srgbClr val="C00000"/>
                </a:solidFill>
              </a:rPr>
              <a:t>hashing</a:t>
            </a:r>
            <a:r>
              <a:rPr lang="en-CA" dirty="0"/>
              <a:t> or </a:t>
            </a:r>
            <a:r>
              <a:rPr lang="en-CA" dirty="0">
                <a:solidFill>
                  <a:srgbClr val="C00000"/>
                </a:solidFill>
              </a:rPr>
              <a:t>scatter storage addressing</a:t>
            </a:r>
            <a:r>
              <a:rPr lang="en-CA" dirty="0"/>
              <a:t>.</a:t>
            </a:r>
          </a:p>
        </p:txBody>
      </p:sp>
    </p:spTree>
    <p:extLst>
      <p:ext uri="{BB962C8B-B14F-4D97-AF65-F5344CB8AC3E}">
        <p14:creationId xmlns:p14="http://schemas.microsoft.com/office/powerpoint/2010/main" val="4154359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1BC9D-DE98-8FD6-817D-AD441D002F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FA53B-98A3-4CB8-DA8C-EB7AF2C50864}"/>
              </a:ext>
            </a:extLst>
          </p:cNvPr>
          <p:cNvSpPr>
            <a:spLocks noGrp="1"/>
          </p:cNvSpPr>
          <p:nvPr>
            <p:ph type="title"/>
          </p:nvPr>
        </p:nvSpPr>
        <p:spPr>
          <a:xfrm>
            <a:off x="2039815" y="182245"/>
            <a:ext cx="9710907" cy="830629"/>
          </a:xfrm>
        </p:spPr>
        <p:txBody>
          <a:bodyPr>
            <a:normAutofit/>
          </a:bodyPr>
          <a:lstStyle/>
          <a:p>
            <a:r>
              <a:rPr lang="en-GB" dirty="0">
                <a:solidFill>
                  <a:schemeClr val="bg1"/>
                </a:solidFill>
              </a:rPr>
              <a:t>Hash Function Properties</a:t>
            </a:r>
            <a:endParaRPr lang="en-CA" dirty="0">
              <a:solidFill>
                <a:schemeClr val="bg1"/>
              </a:solidFill>
            </a:endParaRPr>
          </a:p>
        </p:txBody>
      </p:sp>
      <p:sp>
        <p:nvSpPr>
          <p:cNvPr id="3" name="Content Placeholder 2">
            <a:extLst>
              <a:ext uri="{FF2B5EF4-FFF2-40B4-BE49-F238E27FC236}">
                <a16:creationId xmlns:a16="http://schemas.microsoft.com/office/drawing/2014/main" id="{E1E4D8E6-703F-4288-1AC9-32E0D170950C}"/>
              </a:ext>
            </a:extLst>
          </p:cNvPr>
          <p:cNvSpPr>
            <a:spLocks noGrp="1"/>
          </p:cNvSpPr>
          <p:nvPr>
            <p:ph idx="1"/>
          </p:nvPr>
        </p:nvSpPr>
        <p:spPr>
          <a:xfrm>
            <a:off x="967409" y="1458632"/>
            <a:ext cx="9760226" cy="4981923"/>
          </a:xfrm>
        </p:spPr>
        <p:txBody>
          <a:bodyPr>
            <a:normAutofit/>
          </a:bodyPr>
          <a:lstStyle/>
          <a:p>
            <a:r>
              <a:rPr lang="en-CA" dirty="0"/>
              <a:t>The situation where two elements or keys map to the same location in a hash table is called a </a:t>
            </a:r>
            <a:r>
              <a:rPr lang="en-CA" dirty="0">
                <a:solidFill>
                  <a:srgbClr val="C00000"/>
                </a:solidFill>
              </a:rPr>
              <a:t>collision</a:t>
            </a:r>
          </a:p>
          <a:p>
            <a:r>
              <a:rPr lang="en-CA" dirty="0"/>
              <a:t>A hashing function that maps each element to a unique position is said to be a </a:t>
            </a:r>
            <a:r>
              <a:rPr lang="en-CA" dirty="0">
                <a:solidFill>
                  <a:srgbClr val="C00000"/>
                </a:solidFill>
              </a:rPr>
              <a:t>perfect function</a:t>
            </a:r>
          </a:p>
          <a:p>
            <a:endParaRPr lang="en-CA" dirty="0">
              <a:solidFill>
                <a:srgbClr val="C00000"/>
              </a:solidFill>
            </a:endParaRPr>
          </a:p>
          <a:p>
            <a:r>
              <a:rPr lang="en-CA" dirty="0"/>
              <a:t>A good hash function:</a:t>
            </a:r>
          </a:p>
          <a:p>
            <a:pPr lvl="1"/>
            <a:r>
              <a:rPr lang="en-CA" dirty="0"/>
              <a:t>Is deterministic, that is, the same input will always produce the same </a:t>
            </a:r>
            <a:r>
              <a:rPr lang="en-CA" dirty="0">
                <a:solidFill>
                  <a:srgbClr val="C00000"/>
                </a:solidFill>
              </a:rPr>
              <a:t>hash value </a:t>
            </a:r>
          </a:p>
          <a:p>
            <a:pPr lvl="1"/>
            <a:r>
              <a:rPr lang="en-CA" dirty="0"/>
              <a:t>Is fast to compute</a:t>
            </a:r>
          </a:p>
          <a:p>
            <a:pPr lvl="1"/>
            <a:r>
              <a:rPr lang="en-CA" dirty="0"/>
              <a:t>Should distribute hash values uniformly to minimize collisions</a:t>
            </a:r>
          </a:p>
          <a:p>
            <a:pPr lvl="1"/>
            <a:r>
              <a:rPr lang="en-CA" dirty="0"/>
              <a:t>Should be difficult to derive the original input</a:t>
            </a:r>
          </a:p>
          <a:p>
            <a:pPr marL="0" indent="0">
              <a:buNone/>
            </a:pPr>
            <a:endParaRPr lang="en-CA" dirty="0">
              <a:solidFill>
                <a:srgbClr val="C00000"/>
              </a:solidFill>
            </a:endParaRPr>
          </a:p>
          <a:p>
            <a:endParaRPr lang="en-GB" sz="3200" dirty="0"/>
          </a:p>
        </p:txBody>
      </p:sp>
    </p:spTree>
    <p:extLst>
      <p:ext uri="{BB962C8B-B14F-4D97-AF65-F5344CB8AC3E}">
        <p14:creationId xmlns:p14="http://schemas.microsoft.com/office/powerpoint/2010/main" val="194491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Uses for Hashing</a:t>
            </a:r>
          </a:p>
        </p:txBody>
      </p:sp>
      <p:sp>
        <p:nvSpPr>
          <p:cNvPr id="3" name="Content Placeholder 2"/>
          <p:cNvSpPr>
            <a:spLocks noGrp="1"/>
          </p:cNvSpPr>
          <p:nvPr>
            <p:ph idx="1"/>
          </p:nvPr>
        </p:nvSpPr>
        <p:spPr>
          <a:xfrm>
            <a:off x="944218" y="1356543"/>
            <a:ext cx="10515600" cy="4991248"/>
          </a:xfrm>
        </p:spPr>
        <p:txBody>
          <a:bodyPr>
            <a:normAutofit fontScale="85000" lnSpcReduction="20000"/>
          </a:bodyPr>
          <a:lstStyle/>
          <a:p>
            <a:r>
              <a:rPr lang="en-CA" dirty="0"/>
              <a:t>Hash Tables</a:t>
            </a:r>
          </a:p>
          <a:p>
            <a:pPr lvl="1"/>
            <a:r>
              <a:rPr lang="en-CA" dirty="0"/>
              <a:t>Used to store and retrieve data efficiently </a:t>
            </a:r>
          </a:p>
          <a:p>
            <a:pPr lvl="1"/>
            <a:r>
              <a:rPr lang="en-CA" dirty="0"/>
              <a:t>When used for fingerprinting, identifying files</a:t>
            </a:r>
          </a:p>
          <a:p>
            <a:r>
              <a:rPr lang="en-CA" dirty="0"/>
              <a:t>Data integrity and checksums</a:t>
            </a:r>
          </a:p>
          <a:p>
            <a:pPr lvl="1"/>
            <a:r>
              <a:rPr lang="en-CA" dirty="0"/>
              <a:t>For authentication when downloading a file its hash value can be compared with a known hash to ensure the file has not been corrupted, accidentally or intentionally</a:t>
            </a:r>
          </a:p>
          <a:p>
            <a:pPr lvl="1"/>
            <a:r>
              <a:rPr lang="en-CA" dirty="0"/>
              <a:t>Used for digital signatures, message authentication codes (MACs), and other forms of authentication</a:t>
            </a:r>
          </a:p>
          <a:p>
            <a:r>
              <a:rPr lang="en-CA" dirty="0"/>
              <a:t>Cryptography</a:t>
            </a:r>
          </a:p>
          <a:p>
            <a:pPr lvl="1"/>
            <a:r>
              <a:rPr lang="en-CA" dirty="0"/>
              <a:t>When used to ensure data security and are resistant to reverse engineering</a:t>
            </a:r>
          </a:p>
          <a:p>
            <a:pPr lvl="1"/>
            <a:r>
              <a:rPr lang="en-CA" dirty="0"/>
              <a:t>Used in password storage, digital signatures, blockchain technology</a:t>
            </a:r>
          </a:p>
          <a:p>
            <a:r>
              <a:rPr lang="en-CA" dirty="0"/>
              <a:t>Data Duplication</a:t>
            </a:r>
          </a:p>
          <a:p>
            <a:pPr lvl="1"/>
            <a:r>
              <a:rPr lang="en-CA" dirty="0"/>
              <a:t>When used to compare whether two pieces of data are identical using their has values, rather than comparing the original data</a:t>
            </a:r>
          </a:p>
          <a:p>
            <a:r>
              <a:rPr lang="en-CA" dirty="0"/>
              <a:t>Password Storage</a:t>
            </a:r>
          </a:p>
          <a:p>
            <a:pPr lvl="1"/>
            <a:r>
              <a:rPr lang="en-CA" dirty="0"/>
              <a:t>When storing passwords, systems typically hash the password before storage, so </a:t>
            </a:r>
            <a:r>
              <a:rPr lang="en-CA"/>
              <a:t>attackers do not have </a:t>
            </a:r>
            <a:r>
              <a:rPr lang="en-CA" dirty="0"/>
              <a:t>access to the original password</a:t>
            </a:r>
          </a:p>
        </p:txBody>
      </p:sp>
    </p:spTree>
    <p:extLst>
      <p:ext uri="{BB962C8B-B14F-4D97-AF65-F5344CB8AC3E}">
        <p14:creationId xmlns:p14="http://schemas.microsoft.com/office/powerpoint/2010/main" val="48840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63631-5BB9-61A7-BB25-1D910DD33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AB70D-EF63-6685-B2A4-88F9A7E9C7BB}"/>
              </a:ext>
            </a:extLst>
          </p:cNvPr>
          <p:cNvSpPr>
            <a:spLocks noGrp="1"/>
          </p:cNvSpPr>
          <p:nvPr>
            <p:ph type="title"/>
          </p:nvPr>
        </p:nvSpPr>
        <p:spPr>
          <a:xfrm>
            <a:off x="2039815" y="182245"/>
            <a:ext cx="9710907" cy="830629"/>
          </a:xfrm>
        </p:spPr>
        <p:txBody>
          <a:bodyPr>
            <a:normAutofit/>
          </a:bodyPr>
          <a:lstStyle/>
          <a:p>
            <a:r>
              <a:rPr lang="en-CA" dirty="0">
                <a:solidFill>
                  <a:schemeClr val="bg1"/>
                </a:solidFill>
              </a:rPr>
              <a:t>Perfect Hashing</a:t>
            </a:r>
          </a:p>
        </p:txBody>
      </p:sp>
      <p:sp>
        <p:nvSpPr>
          <p:cNvPr id="3" name="Content Placeholder 2">
            <a:extLst>
              <a:ext uri="{FF2B5EF4-FFF2-40B4-BE49-F238E27FC236}">
                <a16:creationId xmlns:a16="http://schemas.microsoft.com/office/drawing/2014/main" id="{6373D2D2-EFDD-576D-7217-AF8E9DE8AFE8}"/>
              </a:ext>
            </a:extLst>
          </p:cNvPr>
          <p:cNvSpPr>
            <a:spLocks noGrp="1"/>
          </p:cNvSpPr>
          <p:nvPr>
            <p:ph idx="1"/>
          </p:nvPr>
        </p:nvSpPr>
        <p:spPr>
          <a:xfrm>
            <a:off x="1123123" y="1436056"/>
            <a:ext cx="10028582" cy="3029928"/>
          </a:xfrm>
        </p:spPr>
        <p:txBody>
          <a:bodyPr>
            <a:normAutofit/>
          </a:bodyPr>
          <a:lstStyle/>
          <a:p>
            <a:r>
              <a:rPr lang="en-CA" dirty="0"/>
              <a:t>A perfect hashing function occurs when:</a:t>
            </a:r>
          </a:p>
          <a:p>
            <a:pPr lvl="1"/>
            <a:r>
              <a:rPr lang="en-CA" dirty="0"/>
              <a:t>Each element maps to a unique position</a:t>
            </a:r>
          </a:p>
          <a:p>
            <a:pPr lvl="1"/>
            <a:r>
              <a:rPr lang="en-CA" dirty="0"/>
              <a:t>The data set is of known size</a:t>
            </a:r>
          </a:p>
          <a:p>
            <a:r>
              <a:rPr lang="en-GB" dirty="0"/>
              <a:t>This efficiency is no longer realized in the case of:</a:t>
            </a:r>
          </a:p>
          <a:p>
            <a:pPr lvl="1"/>
            <a:r>
              <a:rPr lang="en-GB" dirty="0"/>
              <a:t>Collision</a:t>
            </a:r>
          </a:p>
          <a:p>
            <a:pPr lvl="2"/>
            <a:r>
              <a:rPr lang="en-GB" sz="2400" dirty="0"/>
              <a:t>A collision occurs when we attempt to store both “Henry” and “Luke”, and both elements map to the same location in the hash table</a:t>
            </a:r>
          </a:p>
          <a:p>
            <a:pPr lvl="1"/>
            <a:endParaRPr lang="en-GB" dirty="0"/>
          </a:p>
        </p:txBody>
      </p:sp>
    </p:spTree>
    <p:extLst>
      <p:ext uri="{BB962C8B-B14F-4D97-AF65-F5344CB8AC3E}">
        <p14:creationId xmlns:p14="http://schemas.microsoft.com/office/powerpoint/2010/main" val="731909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6DDEB-9C4B-D9DE-2A62-4B02A973557F}"/>
              </a:ext>
            </a:extLst>
          </p:cNvPr>
          <p:cNvSpPr>
            <a:spLocks noGrp="1"/>
          </p:cNvSpPr>
          <p:nvPr>
            <p:ph type="title"/>
          </p:nvPr>
        </p:nvSpPr>
        <p:spPr/>
        <p:txBody>
          <a:bodyPr/>
          <a:lstStyle/>
          <a:p>
            <a:r>
              <a:rPr lang="en-GB" dirty="0">
                <a:solidFill>
                  <a:schemeClr val="bg1"/>
                </a:solidFill>
              </a:rPr>
              <a:t>Coding Example</a:t>
            </a:r>
            <a:endParaRPr lang="en-CA" dirty="0">
              <a:solidFill>
                <a:schemeClr val="bg1"/>
              </a:solidFill>
            </a:endParaRPr>
          </a:p>
        </p:txBody>
      </p:sp>
      <p:sp>
        <p:nvSpPr>
          <p:cNvPr id="3" name="Content Placeholder 2">
            <a:extLst>
              <a:ext uri="{FF2B5EF4-FFF2-40B4-BE49-F238E27FC236}">
                <a16:creationId xmlns:a16="http://schemas.microsoft.com/office/drawing/2014/main" id="{2341738A-BCE9-9611-10F2-EFBD0EB400BD}"/>
              </a:ext>
            </a:extLst>
          </p:cNvPr>
          <p:cNvSpPr>
            <a:spLocks noGrp="1"/>
          </p:cNvSpPr>
          <p:nvPr>
            <p:ph idx="1"/>
          </p:nvPr>
        </p:nvSpPr>
        <p:spPr/>
        <p:txBody>
          <a:bodyPr/>
          <a:lstStyle/>
          <a:p>
            <a:endParaRPr lang="en-CA" dirty="0"/>
          </a:p>
        </p:txBody>
      </p:sp>
    </p:spTree>
    <p:extLst>
      <p:ext uri="{BB962C8B-B14F-4D97-AF65-F5344CB8AC3E}">
        <p14:creationId xmlns:p14="http://schemas.microsoft.com/office/powerpoint/2010/main" val="82082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Hash Functions</a:t>
            </a:r>
          </a:p>
        </p:txBody>
      </p:sp>
      <p:sp>
        <p:nvSpPr>
          <p:cNvPr id="3" name="Content Placeholder 2"/>
          <p:cNvSpPr>
            <a:spLocks noGrp="1"/>
          </p:cNvSpPr>
          <p:nvPr>
            <p:ph idx="1"/>
          </p:nvPr>
        </p:nvSpPr>
        <p:spPr>
          <a:xfrm>
            <a:off x="507459" y="1508943"/>
            <a:ext cx="5879894" cy="4663258"/>
          </a:xfrm>
        </p:spPr>
        <p:txBody>
          <a:bodyPr/>
          <a:lstStyle/>
          <a:p>
            <a:r>
              <a:rPr lang="en-CA" dirty="0"/>
              <a:t>We view the evaluation of a hash function, h(k), as consisting of two actions:</a:t>
            </a:r>
          </a:p>
          <a:p>
            <a:pPr lvl="1"/>
            <a:r>
              <a:rPr lang="en-CA" dirty="0"/>
              <a:t>Mapping the key k to an integer, called the hash code, </a:t>
            </a:r>
          </a:p>
          <a:p>
            <a:pPr lvl="1"/>
            <a:r>
              <a:rPr lang="en-CA" dirty="0"/>
              <a:t>Mapping the hash code to an integer within the range of indices ([0,N −1]) of a bucket array, this is called the </a:t>
            </a:r>
            <a:r>
              <a:rPr lang="en-CA" dirty="0">
                <a:solidFill>
                  <a:srgbClr val="FF0000"/>
                </a:solidFill>
              </a:rPr>
              <a:t>compression function</a:t>
            </a:r>
            <a:r>
              <a:rPr lang="en-CA" dirty="0"/>
              <a:t>. </a:t>
            </a:r>
          </a:p>
        </p:txBody>
      </p:sp>
      <p:pic>
        <p:nvPicPr>
          <p:cNvPr id="5" name="Picture 4"/>
          <p:cNvPicPr>
            <a:picLocks noChangeAspect="1"/>
          </p:cNvPicPr>
          <p:nvPr/>
        </p:nvPicPr>
        <p:blipFill>
          <a:blip r:embed="rId2"/>
          <a:stretch>
            <a:fillRect/>
          </a:stretch>
        </p:blipFill>
        <p:spPr>
          <a:xfrm>
            <a:off x="6467880" y="1508943"/>
            <a:ext cx="5478270" cy="4254737"/>
          </a:xfrm>
          <a:prstGeom prst="rect">
            <a:avLst/>
          </a:prstGeom>
        </p:spPr>
      </p:pic>
    </p:spTree>
    <p:extLst>
      <p:ext uri="{BB962C8B-B14F-4D97-AF65-F5344CB8AC3E}">
        <p14:creationId xmlns:p14="http://schemas.microsoft.com/office/powerpoint/2010/main" val="3896866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Developing a Hashing Function</a:t>
            </a:r>
          </a:p>
        </p:txBody>
      </p:sp>
      <p:sp>
        <p:nvSpPr>
          <p:cNvPr id="3" name="Content Placeholder 2"/>
          <p:cNvSpPr>
            <a:spLocks noGrp="1"/>
          </p:cNvSpPr>
          <p:nvPr>
            <p:ph idx="1"/>
          </p:nvPr>
        </p:nvSpPr>
        <p:spPr>
          <a:xfrm>
            <a:off x="838200" y="1508943"/>
            <a:ext cx="10393017" cy="4554232"/>
          </a:xfrm>
        </p:spPr>
        <p:txBody>
          <a:bodyPr>
            <a:normAutofit/>
          </a:bodyPr>
          <a:lstStyle/>
          <a:p>
            <a:r>
              <a:rPr lang="en-CA" dirty="0"/>
              <a:t>We need a function </a:t>
            </a:r>
            <a:r>
              <a:rPr lang="en-CA" dirty="0">
                <a:solidFill>
                  <a:srgbClr val="FF0000"/>
                </a:solidFill>
              </a:rPr>
              <a:t>h</a:t>
            </a:r>
            <a:r>
              <a:rPr lang="en-CA" dirty="0"/>
              <a:t> that can transform a particular key </a:t>
            </a:r>
            <a:r>
              <a:rPr lang="en-CA" dirty="0">
                <a:solidFill>
                  <a:srgbClr val="FF0000"/>
                </a:solidFill>
              </a:rPr>
              <a:t>k</a:t>
            </a:r>
            <a:r>
              <a:rPr lang="en-CA" dirty="0"/>
              <a:t>, be it a string, number, record, or the like, into an index in a table used for storing items of the same type as </a:t>
            </a:r>
            <a:r>
              <a:rPr lang="en-CA" dirty="0">
                <a:solidFill>
                  <a:srgbClr val="FF0000"/>
                </a:solidFill>
              </a:rPr>
              <a:t>k</a:t>
            </a:r>
            <a:endParaRPr lang="en-CA" dirty="0"/>
          </a:p>
          <a:p>
            <a:r>
              <a:rPr lang="en-CA" dirty="0"/>
              <a:t>The function </a:t>
            </a:r>
            <a:r>
              <a:rPr lang="en-CA" dirty="0">
                <a:solidFill>
                  <a:srgbClr val="FF0000"/>
                </a:solidFill>
              </a:rPr>
              <a:t>h</a:t>
            </a:r>
            <a:r>
              <a:rPr lang="en-CA" dirty="0"/>
              <a:t> is called a hash function</a:t>
            </a:r>
          </a:p>
          <a:p>
            <a:r>
              <a:rPr lang="en-CA" dirty="0"/>
              <a:t>A perfect hash function results if:</a:t>
            </a:r>
          </a:p>
          <a:p>
            <a:pPr lvl="1"/>
            <a:r>
              <a:rPr lang="en-CA" dirty="0">
                <a:solidFill>
                  <a:srgbClr val="FF0000"/>
                </a:solidFill>
              </a:rPr>
              <a:t>h</a:t>
            </a:r>
            <a:r>
              <a:rPr lang="en-CA" dirty="0"/>
              <a:t> transforms different keys into different numbers</a:t>
            </a:r>
          </a:p>
          <a:p>
            <a:pPr lvl="1"/>
            <a:r>
              <a:rPr lang="en-CA" dirty="0"/>
              <a:t>The hash table has a size &gt;= the number of keys</a:t>
            </a:r>
          </a:p>
          <a:p>
            <a:pPr lvl="1"/>
            <a:r>
              <a:rPr lang="en-CA" dirty="0"/>
              <a:t>The generated index not &gt; size</a:t>
            </a:r>
          </a:p>
          <a:p>
            <a:r>
              <a:rPr lang="en-CA" dirty="0"/>
              <a:t>Consideration, the number of elements is not always known ahead of time </a:t>
            </a:r>
          </a:p>
          <a:p>
            <a:endParaRPr lang="en-CA" dirty="0"/>
          </a:p>
        </p:txBody>
      </p:sp>
    </p:spTree>
    <p:extLst>
      <p:ext uri="{BB962C8B-B14F-4D97-AF65-F5344CB8AC3E}">
        <p14:creationId xmlns:p14="http://schemas.microsoft.com/office/powerpoint/2010/main" val="512858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D5562-12B9-6E79-69BB-BEDFABEF9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420E7-B655-4701-9059-B53F5E723EE2}"/>
              </a:ext>
            </a:extLst>
          </p:cNvPr>
          <p:cNvSpPr>
            <a:spLocks noGrp="1"/>
          </p:cNvSpPr>
          <p:nvPr>
            <p:ph type="title"/>
          </p:nvPr>
        </p:nvSpPr>
        <p:spPr>
          <a:xfrm>
            <a:off x="2039815" y="182245"/>
            <a:ext cx="9710907" cy="830629"/>
          </a:xfrm>
        </p:spPr>
        <p:txBody>
          <a:bodyPr>
            <a:normAutofit/>
          </a:bodyPr>
          <a:lstStyle/>
          <a:p>
            <a:r>
              <a:rPr lang="en-CA" dirty="0">
                <a:solidFill>
                  <a:schemeClr val="bg1"/>
                </a:solidFill>
              </a:rPr>
              <a:t>Hashing Functions</a:t>
            </a:r>
          </a:p>
        </p:txBody>
      </p:sp>
      <p:sp>
        <p:nvSpPr>
          <p:cNvPr id="3" name="Content Placeholder 2">
            <a:extLst>
              <a:ext uri="{FF2B5EF4-FFF2-40B4-BE49-F238E27FC236}">
                <a16:creationId xmlns:a16="http://schemas.microsoft.com/office/drawing/2014/main" id="{850FF662-7F22-27A6-E50A-BD5B434E1AB9}"/>
              </a:ext>
            </a:extLst>
          </p:cNvPr>
          <p:cNvSpPr>
            <a:spLocks noGrp="1"/>
          </p:cNvSpPr>
          <p:nvPr>
            <p:ph idx="1"/>
          </p:nvPr>
        </p:nvSpPr>
        <p:spPr>
          <a:xfrm>
            <a:off x="866481" y="1386394"/>
            <a:ext cx="10800229" cy="5166813"/>
          </a:xfrm>
        </p:spPr>
        <p:txBody>
          <a:bodyPr>
            <a:normAutofit fontScale="92500"/>
          </a:bodyPr>
          <a:lstStyle/>
          <a:p>
            <a:r>
              <a:rPr lang="en-GB" dirty="0"/>
              <a:t>The goal is to develop a function that does a reasonable job of distributing elements in a hash table such that collisions are avoided</a:t>
            </a:r>
          </a:p>
          <a:p>
            <a:r>
              <a:rPr lang="en-CA" sz="2800" dirty="0"/>
              <a:t>A hash function:</a:t>
            </a:r>
          </a:p>
          <a:p>
            <a:pPr lvl="1"/>
            <a:r>
              <a:rPr lang="en-CA" dirty="0"/>
              <a:t>Is a calculation used to determine a unique index to a bucket in a hash table</a:t>
            </a:r>
          </a:p>
          <a:p>
            <a:pPr lvl="1"/>
            <a:r>
              <a:rPr lang="en-CA" dirty="0"/>
              <a:t>Must guarantee that the number it returns is a valid index to one of the table cells</a:t>
            </a:r>
            <a:endParaRPr lang="en-GB" dirty="0"/>
          </a:p>
          <a:p>
            <a:r>
              <a:rPr lang="en-GB" dirty="0"/>
              <a:t>Examples of Hashing Functions:</a:t>
            </a:r>
          </a:p>
          <a:p>
            <a:pPr lvl="1"/>
            <a:r>
              <a:rPr lang="en-GB" dirty="0"/>
              <a:t>Extraction method </a:t>
            </a:r>
          </a:p>
          <a:p>
            <a:pPr lvl="1"/>
            <a:r>
              <a:rPr lang="en-GB" dirty="0"/>
              <a:t>Division method</a:t>
            </a:r>
          </a:p>
          <a:p>
            <a:pPr lvl="1"/>
            <a:r>
              <a:rPr lang="en-GB" dirty="0"/>
              <a:t>Folding method</a:t>
            </a:r>
          </a:p>
          <a:p>
            <a:pPr lvl="1"/>
            <a:r>
              <a:rPr lang="en-GB" dirty="0"/>
              <a:t>Mid-square method</a:t>
            </a:r>
          </a:p>
          <a:p>
            <a:pPr lvl="1"/>
            <a:r>
              <a:rPr lang="en-GB" dirty="0"/>
              <a:t>Radix Transformation method</a:t>
            </a:r>
          </a:p>
          <a:p>
            <a:pPr lvl="1"/>
            <a:r>
              <a:rPr lang="en-GB" dirty="0"/>
              <a:t>Digit analysis method</a:t>
            </a:r>
          </a:p>
          <a:p>
            <a:pPr lvl="1"/>
            <a:r>
              <a:rPr lang="en-GB" dirty="0"/>
              <a:t>Length-dependent method</a:t>
            </a:r>
          </a:p>
          <a:p>
            <a:pPr marL="457200" lvl="1" indent="0">
              <a:buNone/>
            </a:pPr>
            <a:endParaRPr lang="en-GB" dirty="0"/>
          </a:p>
          <a:p>
            <a:pPr lvl="1"/>
            <a:endParaRPr lang="en-GB" dirty="0"/>
          </a:p>
          <a:p>
            <a:endParaRPr lang="en-GB" dirty="0"/>
          </a:p>
          <a:p>
            <a:pPr lvl="1"/>
            <a:endParaRPr lang="en-GB" dirty="0"/>
          </a:p>
        </p:txBody>
      </p:sp>
    </p:spTree>
    <p:extLst>
      <p:ext uri="{BB962C8B-B14F-4D97-AF65-F5344CB8AC3E}">
        <p14:creationId xmlns:p14="http://schemas.microsoft.com/office/powerpoint/2010/main" val="2835964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Extraction</a:t>
            </a:r>
          </a:p>
        </p:txBody>
      </p:sp>
      <p:sp>
        <p:nvSpPr>
          <p:cNvPr id="3" name="Content Placeholder 2"/>
          <p:cNvSpPr>
            <a:spLocks noGrp="1"/>
          </p:cNvSpPr>
          <p:nvPr>
            <p:ph idx="1"/>
          </p:nvPr>
        </p:nvSpPr>
        <p:spPr/>
        <p:txBody>
          <a:bodyPr>
            <a:normAutofit fontScale="92500" lnSpcReduction="10000"/>
          </a:bodyPr>
          <a:lstStyle/>
          <a:p>
            <a:r>
              <a:rPr lang="en-CA" dirty="0"/>
              <a:t>In this method, only a part of the key is used to compute the address. </a:t>
            </a:r>
          </a:p>
          <a:p>
            <a:r>
              <a:rPr lang="en-CA" dirty="0"/>
              <a:t>For the social security number 123-45-6789, this method might use the first four digits, 1,234; the last four, 6,789; the first two combined with the last two, 1,289; or some other combination. </a:t>
            </a:r>
          </a:p>
          <a:p>
            <a:r>
              <a:rPr lang="en-CA" dirty="0"/>
              <a:t>Each time, only a portion of the key is used. If this portion is carefully chosen, it can be sufficient for hashing, provided the omitted portion distinguishes the keys only in an insignificant way. </a:t>
            </a:r>
          </a:p>
          <a:p>
            <a:r>
              <a:rPr lang="en-CA" dirty="0"/>
              <a:t>For example, the starting digits of the ISBN code are the same for all books published by the same publisher (e.g., 1133 for the publishing company Cengage Learning). Therefore, they should be excluded from the computation of addresses if a data table contains only books from one publisher. </a:t>
            </a:r>
          </a:p>
        </p:txBody>
      </p:sp>
    </p:spTree>
    <p:extLst>
      <p:ext uri="{BB962C8B-B14F-4D97-AF65-F5344CB8AC3E}">
        <p14:creationId xmlns:p14="http://schemas.microsoft.com/office/powerpoint/2010/main" val="3941950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Division</a:t>
            </a:r>
          </a:p>
        </p:txBody>
      </p:sp>
      <p:sp>
        <p:nvSpPr>
          <p:cNvPr id="3" name="Content Placeholder 2"/>
          <p:cNvSpPr>
            <a:spLocks noGrp="1"/>
          </p:cNvSpPr>
          <p:nvPr>
            <p:ph idx="1"/>
          </p:nvPr>
        </p:nvSpPr>
        <p:spPr/>
        <p:txBody>
          <a:bodyPr>
            <a:normAutofit fontScale="92500" lnSpcReduction="20000"/>
          </a:bodyPr>
          <a:lstStyle/>
          <a:p>
            <a:r>
              <a:rPr lang="en-CA" dirty="0"/>
              <a:t>The division method uses the remainder of the key divided by the table size as the index for the given element</a:t>
            </a:r>
          </a:p>
          <a:p>
            <a:r>
              <a:rPr lang="en-CA" dirty="0"/>
              <a:t>The simplest way to accomplish this is to use division modulo </a:t>
            </a:r>
          </a:p>
          <a:p>
            <a:r>
              <a:rPr lang="en-CA" dirty="0" err="1"/>
              <a:t>TSize</a:t>
            </a:r>
            <a:r>
              <a:rPr lang="en-CA" dirty="0"/>
              <a:t> = </a:t>
            </a:r>
            <a:r>
              <a:rPr lang="en-CA" dirty="0" err="1"/>
              <a:t>sizeof</a:t>
            </a:r>
            <a:r>
              <a:rPr lang="en-CA" dirty="0"/>
              <a:t>(table), as in h(K) = K mod </a:t>
            </a:r>
            <a:r>
              <a:rPr lang="en-CA" dirty="0" err="1"/>
              <a:t>TSize</a:t>
            </a:r>
            <a:r>
              <a:rPr lang="en-CA" dirty="0"/>
              <a:t>, if K is a number. </a:t>
            </a:r>
          </a:p>
          <a:p>
            <a:r>
              <a:rPr lang="en-CA" dirty="0"/>
              <a:t>It is best if </a:t>
            </a:r>
            <a:r>
              <a:rPr lang="en-CA" dirty="0" err="1"/>
              <a:t>TSize</a:t>
            </a:r>
            <a:r>
              <a:rPr lang="en-CA" dirty="0"/>
              <a:t> is a prime number because prime numbers:</a:t>
            </a:r>
          </a:p>
          <a:p>
            <a:pPr lvl="1"/>
            <a:r>
              <a:rPr lang="en-CA" dirty="0"/>
              <a:t>help achieve a more uniform distribution of hash values</a:t>
            </a:r>
          </a:p>
          <a:p>
            <a:pPr lvl="1"/>
            <a:r>
              <a:rPr lang="en-CA" dirty="0"/>
              <a:t>Reduce the likely of different keys hashing to the same index (collisions)</a:t>
            </a:r>
          </a:p>
          <a:p>
            <a:r>
              <a:rPr lang="en-CA" dirty="0"/>
              <a:t>Example:</a:t>
            </a:r>
          </a:p>
          <a:p>
            <a:pPr lvl="1"/>
            <a:r>
              <a:rPr lang="en-CA" dirty="0"/>
              <a:t>Hash Code (49) = k (12345) mod </a:t>
            </a:r>
            <a:r>
              <a:rPr lang="en-CA" dirty="0" err="1"/>
              <a:t>TSize</a:t>
            </a:r>
            <a:r>
              <a:rPr lang="en-CA" dirty="0"/>
              <a:t> (53)</a:t>
            </a:r>
          </a:p>
          <a:p>
            <a:r>
              <a:rPr lang="en-CA" dirty="0"/>
              <a:t>However, nonprime divisors may work equally well as prime divisors provided they do not have prime factors less than 20 (Lum et al. 1971). </a:t>
            </a:r>
          </a:p>
          <a:p>
            <a:r>
              <a:rPr lang="en-CA" dirty="0"/>
              <a:t>The division method is usually the preferred choice for the hash function if very little is known about the keys.</a:t>
            </a:r>
          </a:p>
        </p:txBody>
      </p:sp>
    </p:spTree>
    <p:extLst>
      <p:ext uri="{BB962C8B-B14F-4D97-AF65-F5344CB8AC3E}">
        <p14:creationId xmlns:p14="http://schemas.microsoft.com/office/powerpoint/2010/main" val="566201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Folding</a:t>
            </a:r>
          </a:p>
        </p:txBody>
      </p:sp>
      <p:sp>
        <p:nvSpPr>
          <p:cNvPr id="3" name="Content Placeholder 2"/>
          <p:cNvSpPr>
            <a:spLocks noGrp="1"/>
          </p:cNvSpPr>
          <p:nvPr>
            <p:ph idx="1"/>
          </p:nvPr>
        </p:nvSpPr>
        <p:spPr>
          <a:xfrm>
            <a:off x="838200" y="1508942"/>
            <a:ext cx="10515600" cy="5039639"/>
          </a:xfrm>
        </p:spPr>
        <p:txBody>
          <a:bodyPr>
            <a:normAutofit fontScale="92500" lnSpcReduction="20000"/>
          </a:bodyPr>
          <a:lstStyle/>
          <a:p>
            <a:r>
              <a:rPr lang="en-CA" dirty="0"/>
              <a:t>In this method, the key is divided into several parts </a:t>
            </a:r>
          </a:p>
          <a:p>
            <a:r>
              <a:rPr lang="en-CA" dirty="0"/>
              <a:t>These parts are combined or folded together and are often transformed in a certain way to create the target address. </a:t>
            </a:r>
          </a:p>
          <a:p>
            <a:r>
              <a:rPr lang="en-CA" dirty="0"/>
              <a:t>The key is divided into several parts and these parts are then processed using a simple operation such as addition to combine them in a certain way.</a:t>
            </a:r>
          </a:p>
          <a:p>
            <a:r>
              <a:rPr lang="en-CA" dirty="0"/>
              <a:t>There are two types of folding: </a:t>
            </a:r>
          </a:p>
          <a:p>
            <a:pPr lvl="1"/>
            <a:r>
              <a:rPr lang="en-CA" dirty="0">
                <a:solidFill>
                  <a:srgbClr val="C00000"/>
                </a:solidFill>
              </a:rPr>
              <a:t>shift folding and boundary folding</a:t>
            </a:r>
          </a:p>
          <a:p>
            <a:r>
              <a:rPr lang="en-CA" dirty="0"/>
              <a:t>In </a:t>
            </a:r>
            <a:r>
              <a:rPr lang="en-CA" dirty="0">
                <a:solidFill>
                  <a:srgbClr val="C00000"/>
                </a:solidFill>
              </a:rPr>
              <a:t>shift folding</a:t>
            </a:r>
            <a:r>
              <a:rPr lang="en-CA" dirty="0"/>
              <a:t>, they are put underneath one another and then processed. For example, a social security number (SSN) 123-45-6789 can be divided into three parts, 123, 456, 789, and then these parts can be added. The resulting number, 1,368, can be compressed using modulus division</a:t>
            </a:r>
          </a:p>
          <a:p>
            <a:r>
              <a:rPr lang="en-CA" dirty="0"/>
              <a:t>With </a:t>
            </a:r>
            <a:r>
              <a:rPr lang="en-CA" dirty="0">
                <a:solidFill>
                  <a:srgbClr val="C00000"/>
                </a:solidFill>
              </a:rPr>
              <a:t>boundary folding</a:t>
            </a:r>
            <a:r>
              <a:rPr lang="en-CA" dirty="0"/>
              <a:t>, the key is seen as being written on a piece of paper that is folded on the borders between different parts of the key. In this way, every other part will be put in the reverse order. </a:t>
            </a:r>
          </a:p>
        </p:txBody>
      </p:sp>
    </p:spTree>
    <p:extLst>
      <p:ext uri="{BB962C8B-B14F-4D97-AF65-F5344CB8AC3E}">
        <p14:creationId xmlns:p14="http://schemas.microsoft.com/office/powerpoint/2010/main" val="1917341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Folding</a:t>
            </a:r>
          </a:p>
        </p:txBody>
      </p:sp>
      <p:sp>
        <p:nvSpPr>
          <p:cNvPr id="3" name="Content Placeholder 2"/>
          <p:cNvSpPr>
            <a:spLocks noGrp="1"/>
          </p:cNvSpPr>
          <p:nvPr>
            <p:ph idx="1"/>
          </p:nvPr>
        </p:nvSpPr>
        <p:spPr/>
        <p:txBody>
          <a:bodyPr>
            <a:normAutofit lnSpcReduction="10000"/>
          </a:bodyPr>
          <a:lstStyle/>
          <a:p>
            <a:r>
              <a:rPr lang="en-CA" dirty="0"/>
              <a:t>Boundary Folding</a:t>
            </a:r>
          </a:p>
          <a:p>
            <a:r>
              <a:rPr lang="en-CA" dirty="0"/>
              <a:t>Consider the same three parts of the SSN: 123, 456, and 789. The first part, 123, is taken in the same order, then the piece of paper with the second part is folded underneath it so that 123 is aligned with 654, which is the second part, 456, in reverse order. When the folding continues, 789 is aligned with the two previous parts. The result is 123 + 654 + 789 = 1,566. In both versions, the key is usually divided into even parts of some fixed size plus some remainder and then added. </a:t>
            </a:r>
          </a:p>
          <a:p>
            <a:r>
              <a:rPr lang="en-CA" dirty="0"/>
              <a:t>This process is simple and fast, especially when bit patterns are used instead of numerical values.</a:t>
            </a:r>
          </a:p>
          <a:p>
            <a:endParaRPr lang="en-CA" dirty="0"/>
          </a:p>
        </p:txBody>
      </p:sp>
    </p:spTree>
    <p:extLst>
      <p:ext uri="{BB962C8B-B14F-4D97-AF65-F5344CB8AC3E}">
        <p14:creationId xmlns:p14="http://schemas.microsoft.com/office/powerpoint/2010/main" val="1567110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Mid-Square function</a:t>
            </a:r>
          </a:p>
        </p:txBody>
      </p:sp>
      <p:sp>
        <p:nvSpPr>
          <p:cNvPr id="3" name="Content Placeholder 2"/>
          <p:cNvSpPr>
            <a:spLocks noGrp="1"/>
          </p:cNvSpPr>
          <p:nvPr>
            <p:ph idx="1"/>
          </p:nvPr>
        </p:nvSpPr>
        <p:spPr/>
        <p:txBody>
          <a:bodyPr>
            <a:normAutofit/>
          </a:bodyPr>
          <a:lstStyle/>
          <a:p>
            <a:r>
              <a:rPr lang="en-CA" dirty="0"/>
              <a:t>In this method, the key is squared, and the middle or mid-part of the result is used as the address. </a:t>
            </a:r>
          </a:p>
          <a:p>
            <a:r>
              <a:rPr lang="en-CA" dirty="0"/>
              <a:t>If the key is a string, it must be preprocessed to produce a number by using, for instance, folding. </a:t>
            </a:r>
          </a:p>
          <a:p>
            <a:r>
              <a:rPr lang="en-CA" dirty="0"/>
              <a:t>The entire key participates in generating the address so that there is a better chance that different addresses are generated for different keys. </a:t>
            </a:r>
          </a:p>
          <a:p>
            <a:r>
              <a:rPr lang="en-CA" dirty="0"/>
              <a:t>For example, if the key is 3,121, then 3,121</a:t>
            </a:r>
            <a:r>
              <a:rPr lang="en-CA" baseline="30000" dirty="0"/>
              <a:t>2</a:t>
            </a:r>
            <a:r>
              <a:rPr lang="en-CA" dirty="0"/>
              <a:t> = 9,740,641, and for the 1,000-cell table, h(3,121) = 406, which is the middle part of 3,121</a:t>
            </a:r>
            <a:r>
              <a:rPr lang="en-CA" baseline="30000" dirty="0"/>
              <a:t>2</a:t>
            </a:r>
            <a:r>
              <a:rPr lang="en-CA" dirty="0"/>
              <a:t>. </a:t>
            </a:r>
          </a:p>
        </p:txBody>
      </p:sp>
    </p:spTree>
    <p:extLst>
      <p:ext uri="{BB962C8B-B14F-4D97-AF65-F5344CB8AC3E}">
        <p14:creationId xmlns:p14="http://schemas.microsoft.com/office/powerpoint/2010/main" val="1665910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Radix Transformation</a:t>
            </a:r>
          </a:p>
        </p:txBody>
      </p:sp>
      <p:sp>
        <p:nvSpPr>
          <p:cNvPr id="3" name="Content Placeholder 2"/>
          <p:cNvSpPr>
            <a:spLocks noGrp="1"/>
          </p:cNvSpPr>
          <p:nvPr>
            <p:ph idx="1"/>
          </p:nvPr>
        </p:nvSpPr>
        <p:spPr>
          <a:xfrm>
            <a:off x="838200" y="1508942"/>
            <a:ext cx="10515600" cy="4750663"/>
          </a:xfrm>
        </p:spPr>
        <p:txBody>
          <a:bodyPr>
            <a:normAutofit fontScale="92500" lnSpcReduction="10000"/>
          </a:bodyPr>
          <a:lstStyle/>
          <a:p>
            <a:r>
              <a:rPr lang="en-CA" dirty="0"/>
              <a:t>Radix transformation is when the key </a:t>
            </a:r>
            <a:r>
              <a:rPr lang="en-CA" dirty="0">
                <a:solidFill>
                  <a:srgbClr val="FF0000"/>
                </a:solidFill>
              </a:rPr>
              <a:t>k</a:t>
            </a:r>
            <a:r>
              <a:rPr lang="en-CA" dirty="0"/>
              <a:t> is transformed into another number base, using a different radix </a:t>
            </a:r>
          </a:p>
          <a:p>
            <a:r>
              <a:rPr lang="en-CA" dirty="0"/>
              <a:t>For example, transform k from base 10 to base 9:</a:t>
            </a:r>
          </a:p>
          <a:p>
            <a:pPr lvl="1"/>
            <a:r>
              <a:rPr lang="en-CA" dirty="0"/>
              <a:t>Given that </a:t>
            </a:r>
            <a:r>
              <a:rPr lang="en-CA" dirty="0">
                <a:solidFill>
                  <a:srgbClr val="FF0000"/>
                </a:solidFill>
              </a:rPr>
              <a:t>k1</a:t>
            </a:r>
            <a:r>
              <a:rPr lang="en-CA" dirty="0"/>
              <a:t> = 345 base 10 (decimal)</a:t>
            </a:r>
          </a:p>
          <a:p>
            <a:pPr lvl="1"/>
            <a:r>
              <a:rPr lang="en-CA" dirty="0"/>
              <a:t>Transformed </a:t>
            </a:r>
            <a:r>
              <a:rPr lang="en-CA" dirty="0">
                <a:solidFill>
                  <a:srgbClr val="FF0000"/>
                </a:solidFill>
              </a:rPr>
              <a:t>k1</a:t>
            </a:r>
            <a:r>
              <a:rPr lang="en-CA" dirty="0"/>
              <a:t> = 423 base 9 (nonary)</a:t>
            </a:r>
          </a:p>
          <a:p>
            <a:r>
              <a:rPr lang="en-CA" dirty="0"/>
              <a:t>For example, transform h from base 10 to base 9:</a:t>
            </a:r>
          </a:p>
          <a:p>
            <a:pPr lvl="1"/>
            <a:r>
              <a:rPr lang="en-CA" dirty="0"/>
              <a:t>Given that </a:t>
            </a:r>
            <a:r>
              <a:rPr lang="en-CA" dirty="0">
                <a:solidFill>
                  <a:srgbClr val="FF0000"/>
                </a:solidFill>
              </a:rPr>
              <a:t>k2</a:t>
            </a:r>
            <a:r>
              <a:rPr lang="en-CA" dirty="0"/>
              <a:t> = 245 base 10 (decimal)</a:t>
            </a:r>
          </a:p>
          <a:p>
            <a:pPr lvl="1"/>
            <a:r>
              <a:rPr lang="en-CA" dirty="0"/>
              <a:t>Transformed </a:t>
            </a:r>
            <a:r>
              <a:rPr lang="en-CA" dirty="0">
                <a:solidFill>
                  <a:srgbClr val="FF0000"/>
                </a:solidFill>
              </a:rPr>
              <a:t>k2</a:t>
            </a:r>
            <a:r>
              <a:rPr lang="en-CA" dirty="0"/>
              <a:t> = 323 base 9 (nonary)</a:t>
            </a:r>
          </a:p>
          <a:p>
            <a:r>
              <a:rPr lang="en-CA" dirty="0"/>
              <a:t>Next apply the division method to find address, assuming table size = 100:</a:t>
            </a:r>
          </a:p>
          <a:p>
            <a:pPr lvl="1"/>
            <a:r>
              <a:rPr lang="en-CA" dirty="0">
                <a:solidFill>
                  <a:srgbClr val="FF0000"/>
                </a:solidFill>
              </a:rPr>
              <a:t>k1</a:t>
            </a:r>
            <a:r>
              <a:rPr lang="en-CA" dirty="0"/>
              <a:t> transformed 423 (nonary) % 10 = 23 address</a:t>
            </a:r>
          </a:p>
          <a:p>
            <a:pPr lvl="1"/>
            <a:r>
              <a:rPr lang="en-CA" dirty="0">
                <a:solidFill>
                  <a:srgbClr val="FF0000"/>
                </a:solidFill>
              </a:rPr>
              <a:t>k2</a:t>
            </a:r>
            <a:r>
              <a:rPr lang="en-CA" dirty="0"/>
              <a:t> transformed 323 (nonary) % 10 = 23 address</a:t>
            </a:r>
          </a:p>
          <a:p>
            <a:r>
              <a:rPr lang="en-CA" dirty="0"/>
              <a:t>Collisions cannot be avoided</a:t>
            </a:r>
          </a:p>
        </p:txBody>
      </p:sp>
    </p:spTree>
    <p:extLst>
      <p:ext uri="{BB962C8B-B14F-4D97-AF65-F5344CB8AC3E}">
        <p14:creationId xmlns:p14="http://schemas.microsoft.com/office/powerpoint/2010/main" val="2928095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Avoiding Collisions</a:t>
            </a:r>
          </a:p>
        </p:txBody>
      </p:sp>
      <p:sp>
        <p:nvSpPr>
          <p:cNvPr id="3" name="Content Placeholder 2"/>
          <p:cNvSpPr>
            <a:spLocks noGrp="1"/>
          </p:cNvSpPr>
          <p:nvPr>
            <p:ph idx="1"/>
          </p:nvPr>
        </p:nvSpPr>
        <p:spPr/>
        <p:txBody>
          <a:bodyPr>
            <a:normAutofit/>
          </a:bodyPr>
          <a:lstStyle/>
          <a:p>
            <a:r>
              <a:rPr lang="en-CA" dirty="0"/>
              <a:t>The worth of a hash function depends on how well it avoids collisions.</a:t>
            </a:r>
          </a:p>
          <a:p>
            <a:r>
              <a:rPr lang="en-CA" dirty="0"/>
              <a:t>Avoiding collisions can be achieved by making the function more sophisticated, but this sophistication should not go too far because the computational cost in determining h(K) can be prohibitive, and less sophisticated methods may be faster.</a:t>
            </a:r>
          </a:p>
          <a:p>
            <a:r>
              <a:rPr lang="en-CA" dirty="0"/>
              <a:t>For example, for 50 elements and a 100-cell array, there are 100</a:t>
            </a:r>
            <a:r>
              <a:rPr lang="en-CA" baseline="30000" dirty="0"/>
              <a:t>50</a:t>
            </a:r>
            <a:r>
              <a:rPr lang="en-CA" dirty="0"/>
              <a:t> = 10</a:t>
            </a:r>
            <a:r>
              <a:rPr lang="en-CA" baseline="30000" dirty="0"/>
              <a:t>100</a:t>
            </a:r>
            <a:r>
              <a:rPr lang="en-CA" dirty="0"/>
              <a:t> hash functions, out of which “only” 10</a:t>
            </a:r>
            <a:r>
              <a:rPr lang="en-CA" baseline="30000" dirty="0"/>
              <a:t>94</a:t>
            </a:r>
            <a:r>
              <a:rPr lang="en-CA" dirty="0"/>
              <a:t> (one in a million) are perfect. </a:t>
            </a:r>
          </a:p>
          <a:p>
            <a:r>
              <a:rPr lang="en-CA" dirty="0"/>
              <a:t>Most of these functions are too unwieldy for practical applications. </a:t>
            </a:r>
          </a:p>
          <a:p>
            <a:r>
              <a:rPr lang="en-CA" dirty="0"/>
              <a:t>The number of possibilities is vast</a:t>
            </a:r>
          </a:p>
        </p:txBody>
      </p:sp>
    </p:spTree>
    <p:extLst>
      <p:ext uri="{BB962C8B-B14F-4D97-AF65-F5344CB8AC3E}">
        <p14:creationId xmlns:p14="http://schemas.microsoft.com/office/powerpoint/2010/main" val="2554420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Collision Resolution</a:t>
            </a:r>
          </a:p>
        </p:txBody>
      </p:sp>
      <p:sp>
        <p:nvSpPr>
          <p:cNvPr id="3" name="Content Placeholder 2"/>
          <p:cNvSpPr>
            <a:spLocks noGrp="1"/>
          </p:cNvSpPr>
          <p:nvPr>
            <p:ph idx="1"/>
          </p:nvPr>
        </p:nvSpPr>
        <p:spPr>
          <a:xfrm>
            <a:off x="838200" y="1508942"/>
            <a:ext cx="10515600" cy="4679421"/>
          </a:xfrm>
        </p:spPr>
        <p:txBody>
          <a:bodyPr>
            <a:normAutofit fontScale="92500" lnSpcReduction="10000"/>
          </a:bodyPr>
          <a:lstStyle/>
          <a:p>
            <a:r>
              <a:rPr lang="en-CA" dirty="0"/>
              <a:t>Note that for  almost all hash functions, more than one key can be assigned to the same position. </a:t>
            </a:r>
          </a:p>
          <a:p>
            <a:r>
              <a:rPr lang="en-CA" dirty="0"/>
              <a:t>For example, if the hash function </a:t>
            </a:r>
            <a:r>
              <a:rPr lang="en-CA" dirty="0">
                <a:solidFill>
                  <a:srgbClr val="C00000"/>
                </a:solidFill>
              </a:rPr>
              <a:t>h1</a:t>
            </a:r>
            <a:r>
              <a:rPr lang="en-CA" dirty="0"/>
              <a:t> applied to names returns the ASCII value of the first letter of each name (i.e., h1(name) = name[0]), then all names starting with the same letter are hashed to the same position. </a:t>
            </a:r>
          </a:p>
          <a:p>
            <a:r>
              <a:rPr lang="en-CA" dirty="0"/>
              <a:t>This problem can be solved by finding a function that distributes names more uniformly in the table. For example, the function </a:t>
            </a:r>
            <a:r>
              <a:rPr lang="en-CA" dirty="0">
                <a:solidFill>
                  <a:srgbClr val="C00000"/>
                </a:solidFill>
              </a:rPr>
              <a:t>h2</a:t>
            </a:r>
            <a:r>
              <a:rPr lang="en-CA" dirty="0"/>
              <a:t> could add the first two letters (i.e., </a:t>
            </a:r>
            <a:r>
              <a:rPr lang="en-CA" dirty="0">
                <a:solidFill>
                  <a:srgbClr val="C00000"/>
                </a:solidFill>
              </a:rPr>
              <a:t>h2</a:t>
            </a:r>
            <a:r>
              <a:rPr lang="en-CA" dirty="0"/>
              <a:t>(name) = name[0] + name[1]), which is better than </a:t>
            </a:r>
            <a:r>
              <a:rPr lang="en-CA" dirty="0">
                <a:solidFill>
                  <a:srgbClr val="C00000"/>
                </a:solidFill>
              </a:rPr>
              <a:t>h1</a:t>
            </a:r>
            <a:r>
              <a:rPr lang="en-CA" dirty="0"/>
              <a:t>. </a:t>
            </a:r>
          </a:p>
          <a:p>
            <a:r>
              <a:rPr lang="en-CA" dirty="0"/>
              <a:t>But even if all the letters are considered(i.e., </a:t>
            </a:r>
            <a:r>
              <a:rPr lang="en-CA" dirty="0">
                <a:solidFill>
                  <a:srgbClr val="C00000"/>
                </a:solidFill>
              </a:rPr>
              <a:t>h3</a:t>
            </a:r>
            <a:r>
              <a:rPr lang="en-CA" dirty="0"/>
              <a:t>(name) = name[0] + · · · + name[</a:t>
            </a:r>
            <a:r>
              <a:rPr lang="en-CA" dirty="0" err="1"/>
              <a:t>strlen</a:t>
            </a:r>
            <a:r>
              <a:rPr lang="en-CA" dirty="0"/>
              <a:t>(name) – 1]), the possibility of hashing different names to the same location still exists.   </a:t>
            </a:r>
          </a:p>
        </p:txBody>
      </p:sp>
    </p:spTree>
    <p:extLst>
      <p:ext uri="{BB962C8B-B14F-4D97-AF65-F5344CB8AC3E}">
        <p14:creationId xmlns:p14="http://schemas.microsoft.com/office/powerpoint/2010/main" val="3929388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Collision Resolution</a:t>
            </a:r>
          </a:p>
        </p:txBody>
      </p:sp>
      <p:sp>
        <p:nvSpPr>
          <p:cNvPr id="3" name="Content Placeholder 2"/>
          <p:cNvSpPr>
            <a:spLocks noGrp="1"/>
          </p:cNvSpPr>
          <p:nvPr>
            <p:ph idx="1"/>
          </p:nvPr>
        </p:nvSpPr>
        <p:spPr/>
        <p:txBody>
          <a:bodyPr>
            <a:normAutofit fontScale="92500"/>
          </a:bodyPr>
          <a:lstStyle/>
          <a:p>
            <a:r>
              <a:rPr lang="en-CA" dirty="0"/>
              <a:t>The function h3 is the best of the three because it distributes the names most uniformly for the three defined functions, but it also assumes that the size of the table has been increased. </a:t>
            </a:r>
          </a:p>
          <a:p>
            <a:r>
              <a:rPr lang="en-CA" dirty="0"/>
              <a:t>If the table has only 26 positions, which is the number of different values returned by </a:t>
            </a:r>
            <a:r>
              <a:rPr lang="en-CA" dirty="0">
                <a:solidFill>
                  <a:srgbClr val="C00000"/>
                </a:solidFill>
              </a:rPr>
              <a:t>h1</a:t>
            </a:r>
            <a:r>
              <a:rPr lang="en-CA" dirty="0"/>
              <a:t>, there is no improvement using </a:t>
            </a:r>
            <a:r>
              <a:rPr lang="en-CA" dirty="0">
                <a:solidFill>
                  <a:srgbClr val="C00000"/>
                </a:solidFill>
              </a:rPr>
              <a:t>h3</a:t>
            </a:r>
            <a:r>
              <a:rPr lang="en-CA" dirty="0"/>
              <a:t> instead of </a:t>
            </a:r>
            <a:r>
              <a:rPr lang="en-CA" dirty="0">
                <a:solidFill>
                  <a:srgbClr val="C00000"/>
                </a:solidFill>
              </a:rPr>
              <a:t>h1</a:t>
            </a:r>
            <a:r>
              <a:rPr lang="en-CA" dirty="0"/>
              <a:t>. </a:t>
            </a:r>
          </a:p>
          <a:p>
            <a:r>
              <a:rPr lang="en-CA" dirty="0"/>
              <a:t>One more factor can contribute to avoiding conflicts between hashed keys, </a:t>
            </a:r>
            <a:r>
              <a:rPr lang="en-CA" dirty="0">
                <a:solidFill>
                  <a:srgbClr val="C00000"/>
                </a:solidFill>
              </a:rPr>
              <a:t>the size of the table/array</a:t>
            </a:r>
            <a:r>
              <a:rPr lang="en-CA" dirty="0"/>
              <a:t>. Increasing this size may lead to better hashing</a:t>
            </a:r>
          </a:p>
          <a:p>
            <a:r>
              <a:rPr lang="en-CA" dirty="0"/>
              <a:t>These two factors—hash function and table size—may minimize the number of collisions, but they cannot completely eliminate them. The problem of collision has to be dealt with in a way that always guarantees a solution. </a:t>
            </a:r>
          </a:p>
        </p:txBody>
      </p:sp>
    </p:spTree>
    <p:extLst>
      <p:ext uri="{BB962C8B-B14F-4D97-AF65-F5344CB8AC3E}">
        <p14:creationId xmlns:p14="http://schemas.microsoft.com/office/powerpoint/2010/main" val="894988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Open Addressing Collision Resolution</a:t>
            </a:r>
          </a:p>
        </p:txBody>
      </p:sp>
      <p:sp>
        <p:nvSpPr>
          <p:cNvPr id="3" name="Content Placeholder 2"/>
          <p:cNvSpPr>
            <a:spLocks noGrp="1"/>
          </p:cNvSpPr>
          <p:nvPr>
            <p:ph idx="1"/>
          </p:nvPr>
        </p:nvSpPr>
        <p:spPr/>
        <p:txBody>
          <a:bodyPr/>
          <a:lstStyle/>
          <a:p>
            <a:r>
              <a:rPr lang="en-CA" dirty="0"/>
              <a:t>When a key collides with another key, the collision is resolved by finding an available table entry other than the position (address) to which the colliding key is originally hashed. </a:t>
            </a:r>
          </a:p>
          <a:p>
            <a:r>
              <a:rPr lang="en-CA" dirty="0"/>
              <a:t>If position h(K) is occupied, then the positions in the probing sequence are tried until either an available cell is found or the same positions are tried repeatedly or the table is full.  </a:t>
            </a:r>
          </a:p>
          <a:p>
            <a:r>
              <a:rPr lang="en-CA" dirty="0"/>
              <a:t>The simplest method is linear probing</a:t>
            </a:r>
          </a:p>
          <a:p>
            <a:r>
              <a:rPr lang="en-CA" dirty="0"/>
              <a:t>In linear probing, the position in which a key can be stored is found by sequentially searching all positions starting from the position calculated by the hash function until an empty cell is found. </a:t>
            </a:r>
          </a:p>
        </p:txBody>
      </p:sp>
    </p:spTree>
    <p:extLst>
      <p:ext uri="{BB962C8B-B14F-4D97-AF65-F5344CB8AC3E}">
        <p14:creationId xmlns:p14="http://schemas.microsoft.com/office/powerpoint/2010/main" val="2341302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Chaining</a:t>
            </a:r>
          </a:p>
        </p:txBody>
      </p:sp>
      <p:sp>
        <p:nvSpPr>
          <p:cNvPr id="3" name="Content Placeholder 2"/>
          <p:cNvSpPr>
            <a:spLocks noGrp="1"/>
          </p:cNvSpPr>
          <p:nvPr>
            <p:ph idx="1"/>
          </p:nvPr>
        </p:nvSpPr>
        <p:spPr>
          <a:xfrm>
            <a:off x="191655" y="1660316"/>
            <a:ext cx="6846454" cy="4554232"/>
          </a:xfrm>
        </p:spPr>
        <p:txBody>
          <a:bodyPr>
            <a:normAutofit fontScale="92500" lnSpcReduction="10000"/>
          </a:bodyPr>
          <a:lstStyle/>
          <a:p>
            <a:r>
              <a:rPr lang="en-CA" dirty="0"/>
              <a:t> Chaining Keys do not have to be stored in the table itself. </a:t>
            </a:r>
          </a:p>
          <a:p>
            <a:r>
              <a:rPr lang="en-CA" dirty="0"/>
              <a:t>In chaining, each position of the table is associated with a linked list or chain of structures whose info fields store keys or references to keys. </a:t>
            </a:r>
          </a:p>
          <a:p>
            <a:r>
              <a:rPr lang="en-CA" dirty="0"/>
              <a:t>This method is called </a:t>
            </a:r>
            <a:r>
              <a:rPr lang="en-CA" dirty="0">
                <a:solidFill>
                  <a:srgbClr val="C00000"/>
                </a:solidFill>
              </a:rPr>
              <a:t>separate chaining</a:t>
            </a:r>
            <a:r>
              <a:rPr lang="en-CA" dirty="0"/>
              <a:t>, and a table of references (pointers) is called a </a:t>
            </a:r>
            <a:r>
              <a:rPr lang="en-CA" dirty="0">
                <a:solidFill>
                  <a:srgbClr val="C00000"/>
                </a:solidFill>
              </a:rPr>
              <a:t>scatter table</a:t>
            </a:r>
            <a:r>
              <a:rPr lang="en-CA" dirty="0"/>
              <a:t>. </a:t>
            </a:r>
          </a:p>
          <a:p>
            <a:r>
              <a:rPr lang="en-CA" dirty="0"/>
              <a:t>In this method, the table can never overflow, because the linked lists are extended only upon the arrival of new keys. </a:t>
            </a:r>
          </a:p>
          <a:p>
            <a:endParaRPr lang="en-CA" dirty="0"/>
          </a:p>
        </p:txBody>
      </p:sp>
      <p:pic>
        <p:nvPicPr>
          <p:cNvPr id="4" name="Picture 3"/>
          <p:cNvPicPr>
            <a:picLocks noChangeAspect="1"/>
          </p:cNvPicPr>
          <p:nvPr/>
        </p:nvPicPr>
        <p:blipFill>
          <a:blip r:embed="rId2"/>
          <a:stretch>
            <a:fillRect/>
          </a:stretch>
        </p:blipFill>
        <p:spPr>
          <a:xfrm>
            <a:off x="7038109" y="1660316"/>
            <a:ext cx="4848225" cy="3867150"/>
          </a:xfrm>
          <a:prstGeom prst="rect">
            <a:avLst/>
          </a:prstGeom>
        </p:spPr>
      </p:pic>
    </p:spTree>
    <p:extLst>
      <p:ext uri="{BB962C8B-B14F-4D97-AF65-F5344CB8AC3E}">
        <p14:creationId xmlns:p14="http://schemas.microsoft.com/office/powerpoint/2010/main" val="1022101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Bucket Addressing</a:t>
            </a:r>
          </a:p>
        </p:txBody>
      </p:sp>
      <p:sp>
        <p:nvSpPr>
          <p:cNvPr id="3" name="Content Placeholder 2"/>
          <p:cNvSpPr>
            <a:spLocks noGrp="1"/>
          </p:cNvSpPr>
          <p:nvPr>
            <p:ph idx="1"/>
          </p:nvPr>
        </p:nvSpPr>
        <p:spPr/>
        <p:txBody>
          <a:bodyPr>
            <a:normAutofit fontScale="92500" lnSpcReduction="10000"/>
          </a:bodyPr>
          <a:lstStyle/>
          <a:p>
            <a:r>
              <a:rPr lang="en-CA" dirty="0"/>
              <a:t>Another solution is to store colliding elements in the same position in the table. This can be achieved by associating a bucket with each address. </a:t>
            </a:r>
          </a:p>
          <a:p>
            <a:r>
              <a:rPr lang="en-CA" dirty="0"/>
              <a:t>A bucket is a block of space large enough to store multiple items. By using buckets, the problem of collisions is not totally avoided. </a:t>
            </a:r>
          </a:p>
          <a:p>
            <a:r>
              <a:rPr lang="en-CA" dirty="0"/>
              <a:t>If a bucket is already full, then an item hashed to it has to be stored somewhere else. </a:t>
            </a:r>
          </a:p>
          <a:p>
            <a:r>
              <a:rPr lang="en-CA" dirty="0"/>
              <a:t>By incorporating the open addressing approach, the colliding item can be stored in the next bucket if it has an available slot when using linear probing</a:t>
            </a:r>
          </a:p>
          <a:p>
            <a:r>
              <a:rPr lang="en-CA" dirty="0"/>
              <a:t>The colliding items can also be stored in an overflow area. Each bucket includes a field that indicates whether the search should be continued in the overflow area or not. It can be simply a yes/no flag. </a:t>
            </a:r>
          </a:p>
        </p:txBody>
      </p:sp>
    </p:spTree>
    <p:extLst>
      <p:ext uri="{BB962C8B-B14F-4D97-AF65-F5344CB8AC3E}">
        <p14:creationId xmlns:p14="http://schemas.microsoft.com/office/powerpoint/2010/main" val="1075774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Maps</a:t>
            </a:r>
          </a:p>
        </p:txBody>
      </p:sp>
      <p:sp>
        <p:nvSpPr>
          <p:cNvPr id="3" name="Content Placeholder 2"/>
          <p:cNvSpPr>
            <a:spLocks noGrp="1"/>
          </p:cNvSpPr>
          <p:nvPr>
            <p:ph idx="1"/>
          </p:nvPr>
        </p:nvSpPr>
        <p:spPr/>
        <p:txBody>
          <a:bodyPr>
            <a:normAutofit lnSpcReduction="10000"/>
          </a:bodyPr>
          <a:lstStyle/>
          <a:p>
            <a:r>
              <a:rPr lang="en-CA" dirty="0"/>
              <a:t>A map allows us to store elements so they can be located quickly using keys</a:t>
            </a:r>
          </a:p>
          <a:p>
            <a:r>
              <a:rPr lang="en-CA" dirty="0"/>
              <a:t>The map stores typically stores additional useful information besides its search key, but the only way to get at that information is to use the search key. </a:t>
            </a:r>
          </a:p>
          <a:p>
            <a:r>
              <a:rPr lang="en-CA" dirty="0"/>
              <a:t>A map stores key-value pairs (</a:t>
            </a:r>
            <a:r>
              <a:rPr lang="en-CA" dirty="0" err="1"/>
              <a:t>k,v</a:t>
            </a:r>
            <a:r>
              <a:rPr lang="en-CA" dirty="0"/>
              <a:t>), called entries, where k is the key and v is its corresponding value. </a:t>
            </a:r>
          </a:p>
          <a:p>
            <a:r>
              <a:rPr lang="en-CA" dirty="0"/>
              <a:t>In addition, the map requires that each key be unique, so the association of keys to values defines a mapping. </a:t>
            </a:r>
          </a:p>
          <a:p>
            <a:r>
              <a:rPr lang="en-CA" dirty="0"/>
              <a:t>To achieve the highest level of generality, both the keys and the values stored in a map can be any object type.</a:t>
            </a:r>
          </a:p>
        </p:txBody>
      </p:sp>
    </p:spTree>
    <p:extLst>
      <p:ext uri="{BB962C8B-B14F-4D97-AF65-F5344CB8AC3E}">
        <p14:creationId xmlns:p14="http://schemas.microsoft.com/office/powerpoint/2010/main" val="598121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Maps</a:t>
            </a:r>
          </a:p>
        </p:txBody>
      </p:sp>
      <p:sp>
        <p:nvSpPr>
          <p:cNvPr id="3" name="Content Placeholder 2"/>
          <p:cNvSpPr>
            <a:spLocks noGrp="1"/>
          </p:cNvSpPr>
          <p:nvPr>
            <p:ph idx="1"/>
          </p:nvPr>
        </p:nvSpPr>
        <p:spPr/>
        <p:txBody>
          <a:bodyPr>
            <a:normAutofit lnSpcReduction="10000"/>
          </a:bodyPr>
          <a:lstStyle/>
          <a:p>
            <a:r>
              <a:rPr lang="en-CA" dirty="0"/>
              <a:t>In a map example where we are storing student records (such as the student’s name, address, and course grades), the key might be the student’s ID number. </a:t>
            </a:r>
          </a:p>
          <a:p>
            <a:r>
              <a:rPr lang="en-CA" dirty="0"/>
              <a:t>In some applications, the key and the value may be the same. For example, if we had a map storing prime numbers, we could use each number itself as both a key and its value. </a:t>
            </a:r>
          </a:p>
          <a:p>
            <a:r>
              <a:rPr lang="en-CA" dirty="0"/>
              <a:t>We use a key as a unique identifier that is assigned by an application or user to an associated value object. </a:t>
            </a:r>
          </a:p>
          <a:p>
            <a:r>
              <a:rPr lang="en-CA" dirty="0"/>
              <a:t>A map is used in situations where each key is to be viewed as a kind of unique index address for its value, an object that serves as a kind of location for that value</a:t>
            </a:r>
          </a:p>
        </p:txBody>
      </p:sp>
    </p:spTree>
    <p:extLst>
      <p:ext uri="{BB962C8B-B14F-4D97-AF65-F5344CB8AC3E}">
        <p14:creationId xmlns:p14="http://schemas.microsoft.com/office/powerpoint/2010/main" val="2455339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Hashing – Finding a key in a map</a:t>
            </a:r>
          </a:p>
        </p:txBody>
      </p:sp>
      <p:sp>
        <p:nvSpPr>
          <p:cNvPr id="3" name="Content Placeholder 2"/>
          <p:cNvSpPr>
            <a:spLocks noGrp="1"/>
          </p:cNvSpPr>
          <p:nvPr>
            <p:ph idx="1"/>
          </p:nvPr>
        </p:nvSpPr>
        <p:spPr/>
        <p:txBody>
          <a:bodyPr>
            <a:normAutofit/>
          </a:bodyPr>
          <a:lstStyle/>
          <a:p>
            <a:r>
              <a:rPr lang="en-CA" dirty="0"/>
              <a:t>Finding a key in a map is easy if the keys are values that can be sorted </a:t>
            </a:r>
          </a:p>
          <a:p>
            <a:r>
              <a:rPr lang="en-CA" dirty="0"/>
              <a:t>A search for a specific key uses a comparison of keys.</a:t>
            </a:r>
          </a:p>
          <a:p>
            <a:r>
              <a:rPr lang="en-CA" dirty="0"/>
              <a:t>But not all types of keys can be easily sorted making the location of a key and it value element more difficult and less efficient</a:t>
            </a:r>
          </a:p>
          <a:p>
            <a:r>
              <a:rPr lang="en-CA" dirty="0"/>
              <a:t> A different approach to searching calculates the position of the key in the map based on the value of the key. </a:t>
            </a:r>
          </a:p>
          <a:p>
            <a:r>
              <a:rPr lang="en-CA" dirty="0"/>
              <a:t>The value of the key is the only indication of the position.</a:t>
            </a:r>
          </a:p>
          <a:p>
            <a:r>
              <a:rPr lang="en-CA" dirty="0"/>
              <a:t>When the key is known, the position in the map can be accessed directly</a:t>
            </a:r>
          </a:p>
        </p:txBody>
      </p:sp>
    </p:spTree>
    <p:extLst>
      <p:ext uri="{BB962C8B-B14F-4D97-AF65-F5344CB8AC3E}">
        <p14:creationId xmlns:p14="http://schemas.microsoft.com/office/powerpoint/2010/main" val="1293903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Dictionaries</a:t>
            </a:r>
          </a:p>
        </p:txBody>
      </p:sp>
      <p:sp>
        <p:nvSpPr>
          <p:cNvPr id="3" name="Content Placeholder 2"/>
          <p:cNvSpPr>
            <a:spLocks noGrp="1"/>
          </p:cNvSpPr>
          <p:nvPr>
            <p:ph idx="1"/>
          </p:nvPr>
        </p:nvSpPr>
        <p:spPr>
          <a:xfrm>
            <a:off x="437745" y="1508942"/>
            <a:ext cx="11312977" cy="5242053"/>
          </a:xfrm>
        </p:spPr>
        <p:txBody>
          <a:bodyPr>
            <a:normAutofit fontScale="85000" lnSpcReduction="20000"/>
          </a:bodyPr>
          <a:lstStyle/>
          <a:p>
            <a:r>
              <a:rPr lang="en-CA" dirty="0"/>
              <a:t>Like a map, a dictionary stores key-value pairs (</a:t>
            </a:r>
            <a:r>
              <a:rPr lang="en-CA" dirty="0" err="1"/>
              <a:t>k,v</a:t>
            </a:r>
            <a:r>
              <a:rPr lang="en-CA" dirty="0"/>
              <a:t>), which we call entries, where </a:t>
            </a:r>
            <a:r>
              <a:rPr lang="en-CA" dirty="0">
                <a:solidFill>
                  <a:srgbClr val="C00000"/>
                </a:solidFill>
              </a:rPr>
              <a:t>k</a:t>
            </a:r>
            <a:r>
              <a:rPr lang="en-CA" dirty="0"/>
              <a:t> is the key and </a:t>
            </a:r>
            <a:r>
              <a:rPr lang="en-CA" dirty="0">
                <a:solidFill>
                  <a:srgbClr val="C00000"/>
                </a:solidFill>
              </a:rPr>
              <a:t>v</a:t>
            </a:r>
            <a:r>
              <a:rPr lang="en-CA" dirty="0"/>
              <a:t> is the value. </a:t>
            </a:r>
          </a:p>
          <a:p>
            <a:r>
              <a:rPr lang="en-CA" dirty="0"/>
              <a:t>A dictionary allows for keys and values to be of any object type. But, whereas a map insists that entries have unique keys, a dictionary allows for multiple entries to have the same key, much like an English dictionary, which allows for multiple deﬁnitions for the same word. </a:t>
            </a:r>
          </a:p>
          <a:p>
            <a:r>
              <a:rPr lang="en-CA" dirty="0"/>
              <a:t>The ability to store multiple entries with the same key has several applications. </a:t>
            </a:r>
            <a:br>
              <a:rPr lang="en-CA" dirty="0"/>
            </a:br>
            <a:r>
              <a:rPr lang="en-CA" dirty="0"/>
              <a:t>For example, we might want to store records for computer science authors indexed by their ﬁrst and last names. </a:t>
            </a:r>
            <a:br>
              <a:rPr lang="en-CA" dirty="0"/>
            </a:br>
            <a:r>
              <a:rPr lang="en-CA" dirty="0"/>
              <a:t>Since there are a few cases of different authors with the same ﬁrst and last name, there will naturally be some instances where we have to deal with different entries having equal keys. </a:t>
            </a:r>
          </a:p>
          <a:p>
            <a:r>
              <a:rPr lang="en-CA" dirty="0"/>
              <a:t>A multi-user computer game involving players visiting various rooms in a large structure might need a mapping from rooms to players. It is natural in this application to allow users to be in the same room simultaneously, however, to engage in battles. This game would be another application where it would be useful to allow for multiple entries with equal keys.</a:t>
            </a:r>
          </a:p>
          <a:p>
            <a:endParaRPr lang="en-CA" dirty="0"/>
          </a:p>
        </p:txBody>
      </p:sp>
    </p:spTree>
    <p:extLst>
      <p:ext uri="{BB962C8B-B14F-4D97-AF65-F5344CB8AC3E}">
        <p14:creationId xmlns:p14="http://schemas.microsoft.com/office/powerpoint/2010/main" val="3124376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Sets</a:t>
            </a:r>
          </a:p>
        </p:txBody>
      </p:sp>
      <p:sp>
        <p:nvSpPr>
          <p:cNvPr id="3" name="Content Placeholder 2"/>
          <p:cNvSpPr>
            <a:spLocks noGrp="1"/>
          </p:cNvSpPr>
          <p:nvPr>
            <p:ph idx="1"/>
          </p:nvPr>
        </p:nvSpPr>
        <p:spPr/>
        <p:txBody>
          <a:bodyPr/>
          <a:lstStyle/>
          <a:p>
            <a:r>
              <a:rPr lang="en-CA" dirty="0"/>
              <a:t>A set is a collection of distinct objects. </a:t>
            </a:r>
          </a:p>
          <a:p>
            <a:r>
              <a:rPr lang="en-CA" dirty="0"/>
              <a:t>There are no duplicate elements in a set, and there is no explicit notion of keys or even an order. </a:t>
            </a:r>
          </a:p>
          <a:p>
            <a:r>
              <a:rPr lang="en-CA" dirty="0"/>
              <a:t>Sets are automatically sorted.</a:t>
            </a:r>
          </a:p>
          <a:p>
            <a:r>
              <a:rPr lang="en-CA" dirty="0"/>
              <a:t>If a set has duplicate elements, it is called a multi-set</a:t>
            </a:r>
          </a:p>
          <a:p>
            <a:r>
              <a:rPr lang="en-CA" dirty="0"/>
              <a:t>Set are usually implemented as trees</a:t>
            </a:r>
          </a:p>
          <a:p>
            <a:endParaRPr lang="en-CA" dirty="0"/>
          </a:p>
          <a:p>
            <a:endParaRPr lang="en-CA" dirty="0"/>
          </a:p>
        </p:txBody>
      </p:sp>
      <p:pic>
        <p:nvPicPr>
          <p:cNvPr id="4" name="Picture 3"/>
          <p:cNvPicPr>
            <a:picLocks noChangeAspect="1"/>
          </p:cNvPicPr>
          <p:nvPr/>
        </p:nvPicPr>
        <p:blipFill>
          <a:blip r:embed="rId2"/>
          <a:stretch>
            <a:fillRect/>
          </a:stretch>
        </p:blipFill>
        <p:spPr>
          <a:xfrm>
            <a:off x="7264028" y="4055115"/>
            <a:ext cx="4388331" cy="2290120"/>
          </a:xfrm>
          <a:prstGeom prst="rect">
            <a:avLst/>
          </a:prstGeom>
        </p:spPr>
      </p:pic>
    </p:spTree>
    <p:extLst>
      <p:ext uri="{BB962C8B-B14F-4D97-AF65-F5344CB8AC3E}">
        <p14:creationId xmlns:p14="http://schemas.microsoft.com/office/powerpoint/2010/main" val="326069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Set Operations</a:t>
            </a:r>
          </a:p>
        </p:txBody>
      </p:sp>
      <p:sp>
        <p:nvSpPr>
          <p:cNvPr id="3" name="Content Placeholder 2"/>
          <p:cNvSpPr>
            <a:spLocks noGrp="1"/>
          </p:cNvSpPr>
          <p:nvPr>
            <p:ph idx="1"/>
          </p:nvPr>
        </p:nvSpPr>
        <p:spPr>
          <a:xfrm>
            <a:off x="497731" y="1363029"/>
            <a:ext cx="11019817" cy="4554232"/>
          </a:xfrm>
        </p:spPr>
        <p:txBody>
          <a:bodyPr/>
          <a:lstStyle/>
          <a:p>
            <a:pPr marL="0" indent="0">
              <a:buNone/>
            </a:pPr>
            <a:r>
              <a:rPr lang="en-CA" dirty="0">
                <a:solidFill>
                  <a:srgbClr val="C00000"/>
                </a:solidFill>
              </a:rPr>
              <a:t>insert(e): </a:t>
            </a:r>
            <a:r>
              <a:rPr lang="en-CA" dirty="0"/>
              <a:t>Insert the element e into S and return an iterator referring to its location; if the element already exists the operation is ignored. </a:t>
            </a:r>
          </a:p>
          <a:p>
            <a:pPr marL="0" indent="0">
              <a:buNone/>
            </a:pPr>
            <a:r>
              <a:rPr lang="en-CA" dirty="0">
                <a:solidFill>
                  <a:srgbClr val="C00000"/>
                </a:solidFill>
              </a:rPr>
              <a:t>ﬁnd(e): </a:t>
            </a:r>
            <a:r>
              <a:rPr lang="en-CA" dirty="0"/>
              <a:t>If S contains e, return an iterator p referring to this entry, else return end. </a:t>
            </a:r>
          </a:p>
          <a:p>
            <a:pPr marL="0" indent="0">
              <a:buNone/>
            </a:pPr>
            <a:r>
              <a:rPr lang="en-CA" dirty="0">
                <a:solidFill>
                  <a:srgbClr val="C00000"/>
                </a:solidFill>
              </a:rPr>
              <a:t>erase(e): </a:t>
            </a:r>
            <a:r>
              <a:rPr lang="en-CA" dirty="0"/>
              <a:t>Remove the element e from S. </a:t>
            </a:r>
          </a:p>
          <a:p>
            <a:pPr marL="0" indent="0">
              <a:buNone/>
            </a:pPr>
            <a:r>
              <a:rPr lang="en-CA" dirty="0">
                <a:solidFill>
                  <a:srgbClr val="C00000"/>
                </a:solidFill>
              </a:rPr>
              <a:t>begin(): </a:t>
            </a:r>
            <a:r>
              <a:rPr lang="en-CA" dirty="0"/>
              <a:t>Return an iterator to the beginning of S. </a:t>
            </a:r>
          </a:p>
          <a:p>
            <a:pPr marL="0" indent="0">
              <a:buNone/>
            </a:pPr>
            <a:r>
              <a:rPr lang="en-CA" dirty="0">
                <a:solidFill>
                  <a:srgbClr val="C00000"/>
                </a:solidFill>
              </a:rPr>
              <a:t>end(): </a:t>
            </a:r>
            <a:r>
              <a:rPr lang="en-CA" dirty="0"/>
              <a:t>Return an iterator to an imaginary position just beyond the end of S.  </a:t>
            </a:r>
          </a:p>
        </p:txBody>
      </p:sp>
      <p:pic>
        <p:nvPicPr>
          <p:cNvPr id="4" name="Picture 3"/>
          <p:cNvPicPr>
            <a:picLocks noChangeAspect="1"/>
          </p:cNvPicPr>
          <p:nvPr/>
        </p:nvPicPr>
        <p:blipFill>
          <a:blip r:embed="rId2"/>
          <a:stretch>
            <a:fillRect/>
          </a:stretch>
        </p:blipFill>
        <p:spPr>
          <a:xfrm>
            <a:off x="3140818" y="4689305"/>
            <a:ext cx="5390339" cy="1951303"/>
          </a:xfrm>
          <a:prstGeom prst="rect">
            <a:avLst/>
          </a:prstGeom>
        </p:spPr>
      </p:pic>
    </p:spTree>
    <p:extLst>
      <p:ext uri="{BB962C8B-B14F-4D97-AF65-F5344CB8AC3E}">
        <p14:creationId xmlns:p14="http://schemas.microsoft.com/office/powerpoint/2010/main" val="2124534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3247</TotalTime>
  <Words>3500</Words>
  <Application>Microsoft Office PowerPoint</Application>
  <PresentationFormat>Widescreen</PresentationFormat>
  <Paragraphs>271</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Courier New</vt:lpstr>
      <vt:lpstr>Office Theme</vt:lpstr>
      <vt:lpstr>Data Structures and Algorithms INFO-3135</vt:lpstr>
      <vt:lpstr>Ordering Elements in a Collection</vt:lpstr>
      <vt:lpstr>Introduction to Hashing</vt:lpstr>
      <vt:lpstr>Ordering Elements using Hashing</vt:lpstr>
      <vt:lpstr>Hashing Function Example</vt:lpstr>
      <vt:lpstr>A Weak Hashing Example</vt:lpstr>
      <vt:lpstr>Hashing</vt:lpstr>
      <vt:lpstr>Hash Function Properties</vt:lpstr>
      <vt:lpstr>Uses for Hashing</vt:lpstr>
      <vt:lpstr>Perfect Hashing</vt:lpstr>
      <vt:lpstr>Coding Example</vt:lpstr>
      <vt:lpstr>Hash Functions</vt:lpstr>
      <vt:lpstr>Developing a Hashing Function</vt:lpstr>
      <vt:lpstr>Hashing Functions</vt:lpstr>
      <vt:lpstr>Extraction</vt:lpstr>
      <vt:lpstr>Division</vt:lpstr>
      <vt:lpstr>Folding</vt:lpstr>
      <vt:lpstr>Folding</vt:lpstr>
      <vt:lpstr>Mid-Square function</vt:lpstr>
      <vt:lpstr>Radix Transformation</vt:lpstr>
      <vt:lpstr>Avoiding Collisions</vt:lpstr>
      <vt:lpstr>Collision Resolution</vt:lpstr>
      <vt:lpstr>Collision Resolution</vt:lpstr>
      <vt:lpstr>Open Addressing Collision Resolution</vt:lpstr>
      <vt:lpstr>Chaining</vt:lpstr>
      <vt:lpstr>Bucket Addressing</vt:lpstr>
      <vt:lpstr>Maps</vt:lpstr>
      <vt:lpstr>Maps</vt:lpstr>
      <vt:lpstr>Hashing – Finding a key in a map</vt:lpstr>
      <vt:lpstr>Dictionaries</vt:lpstr>
      <vt:lpstr>Sets</vt:lpstr>
      <vt:lpstr>Set Operations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Sharrie Wing</dc:creator>
  <cp:lastModifiedBy>Manning, Janice</cp:lastModifiedBy>
  <cp:revision>194</cp:revision>
  <dcterms:created xsi:type="dcterms:W3CDTF">2018-09-03T16:13:27Z</dcterms:created>
  <dcterms:modified xsi:type="dcterms:W3CDTF">2024-10-27T17:29:37Z</dcterms:modified>
</cp:coreProperties>
</file>