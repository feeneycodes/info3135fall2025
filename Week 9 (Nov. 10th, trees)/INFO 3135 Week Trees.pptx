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7" r:id="rId3"/>
    <p:sldId id="257" r:id="rId4"/>
    <p:sldId id="281" r:id="rId5"/>
    <p:sldId id="258" r:id="rId6"/>
    <p:sldId id="259" r:id="rId7"/>
    <p:sldId id="262" r:id="rId8"/>
    <p:sldId id="261" r:id="rId9"/>
    <p:sldId id="266" r:id="rId10"/>
    <p:sldId id="284" r:id="rId11"/>
    <p:sldId id="265" r:id="rId12"/>
    <p:sldId id="263" r:id="rId13"/>
    <p:sldId id="269" r:id="rId14"/>
    <p:sldId id="270" r:id="rId15"/>
    <p:sldId id="273" r:id="rId16"/>
    <p:sldId id="274" r:id="rId17"/>
    <p:sldId id="278" r:id="rId18"/>
    <p:sldId id="285" r:id="rId19"/>
    <p:sldId id="279" r:id="rId20"/>
    <p:sldId id="280" r:id="rId21"/>
    <p:sldId id="275" r:id="rId22"/>
    <p:sldId id="276" r:id="rId23"/>
    <p:sldId id="271" r:id="rId24"/>
    <p:sldId id="26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 autoAdjust="0"/>
    <p:restoredTop sz="94661" autoAdjust="0"/>
  </p:normalViewPr>
  <p:slideViewPr>
    <p:cSldViewPr snapToGrid="0">
      <p:cViewPr varScale="1">
        <p:scale>
          <a:sx n="122" d="100"/>
          <a:sy n="122" d="100"/>
        </p:scale>
        <p:origin x="-68" y="-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CFF31-E79E-476D-B67A-E2292D39B872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72F3D-D025-4405-8799-B2DC8EFD5FFC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83854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8941C-53EA-41E8-B52C-41ECA289B09E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71759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07705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296301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25508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034710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89477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67836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28041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43946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49359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4179238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69705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313985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8943"/>
            <a:ext cx="10515600" cy="455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A8252-26A2-422C-8021-53F2FA7F3083}" type="datetimeFigureOut">
              <a:rPr lang="en-CA" smtClean="0"/>
              <a:pPr/>
              <a:t>2025-11-10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8DDE3-37DC-4FC1-86DE-98D0EA336BF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177197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zhjwpku.com/assets/pdf/AED2-10-avl-paper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media.geeksforgeeks.org/wp-content/uploads/20250425171943144717/New-Project-8.web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en.wikipedia.org/wiki/Heap_(data_structure)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en.wikipedia.org/wiki/Heap_(data_structure)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sz="4400" dirty="0"/>
              <a:t>INFO 3135 </a:t>
            </a:r>
          </a:p>
          <a:p>
            <a:r>
              <a:rPr lang="en-CA" dirty="0"/>
              <a:t>Trees</a:t>
            </a:r>
          </a:p>
          <a:p>
            <a:r>
              <a:rPr lang="en-CA" dirty="0"/>
              <a:t>Binary</a:t>
            </a:r>
          </a:p>
          <a:p>
            <a:r>
              <a:rPr lang="en-CA" dirty="0"/>
              <a:t>Heaps</a:t>
            </a:r>
          </a:p>
          <a:p>
            <a:r>
              <a:rPr lang="en-CA" dirty="0"/>
              <a:t>Self Balancing </a:t>
            </a:r>
          </a:p>
        </p:txBody>
      </p:sp>
    </p:spTree>
    <p:extLst>
      <p:ext uri="{BB962C8B-B14F-4D97-AF65-F5344CB8AC3E}">
        <p14:creationId xmlns:p14="http://schemas.microsoft.com/office/powerpoint/2010/main" xmlns="" val="15809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08942"/>
            <a:ext cx="10706100" cy="5044257"/>
          </a:xfrm>
        </p:spPr>
        <p:txBody>
          <a:bodyPr>
            <a:normAutofit fontScale="85000" lnSpcReduction="20000"/>
          </a:bodyPr>
          <a:lstStyle/>
          <a:p>
            <a:r>
              <a:rPr lang="en-CA" dirty="0"/>
              <a:t>Linked lists provide greater flexibility than arrays, but they are linear structures and so it is difficult to use them to organize a hierarchical representation of objects. </a:t>
            </a:r>
          </a:p>
          <a:p>
            <a:r>
              <a:rPr lang="en-CA" dirty="0"/>
              <a:t>Although stacks and queues reflect some hierarchy, they are limited to one dimension. </a:t>
            </a:r>
          </a:p>
          <a:p>
            <a:r>
              <a:rPr lang="en-CA" dirty="0"/>
              <a:t>To overcome this limitation, we create a new data type called a tree that consists of nodes and arcs/edges. </a:t>
            </a:r>
          </a:p>
          <a:p>
            <a:r>
              <a:rPr lang="en-CA" dirty="0"/>
              <a:t>Unlike natural trees, these trees are situated upside down with the root at the top and the leaves (terminal nodes) at the bottom. </a:t>
            </a:r>
          </a:p>
          <a:p>
            <a:r>
              <a:rPr lang="en-CA" dirty="0"/>
              <a:t>The root is a node that has no parent; it can have only child nodes. </a:t>
            </a:r>
          </a:p>
          <a:p>
            <a:r>
              <a:rPr lang="en-CA" dirty="0"/>
              <a:t>Leaves have no children, their children are empty structures. </a:t>
            </a:r>
          </a:p>
          <a:p>
            <a:r>
              <a:rPr lang="en-CA" dirty="0"/>
              <a:t>A tree can be defined recursively as follows: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An empty structure is an empty tree.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If t1, . . . , </a:t>
            </a:r>
            <a:r>
              <a:rPr lang="en-CA" dirty="0" err="1">
                <a:solidFill>
                  <a:schemeClr val="accent1">
                    <a:lumMod val="75000"/>
                  </a:schemeClr>
                </a:solidFill>
              </a:rPr>
              <a:t>tk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 are disjointed trees, then the structure whose root has as its children the roots of t1, . . . , </a:t>
            </a:r>
            <a:r>
              <a:rPr lang="en-CA" dirty="0" err="1">
                <a:solidFill>
                  <a:schemeClr val="accent1">
                    <a:lumMod val="75000"/>
                  </a:schemeClr>
                </a:solidFill>
              </a:rPr>
              <a:t>tk</a:t>
            </a: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 is also a tree.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accent1">
                    <a:lumMod val="75000"/>
                  </a:schemeClr>
                </a:solidFill>
              </a:rPr>
              <a:t>Only structures generated by rules 1 and 2 are trees.</a:t>
            </a:r>
          </a:p>
        </p:txBody>
      </p:sp>
    </p:spTree>
    <p:extLst>
      <p:ext uri="{BB962C8B-B14F-4D97-AF65-F5344CB8AC3E}">
        <p14:creationId xmlns:p14="http://schemas.microsoft.com/office/powerpoint/2010/main" xmlns="" val="2102850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Trees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41195" y="1577340"/>
            <a:ext cx="82486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9926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817373-0FD4-4FA3-8A7A-9ED2AC00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Not Trees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FA8E36E-018A-4C8A-A2C0-2F8982417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E208C-5479-4FD8-A10D-AB805457D00A}" type="slidenum">
              <a:rPr lang="en-CA" smtClean="0"/>
              <a:pPr/>
              <a:t>4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B64F671-1254-4CDD-963B-97FD3887B57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64918" y="1875762"/>
            <a:ext cx="1197280" cy="768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49BAA51-5E23-4C55-995F-E6A26E2ACEC6}"/>
              </a:ext>
            </a:extLst>
          </p:cNvPr>
          <p:cNvSpPr txBox="1"/>
          <p:nvPr/>
        </p:nvSpPr>
        <p:spPr>
          <a:xfrm>
            <a:off x="1716934" y="2675336"/>
            <a:ext cx="1093248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Cycle A→A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993236AA-1E2C-4A96-9492-6C8F733F435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30926" y="1875762"/>
            <a:ext cx="2705409" cy="29279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06BAB43-C929-4650-BF05-59E8511280C3}"/>
              </a:ext>
            </a:extLst>
          </p:cNvPr>
          <p:cNvSpPr txBox="1"/>
          <p:nvPr/>
        </p:nvSpPr>
        <p:spPr>
          <a:xfrm>
            <a:off x="4687893" y="5128108"/>
            <a:ext cx="2190984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Cycle A →B →C →D →A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7599E383-0B5F-4FB2-9D2B-72FECDBAB1C7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38200" y="3464652"/>
            <a:ext cx="2419551" cy="16753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8D04806-923C-422A-9877-538136C9045B}"/>
              </a:ext>
            </a:extLst>
          </p:cNvPr>
          <p:cNvSpPr txBox="1"/>
          <p:nvPr/>
        </p:nvSpPr>
        <p:spPr>
          <a:xfrm>
            <a:off x="1257094" y="5282317"/>
            <a:ext cx="1438214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 has 2 parents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EF2AC156-4FD7-466B-A233-2E854FBAC8C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500793" y="2067565"/>
            <a:ext cx="2959214" cy="16965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6A43ADC-ECE3-4E56-9688-7950EE7C1A21}"/>
              </a:ext>
            </a:extLst>
          </p:cNvPr>
          <p:cNvSpPr txBox="1"/>
          <p:nvPr/>
        </p:nvSpPr>
        <p:spPr>
          <a:xfrm>
            <a:off x="8570996" y="4128761"/>
            <a:ext cx="3053721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Disjoint: A,B not connected to C,D,E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932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Examples of tree structures.</a:t>
            </a:r>
          </a:p>
          <a:p>
            <a:pPr lvl="1"/>
            <a:r>
              <a:rPr lang="en-CA" dirty="0"/>
              <a:t>File system on a computer</a:t>
            </a:r>
          </a:p>
          <a:p>
            <a:pPr lvl="1"/>
            <a:r>
              <a:rPr lang="en-CA" dirty="0"/>
              <a:t>Company management structure – org chart</a:t>
            </a:r>
          </a:p>
          <a:p>
            <a:pPr lvl="1"/>
            <a:r>
              <a:rPr lang="en-CA" dirty="0"/>
              <a:t>Syntax tree used in compilers</a:t>
            </a:r>
          </a:p>
          <a:p>
            <a:pPr lvl="1"/>
            <a:r>
              <a:rPr lang="en-CA" dirty="0"/>
              <a:t>Router algorithms</a:t>
            </a:r>
          </a:p>
          <a:p>
            <a:pPr lvl="1"/>
            <a:r>
              <a:rPr lang="en-CA" dirty="0"/>
              <a:t>Company department structure</a:t>
            </a:r>
          </a:p>
          <a:p>
            <a:endParaRPr lang="en-CA" dirty="0"/>
          </a:p>
          <a:p>
            <a:r>
              <a:rPr lang="en-CA" dirty="0"/>
              <a:t>Each node has to be reachable from the root through a unique sequence of edges, called a path.</a:t>
            </a:r>
          </a:p>
        </p:txBody>
      </p:sp>
    </p:spTree>
    <p:extLst>
      <p:ext uri="{BB962C8B-B14F-4D97-AF65-F5344CB8AC3E}">
        <p14:creationId xmlns:p14="http://schemas.microsoft.com/office/powerpoint/2010/main" xmlns="" val="2551999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Tree semantics/terms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260" y="1508942"/>
            <a:ext cx="10797540" cy="5051877"/>
          </a:xfrm>
        </p:spPr>
        <p:txBody>
          <a:bodyPr>
            <a:normAutofit/>
          </a:bodyPr>
          <a:lstStyle/>
          <a:p>
            <a:r>
              <a:rPr lang="en-CA" dirty="0"/>
              <a:t>The number of edges in a path is called the </a:t>
            </a:r>
            <a:r>
              <a:rPr lang="en-CA" dirty="0">
                <a:solidFill>
                  <a:srgbClr val="C00000"/>
                </a:solidFill>
              </a:rPr>
              <a:t>length</a:t>
            </a:r>
            <a:r>
              <a:rPr lang="en-CA" dirty="0"/>
              <a:t> of the path. </a:t>
            </a:r>
          </a:p>
          <a:p>
            <a:r>
              <a:rPr lang="en-CA" dirty="0"/>
              <a:t>The </a:t>
            </a:r>
            <a:r>
              <a:rPr lang="en-CA" dirty="0">
                <a:solidFill>
                  <a:srgbClr val="C00000"/>
                </a:solidFill>
              </a:rPr>
              <a:t>level</a:t>
            </a:r>
            <a:r>
              <a:rPr lang="en-CA" dirty="0"/>
              <a:t> of a node is the length of the path from the root to the node plus 1, which is the number of nodes in the path. </a:t>
            </a:r>
          </a:p>
          <a:p>
            <a:r>
              <a:rPr lang="en-CA" dirty="0"/>
              <a:t>The </a:t>
            </a:r>
            <a:r>
              <a:rPr lang="en-CA" dirty="0">
                <a:solidFill>
                  <a:srgbClr val="C00000"/>
                </a:solidFill>
              </a:rPr>
              <a:t>height</a:t>
            </a:r>
            <a:r>
              <a:rPr lang="en-CA" dirty="0"/>
              <a:t> of a non-empty tree is the maximum level of a node in the tree. </a:t>
            </a:r>
          </a:p>
          <a:p>
            <a:r>
              <a:rPr lang="en-CA" dirty="0"/>
              <a:t>The empty tree is a legitimate tree of height 0 (by definition), and a single node is a tree of height 1. This is the only case where a node is both the root and a leaf. </a:t>
            </a:r>
          </a:p>
          <a:p>
            <a:r>
              <a:rPr lang="en-CA" dirty="0"/>
              <a:t>The level of a node must be between 1 (the level of the root) and the height of the tree, which in the extreme case is the level of the only leaf in a degenerate tree resembling a linked list.</a:t>
            </a:r>
          </a:p>
        </p:txBody>
      </p:sp>
    </p:spTree>
    <p:extLst>
      <p:ext uri="{BB962C8B-B14F-4D97-AF65-F5344CB8AC3E}">
        <p14:creationId xmlns:p14="http://schemas.microsoft.com/office/powerpoint/2010/main" xmlns="" val="401553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22365" y="4367945"/>
            <a:ext cx="5186456" cy="1955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Tree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91" y="1345691"/>
            <a:ext cx="11292840" cy="3596457"/>
          </a:xfrm>
        </p:spPr>
        <p:txBody>
          <a:bodyPr>
            <a:normAutofit lnSpcReduction="10000"/>
          </a:bodyPr>
          <a:lstStyle/>
          <a:p>
            <a:r>
              <a:rPr lang="en-CA" dirty="0"/>
              <a:t>Unordered : </a:t>
            </a:r>
          </a:p>
          <a:p>
            <a:pPr lvl="1"/>
            <a:r>
              <a:rPr lang="en-CA" dirty="0"/>
              <a:t>A rooted tree (or unordered tree) is a node (called the root) connected to a multiset of rooted trees. </a:t>
            </a:r>
          </a:p>
          <a:p>
            <a:pPr lvl="1"/>
            <a:r>
              <a:rPr lang="en-CA" dirty="0"/>
              <a:t>when nodes are not in a particular order (e.g. a “scene graph”, “way points”, etc.)</a:t>
            </a:r>
          </a:p>
          <a:p>
            <a:pPr lvl="1"/>
            <a:r>
              <a:rPr lang="en-CA" dirty="0"/>
              <a:t>hash tables, disjoint sets and graphs – where access is direct</a:t>
            </a:r>
          </a:p>
          <a:p>
            <a:r>
              <a:rPr lang="en-CA" dirty="0"/>
              <a:t>Ordered : </a:t>
            </a:r>
          </a:p>
          <a:p>
            <a:pPr lvl="1"/>
            <a:r>
              <a:rPr lang="en-CA" dirty="0"/>
              <a:t>An ordered tree is an oriented tree in which the children of a node are somehow "ordered.“ or “sorted”</a:t>
            </a:r>
          </a:p>
          <a:p>
            <a:pPr lvl="1"/>
            <a:r>
              <a:rPr lang="en-CA" dirty="0"/>
              <a:t>An ordered tree contains nodes (elements) which can be ordered according to a specific criteria.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388912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Tree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171" y="1275541"/>
            <a:ext cx="10789920" cy="5582459"/>
          </a:xfrm>
        </p:spPr>
        <p:txBody>
          <a:bodyPr>
            <a:normAutofit lnSpcReduction="10000"/>
          </a:bodyPr>
          <a:lstStyle/>
          <a:p>
            <a:r>
              <a:rPr lang="en-CA" dirty="0"/>
              <a:t>Binary Tree : </a:t>
            </a:r>
          </a:p>
          <a:p>
            <a:pPr lvl="1"/>
            <a:r>
              <a:rPr lang="en-CA" dirty="0"/>
              <a:t>An ordered tree in which every node has at most two children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Every node has at most two children.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Each child node is labeled as being either a left child or a right child.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A left child precedes a right child in the ordering of children of a node.</a:t>
            </a:r>
          </a:p>
          <a:p>
            <a:r>
              <a:rPr lang="en-CA" dirty="0"/>
              <a:t>Binary search tree - BST :</a:t>
            </a:r>
          </a:p>
          <a:p>
            <a:pPr lvl="1"/>
            <a:r>
              <a:rPr lang="en-CA" dirty="0"/>
              <a:t>the data of all the nodes in the left sub-tree of the root node should be &lt;= the data of the root. </a:t>
            </a:r>
          </a:p>
          <a:p>
            <a:pPr lvl="1"/>
            <a:r>
              <a:rPr lang="en-CA" dirty="0"/>
              <a:t>the data of all the nodes in the right subtree of the root node should be &gt; the data of the root.</a:t>
            </a:r>
          </a:p>
          <a:p>
            <a:r>
              <a:rPr lang="en-CA" dirty="0"/>
              <a:t>AVL tree - height balanced binary tree :</a:t>
            </a:r>
          </a:p>
          <a:p>
            <a:pPr lvl="1"/>
            <a:r>
              <a:rPr lang="en-CA" dirty="0"/>
              <a:t>a self-balancing Binary Search Tree (BST) where the difference between heights of left and right subtrees cannot be more than one for all nodes</a:t>
            </a:r>
          </a:p>
          <a:p>
            <a:pPr lvl="1"/>
            <a:r>
              <a:rPr lang="en-CA" dirty="0"/>
              <a:t>Can be expensive to balance (compared to a red-black tree)</a:t>
            </a:r>
          </a:p>
          <a:p>
            <a:pPr lvl="1"/>
            <a:r>
              <a:rPr lang="en-CA" dirty="0"/>
              <a:t>Named after these guys: </a:t>
            </a:r>
            <a:r>
              <a:rPr lang="en-US" dirty="0">
                <a:hlinkClick r:id="rId2"/>
              </a:rPr>
              <a:t>Georgy Adelson-</a:t>
            </a:r>
            <a:r>
              <a:rPr lang="en-US" dirty="0" err="1">
                <a:hlinkClick r:id="rId2"/>
              </a:rPr>
              <a:t>Velsky</a:t>
            </a:r>
            <a:r>
              <a:rPr lang="en-US" dirty="0">
                <a:hlinkClick r:id="rId2"/>
              </a:rPr>
              <a:t> and Evgenii Landis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3305589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Tree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8942"/>
            <a:ext cx="10515600" cy="5003175"/>
          </a:xfrm>
        </p:spPr>
        <p:txBody>
          <a:bodyPr>
            <a:normAutofit fontScale="92500"/>
          </a:bodyPr>
          <a:lstStyle/>
          <a:p>
            <a:r>
              <a:rPr lang="en-CA" dirty="0"/>
              <a:t>Red-Black tree (what std::map usually is): </a:t>
            </a:r>
          </a:p>
          <a:p>
            <a:pPr lvl="1"/>
            <a:r>
              <a:rPr lang="en-CA" dirty="0"/>
              <a:t>a binary search tree with one extra attribute for each node: the “colour”, which is either red or black. Intended for search speed, with frequent inserts/deletes.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Every node is either “red” or “black”.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Root note is “black”. Every leaf is “black”.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If a node is “red”, then both its children are “black”.</a:t>
            </a:r>
          </a:p>
          <a:p>
            <a:pPr lvl="2"/>
            <a:r>
              <a:rPr lang="en-CA" dirty="0"/>
              <a:t>After an insertion/deletion, if this </a:t>
            </a:r>
            <a:r>
              <a:rPr lang="en-CA" i="1" dirty="0"/>
              <a:t>isn’t </a:t>
            </a:r>
            <a:r>
              <a:rPr lang="en-CA" dirty="0"/>
              <a:t>the case, a “rotation” occurs (see next slide)</a:t>
            </a:r>
          </a:p>
          <a:p>
            <a:pPr lvl="1"/>
            <a:r>
              <a:rPr lang="en-CA" dirty="0"/>
              <a:t>Result: the path from a node to a descendant leaf has same number of black nodes.</a:t>
            </a:r>
          </a:p>
          <a:p>
            <a:r>
              <a:rPr lang="en-CA" dirty="0"/>
              <a:t>N-</a:t>
            </a:r>
            <a:r>
              <a:rPr lang="en-CA" dirty="0" err="1"/>
              <a:t>ary</a:t>
            </a:r>
            <a:r>
              <a:rPr lang="en-CA" dirty="0"/>
              <a:t> tree : </a:t>
            </a:r>
          </a:p>
          <a:p>
            <a:pPr lvl="1"/>
            <a:r>
              <a:rPr lang="en-CA" dirty="0"/>
              <a:t>a rooted tree in which each node has no more than N children</a:t>
            </a:r>
          </a:p>
          <a:p>
            <a:r>
              <a:rPr lang="en-CA" dirty="0"/>
              <a:t>Heap : </a:t>
            </a:r>
          </a:p>
          <a:p>
            <a:pPr lvl="1"/>
            <a:r>
              <a:rPr lang="en-CA" dirty="0"/>
              <a:t>balanced binary tree data structure where the root-node key is compared with its children and arranged accordingly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1452519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Rotation, re-balancing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339" y="1332649"/>
            <a:ext cx="11205205" cy="2085048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The definition of a tree does not impose any condition on the number of children of a given node. Each node can have 0 to ∞ (but 1 parent).</a:t>
            </a:r>
          </a:p>
          <a:p>
            <a:r>
              <a:rPr lang="en-CA" dirty="0"/>
              <a:t>“Rebalancing” is where the nodes are re-arranged to try to “balance” a tree (AVL or red-black)</a:t>
            </a:r>
          </a:p>
          <a:p>
            <a:r>
              <a:rPr lang="en-CA" dirty="0"/>
              <a:t> “Rotating” is where the root of a tree/branch is changed (like below), which changes the “depth” and/or “balance” of the tree: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473EA00-5655-419F-8677-E399EB10504A}"/>
              </a:ext>
            </a:extLst>
          </p:cNvPr>
          <p:cNvSpPr/>
          <p:nvPr/>
        </p:nvSpPr>
        <p:spPr>
          <a:xfrm>
            <a:off x="2569316" y="3953684"/>
            <a:ext cx="652007" cy="55659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C71F7F7D-F885-48F8-A097-967E8AD9F9DE}"/>
              </a:ext>
            </a:extLst>
          </p:cNvPr>
          <p:cNvSpPr/>
          <p:nvPr/>
        </p:nvSpPr>
        <p:spPr>
          <a:xfrm>
            <a:off x="3221323" y="4615639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3C85495D-1278-4C81-97A6-4E8FDFFBF1B2}"/>
              </a:ext>
            </a:extLst>
          </p:cNvPr>
          <p:cNvSpPr/>
          <p:nvPr/>
        </p:nvSpPr>
        <p:spPr>
          <a:xfrm>
            <a:off x="1853698" y="4615639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DC30A7B2-1269-4F6D-87CF-C320DA8A861D}"/>
              </a:ext>
            </a:extLst>
          </p:cNvPr>
          <p:cNvSpPr/>
          <p:nvPr/>
        </p:nvSpPr>
        <p:spPr>
          <a:xfrm>
            <a:off x="1201691" y="5294192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A7CBA911-E6CC-4634-B494-6E7906683FCA}"/>
              </a:ext>
            </a:extLst>
          </p:cNvPr>
          <p:cNvCxnSpPr>
            <a:stCxn id="4" idx="3"/>
            <a:endCxn id="6" idx="7"/>
          </p:cNvCxnSpPr>
          <p:nvPr/>
        </p:nvCxnSpPr>
        <p:spPr>
          <a:xfrm flipH="1">
            <a:off x="2410221" y="4428764"/>
            <a:ext cx="254579" cy="268386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BCEA0B69-48D6-462C-A840-9F4C11F26B36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3125839" y="4428764"/>
            <a:ext cx="190968" cy="268386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181CCDE4-308E-457C-9A3F-BEA09134AC0C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1758214" y="5090719"/>
            <a:ext cx="190968" cy="28498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xmlns="" id="{FE2C84DF-418B-421E-9A0E-D41E784044C2}"/>
              </a:ext>
            </a:extLst>
          </p:cNvPr>
          <p:cNvSpPr/>
          <p:nvPr/>
        </p:nvSpPr>
        <p:spPr>
          <a:xfrm>
            <a:off x="4865994" y="4460917"/>
            <a:ext cx="1439186" cy="7434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Becomes…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27642018-BE8E-4F6E-B6C4-6EEF7D99D1DF}"/>
              </a:ext>
            </a:extLst>
          </p:cNvPr>
          <p:cNvSpPr/>
          <p:nvPr/>
        </p:nvSpPr>
        <p:spPr>
          <a:xfrm>
            <a:off x="549684" y="5972745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DA26290B-C6AC-451A-AC00-4D7EF615B4F9}"/>
              </a:ext>
            </a:extLst>
          </p:cNvPr>
          <p:cNvSpPr/>
          <p:nvPr/>
        </p:nvSpPr>
        <p:spPr>
          <a:xfrm>
            <a:off x="1853697" y="5977135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B7F0F867-7B3B-447C-805F-7B3FEBB40BA9}"/>
              </a:ext>
            </a:extLst>
          </p:cNvPr>
          <p:cNvCxnSpPr>
            <a:cxnSpLocks/>
            <a:stCxn id="7" idx="5"/>
            <a:endCxn id="27" idx="1"/>
          </p:cNvCxnSpPr>
          <p:nvPr/>
        </p:nvCxnSpPr>
        <p:spPr>
          <a:xfrm>
            <a:off x="1758214" y="5769272"/>
            <a:ext cx="190967" cy="28937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89F37F77-A290-4CB3-9561-D4AC9B1F1E01}"/>
              </a:ext>
            </a:extLst>
          </p:cNvPr>
          <p:cNvCxnSpPr>
            <a:cxnSpLocks/>
            <a:stCxn id="7" idx="3"/>
            <a:endCxn id="26" idx="7"/>
          </p:cNvCxnSpPr>
          <p:nvPr/>
        </p:nvCxnSpPr>
        <p:spPr>
          <a:xfrm flipH="1">
            <a:off x="1106207" y="5769272"/>
            <a:ext cx="190968" cy="28498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587277B1-0E7E-4EDB-89C6-99AD1461FC03}"/>
              </a:ext>
            </a:extLst>
          </p:cNvPr>
          <p:cNvSpPr/>
          <p:nvPr/>
        </p:nvSpPr>
        <p:spPr>
          <a:xfrm>
            <a:off x="3873329" y="5277594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BBE8472F-9E1A-4260-8C73-05CA12C53789}"/>
              </a:ext>
            </a:extLst>
          </p:cNvPr>
          <p:cNvCxnSpPr>
            <a:cxnSpLocks/>
            <a:stCxn id="5" idx="5"/>
            <a:endCxn id="35" idx="1"/>
          </p:cNvCxnSpPr>
          <p:nvPr/>
        </p:nvCxnSpPr>
        <p:spPr>
          <a:xfrm>
            <a:off x="3777846" y="5090719"/>
            <a:ext cx="190967" cy="268386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xmlns="" id="{0D073356-B1E0-437C-A3B9-32B271178F6A}"/>
              </a:ext>
            </a:extLst>
          </p:cNvPr>
          <p:cNvSpPr/>
          <p:nvPr/>
        </p:nvSpPr>
        <p:spPr>
          <a:xfrm>
            <a:off x="8798014" y="4586872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xmlns="" id="{042FB703-0471-4C51-AFFB-589662DF27E1}"/>
              </a:ext>
            </a:extLst>
          </p:cNvPr>
          <p:cNvSpPr/>
          <p:nvPr/>
        </p:nvSpPr>
        <p:spPr>
          <a:xfrm>
            <a:off x="9415543" y="5290631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xmlns="" id="{1EFB03DA-DA82-4440-AC34-ED06AD00D4AD}"/>
              </a:ext>
            </a:extLst>
          </p:cNvPr>
          <p:cNvSpPr/>
          <p:nvPr/>
        </p:nvSpPr>
        <p:spPr>
          <a:xfrm>
            <a:off x="8050525" y="3914038"/>
            <a:ext cx="652007" cy="55659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6FE7B31D-DB2A-48DD-958B-4CFB9B38DB8F}"/>
              </a:ext>
            </a:extLst>
          </p:cNvPr>
          <p:cNvSpPr/>
          <p:nvPr/>
        </p:nvSpPr>
        <p:spPr>
          <a:xfrm>
            <a:off x="7398518" y="4592591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xmlns="" id="{8B2A4EDC-C4CA-4646-95A1-B639B42E48F0}"/>
              </a:ext>
            </a:extLst>
          </p:cNvPr>
          <p:cNvCxnSpPr>
            <a:cxnSpLocks/>
            <a:stCxn id="43" idx="5"/>
            <a:endCxn id="41" idx="1"/>
          </p:cNvCxnSpPr>
          <p:nvPr/>
        </p:nvCxnSpPr>
        <p:spPr>
          <a:xfrm>
            <a:off x="8607048" y="4389118"/>
            <a:ext cx="286450" cy="279265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xmlns="" id="{7D4CA50E-B7EB-4C6A-B434-BE49D162853D}"/>
              </a:ext>
            </a:extLst>
          </p:cNvPr>
          <p:cNvCxnSpPr>
            <a:cxnSpLocks/>
            <a:stCxn id="41" idx="5"/>
          </p:cNvCxnSpPr>
          <p:nvPr/>
        </p:nvCxnSpPr>
        <p:spPr>
          <a:xfrm>
            <a:off x="9354537" y="5061952"/>
            <a:ext cx="190968" cy="268386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xmlns="" id="{BF53725A-5CBD-43A6-9028-90F38BD84F26}"/>
              </a:ext>
            </a:extLst>
          </p:cNvPr>
          <p:cNvCxnSpPr>
            <a:cxnSpLocks/>
            <a:stCxn id="43" idx="3"/>
            <a:endCxn id="44" idx="7"/>
          </p:cNvCxnSpPr>
          <p:nvPr/>
        </p:nvCxnSpPr>
        <p:spPr>
          <a:xfrm flipH="1">
            <a:off x="7955041" y="4389118"/>
            <a:ext cx="190968" cy="28498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xmlns="" id="{93BF539E-7B4C-417B-879A-91B68D97720B}"/>
              </a:ext>
            </a:extLst>
          </p:cNvPr>
          <p:cNvSpPr/>
          <p:nvPr/>
        </p:nvSpPr>
        <p:spPr>
          <a:xfrm>
            <a:off x="6746511" y="5271144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xmlns="" id="{08624274-B072-4493-BDDA-4F92C8399F5E}"/>
              </a:ext>
            </a:extLst>
          </p:cNvPr>
          <p:cNvSpPr/>
          <p:nvPr/>
        </p:nvSpPr>
        <p:spPr>
          <a:xfrm>
            <a:off x="8050524" y="5275534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xmlns="" id="{500806B9-205F-4F04-AA12-41318E5FF8EE}"/>
              </a:ext>
            </a:extLst>
          </p:cNvPr>
          <p:cNvCxnSpPr>
            <a:cxnSpLocks/>
            <a:stCxn id="44" idx="5"/>
            <a:endCxn id="51" idx="1"/>
          </p:cNvCxnSpPr>
          <p:nvPr/>
        </p:nvCxnSpPr>
        <p:spPr>
          <a:xfrm>
            <a:off x="7955041" y="5067671"/>
            <a:ext cx="190967" cy="28937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7709279C-7291-492C-B1EC-25C628D4EB46}"/>
              </a:ext>
            </a:extLst>
          </p:cNvPr>
          <p:cNvCxnSpPr>
            <a:cxnSpLocks/>
            <a:stCxn id="44" idx="3"/>
            <a:endCxn id="50" idx="7"/>
          </p:cNvCxnSpPr>
          <p:nvPr/>
        </p:nvCxnSpPr>
        <p:spPr>
          <a:xfrm flipH="1">
            <a:off x="7303034" y="5067671"/>
            <a:ext cx="190968" cy="28498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xmlns="" id="{2BE2494E-4C57-40BB-A6CE-D113984AAE6E}"/>
              </a:ext>
            </a:extLst>
          </p:cNvPr>
          <p:cNvSpPr/>
          <p:nvPr/>
        </p:nvSpPr>
        <p:spPr>
          <a:xfrm>
            <a:off x="10163033" y="5972744"/>
            <a:ext cx="652007" cy="5565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xmlns="" id="{8B349792-5AD4-49DF-BE39-09733F3B7636}"/>
              </a:ext>
            </a:extLst>
          </p:cNvPr>
          <p:cNvCxnSpPr>
            <a:cxnSpLocks/>
            <a:stCxn id="42" idx="5"/>
            <a:endCxn id="54" idx="1"/>
          </p:cNvCxnSpPr>
          <p:nvPr/>
        </p:nvCxnSpPr>
        <p:spPr>
          <a:xfrm>
            <a:off x="9972066" y="5765711"/>
            <a:ext cx="286451" cy="28854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Arrow: Curved Down 59">
            <a:extLst>
              <a:ext uri="{FF2B5EF4-FFF2-40B4-BE49-F238E27FC236}">
                <a16:creationId xmlns:a16="http://schemas.microsoft.com/office/drawing/2014/main" xmlns="" id="{DEF087DC-372F-43A2-B769-6A434846C050}"/>
              </a:ext>
            </a:extLst>
          </p:cNvPr>
          <p:cNvSpPr/>
          <p:nvPr/>
        </p:nvSpPr>
        <p:spPr>
          <a:xfrm rot="18945162">
            <a:off x="1284730" y="3508928"/>
            <a:ext cx="1389152" cy="889513"/>
          </a:xfrm>
          <a:prstGeom prst="curved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E19F51BE-716A-4162-80B6-3D3629BED4EA}"/>
              </a:ext>
            </a:extLst>
          </p:cNvPr>
          <p:cNvSpPr txBox="1"/>
          <p:nvPr/>
        </p:nvSpPr>
        <p:spPr>
          <a:xfrm>
            <a:off x="2880495" y="6529335"/>
            <a:ext cx="628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i.e. it’s like A &amp; B are “rotated” (yes, it’s sort of a silly description)</a:t>
            </a:r>
          </a:p>
        </p:txBody>
      </p:sp>
    </p:spTree>
    <p:extLst>
      <p:ext uri="{BB962C8B-B14F-4D97-AF65-F5344CB8AC3E}">
        <p14:creationId xmlns:p14="http://schemas.microsoft.com/office/powerpoint/2010/main" xmlns="" val="2677011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Balanced?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22628" y="1537030"/>
            <a:ext cx="7259063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63109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06377" y="3552825"/>
            <a:ext cx="6257925" cy="2724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Binary Tree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318063"/>
            <a:ext cx="667795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2944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Binary Search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" y="1508943"/>
            <a:ext cx="4281747" cy="505811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The left subtree of a node contains only nodes with keys lesser than the node’s key.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The right subtree of a node contains only nodes with keys greater than the node’s key.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The left and right subtree each must also be a binary search tree.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Items are inserted so they stay in order.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021" y="1724070"/>
            <a:ext cx="6108382" cy="365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46456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AVL – Height balanced tree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493703"/>
            <a:ext cx="3893820" cy="4554232"/>
          </a:xfrm>
        </p:spPr>
        <p:txBody>
          <a:bodyPr>
            <a:normAutofit/>
          </a:bodyPr>
          <a:lstStyle/>
          <a:p>
            <a:r>
              <a:rPr lang="en-CA" sz="2400" dirty="0"/>
              <a:t>Height-Balance Property: For every internal node v of T, the heights of the children of v differ by at most 1.</a:t>
            </a:r>
          </a:p>
          <a:p>
            <a:r>
              <a:rPr lang="en-CA" sz="2400" dirty="0"/>
              <a:t>Any binary search tree T that satisfies the height-balance property is said to be an AVL tree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56785" y="2203132"/>
            <a:ext cx="706755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59583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Red Black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29" y="1544824"/>
            <a:ext cx="5560060" cy="4900112"/>
          </a:xfrm>
        </p:spPr>
        <p:txBody>
          <a:bodyPr>
            <a:normAutofit/>
          </a:bodyPr>
          <a:lstStyle/>
          <a:p>
            <a:r>
              <a:rPr lang="en-CA" sz="1800" dirty="0"/>
              <a:t>Each node is either red or black.</a:t>
            </a:r>
          </a:p>
          <a:p>
            <a:r>
              <a:rPr lang="en-CA" sz="1800" dirty="0"/>
              <a:t>The root is black. All leaves are black.</a:t>
            </a:r>
          </a:p>
          <a:p>
            <a:r>
              <a:rPr lang="en-CA" sz="1800" dirty="0"/>
              <a:t>If a node is red, then both its children are black.</a:t>
            </a:r>
          </a:p>
          <a:p>
            <a:r>
              <a:rPr lang="en-CA" sz="1800" dirty="0"/>
              <a:t>Every path from a given node to any of its descendant nodes contains the same number of black nodes.</a:t>
            </a:r>
          </a:p>
          <a:p>
            <a:r>
              <a:rPr lang="en-CA" sz="1800" dirty="0"/>
              <a:t>Since rebalancing (or rotation) is expensive… </a:t>
            </a:r>
          </a:p>
          <a:p>
            <a:r>
              <a:rPr lang="en-CA" sz="1800" dirty="0"/>
              <a:t>On an insert, the patterns of colours (comparing the node to the parent and children) are checked indicating the tree </a:t>
            </a:r>
            <a:r>
              <a:rPr lang="en-CA" sz="1800" i="1" dirty="0"/>
              <a:t>might </a:t>
            </a:r>
            <a:r>
              <a:rPr lang="en-CA" sz="1800" dirty="0"/>
              <a:t>be unbalanced.  </a:t>
            </a:r>
          </a:p>
          <a:p>
            <a:r>
              <a:rPr lang="en-CA" sz="1800" dirty="0"/>
              <a:t>If the pattern is wrong:</a:t>
            </a:r>
          </a:p>
          <a:p>
            <a:pPr lvl="1"/>
            <a:r>
              <a:rPr lang="en-CA" sz="1800" dirty="0"/>
              <a:t>Attempt to “recolour” the nodes</a:t>
            </a:r>
          </a:p>
          <a:p>
            <a:pPr lvl="1"/>
            <a:r>
              <a:rPr lang="en-CA" sz="1800" dirty="0"/>
              <a:t>If that doesn’t work, a full balance (rotations) need to happen</a:t>
            </a:r>
          </a:p>
          <a:p>
            <a:r>
              <a:rPr lang="en-CA" sz="1800" dirty="0"/>
              <a:t>The goal </a:t>
            </a:r>
            <a:r>
              <a:rPr lang="en-CA" sz="1800" i="1" dirty="0"/>
              <a:t>isn’t</a:t>
            </a:r>
            <a:r>
              <a:rPr lang="en-CA" sz="1800" dirty="0"/>
              <a:t> </a:t>
            </a:r>
            <a:r>
              <a:rPr lang="en-CA" sz="1800" dirty="0" smtClean="0"/>
              <a:t>actually for </a:t>
            </a:r>
            <a:r>
              <a:rPr lang="en-CA" sz="1800" dirty="0"/>
              <a:t>a </a:t>
            </a:r>
            <a:r>
              <a:rPr lang="en-CA" sz="1800" i="1" dirty="0"/>
              <a:t>perfect</a:t>
            </a:r>
            <a:r>
              <a:rPr lang="en-CA" sz="1800" dirty="0"/>
              <a:t> balance, but for speed of insert, delete, and search.</a:t>
            </a:r>
          </a:p>
        </p:txBody>
      </p:sp>
      <p:pic>
        <p:nvPicPr>
          <p:cNvPr id="10245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43994" y="1773380"/>
            <a:ext cx="6438902" cy="3219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12823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10158" y="1673831"/>
            <a:ext cx="7684770" cy="46763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N-</a:t>
            </a:r>
            <a:r>
              <a:rPr lang="en-CA" dirty="0" err="1">
                <a:solidFill>
                  <a:schemeClr val="bg1"/>
                </a:solidFill>
              </a:rPr>
              <a:t>ary</a:t>
            </a:r>
            <a:r>
              <a:rPr lang="en-CA" dirty="0">
                <a:solidFill>
                  <a:schemeClr val="bg1"/>
                </a:solidFill>
              </a:rPr>
              <a:t>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" y="1402263"/>
            <a:ext cx="4602480" cy="4100040"/>
          </a:xfrm>
        </p:spPr>
        <p:txBody>
          <a:bodyPr>
            <a:normAutofit/>
          </a:bodyPr>
          <a:lstStyle/>
          <a:p>
            <a:r>
              <a:rPr lang="en-CA" dirty="0"/>
              <a:t>Nodes may have n number of children</a:t>
            </a:r>
          </a:p>
          <a:p>
            <a:r>
              <a:rPr lang="en-CA" dirty="0"/>
              <a:t>So </a:t>
            </a:r>
            <a:r>
              <a:rPr lang="en-CA" i="1" dirty="0"/>
              <a:t>not </a:t>
            </a:r>
            <a:r>
              <a:rPr lang="en-CA" dirty="0"/>
              <a:t>a “binary” tree:</a:t>
            </a:r>
          </a:p>
          <a:p>
            <a:pPr lvl="1"/>
            <a:r>
              <a:rPr lang="en-CA" dirty="0"/>
              <a:t>Scene graph</a:t>
            </a:r>
          </a:p>
          <a:p>
            <a:pPr lvl="1"/>
            <a:r>
              <a:rPr lang="en-CA" dirty="0"/>
              <a:t>Animation skeleton</a:t>
            </a:r>
          </a:p>
          <a:p>
            <a:pPr lvl="1"/>
            <a:r>
              <a:rPr lang="en-CA" dirty="0"/>
              <a:t>Path/map finding (waypoints)</a:t>
            </a:r>
          </a:p>
          <a:p>
            <a:pPr lvl="1"/>
            <a:r>
              <a:rPr lang="en-CA" dirty="0"/>
              <a:t>Hierarchy/relationships </a:t>
            </a:r>
          </a:p>
          <a:p>
            <a:pPr lvl="1"/>
            <a:r>
              <a:rPr lang="en-CA" dirty="0"/>
              <a:t>General rules/policies  </a:t>
            </a:r>
          </a:p>
        </p:txBody>
      </p:sp>
    </p:spTree>
    <p:extLst>
      <p:ext uri="{BB962C8B-B14F-4D97-AF65-F5344CB8AC3E}">
        <p14:creationId xmlns:p14="http://schemas.microsoft.com/office/powerpoint/2010/main" xmlns="" val="291854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Heap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64163"/>
            <a:ext cx="11018520" cy="4554232"/>
          </a:xfrm>
        </p:spPr>
        <p:txBody>
          <a:bodyPr>
            <a:normAutofit/>
          </a:bodyPr>
          <a:lstStyle/>
          <a:p>
            <a:r>
              <a:rPr lang="en-CA" sz="2000" dirty="0"/>
              <a:t>A complete binary tree which satisfies one of the two (2) “heap ordering” properties:</a:t>
            </a:r>
          </a:p>
          <a:p>
            <a:pPr lvl="1"/>
            <a:r>
              <a:rPr lang="en-CA" sz="1800" dirty="0">
                <a:solidFill>
                  <a:srgbClr val="C00000"/>
                </a:solidFill>
              </a:rPr>
              <a:t>the min-heap property</a:t>
            </a:r>
            <a:r>
              <a:rPr lang="en-CA" sz="1800" dirty="0"/>
              <a:t>: the value of each node is greater than or equal to the value of its parent, with the minimum-value element at the root.</a:t>
            </a:r>
          </a:p>
          <a:p>
            <a:pPr lvl="1"/>
            <a:r>
              <a:rPr lang="en-CA" sz="1800" dirty="0">
                <a:solidFill>
                  <a:srgbClr val="C00000"/>
                </a:solidFill>
              </a:rPr>
              <a:t>the max-heap property</a:t>
            </a:r>
            <a:r>
              <a:rPr lang="en-CA" sz="1800" dirty="0"/>
              <a:t>: the value of each node is less than or equal to the value </a:t>
            </a:r>
            <a:br>
              <a:rPr lang="en-CA" sz="1800" dirty="0"/>
            </a:br>
            <a:r>
              <a:rPr lang="en-CA" sz="1800" dirty="0"/>
              <a:t>of its parent, with the maximum-value element at the root.</a:t>
            </a:r>
          </a:p>
          <a:p>
            <a:r>
              <a:rPr lang="en-CA" sz="2200" dirty="0"/>
              <a:t>Notice on the right the values go from greatest to least</a:t>
            </a:r>
          </a:p>
          <a:p>
            <a:r>
              <a:rPr lang="en-CA" sz="2200" dirty="0"/>
              <a:t>Often stored directly in an array where the parent-child </a:t>
            </a:r>
            <a:br>
              <a:rPr lang="en-CA" sz="2200" dirty="0"/>
            </a:br>
            <a:r>
              <a:rPr lang="en-CA" sz="2200" dirty="0"/>
              <a:t>relationship is implied (i.e. the location of the “next” node</a:t>
            </a:r>
            <a:br>
              <a:rPr lang="en-CA" sz="2200" dirty="0"/>
            </a:br>
            <a:r>
              <a:rPr lang="en-CA" sz="2200" dirty="0"/>
              <a:t>is fixed and calculated from the current node location).</a:t>
            </a:r>
          </a:p>
          <a:p>
            <a:r>
              <a:rPr lang="en-CA" sz="2200" dirty="0"/>
              <a:t>Insertion and deletion can cause regeneration of the heap.</a:t>
            </a:r>
          </a:p>
          <a:p>
            <a:endParaRPr lang="en-CA" dirty="0"/>
          </a:p>
        </p:txBody>
      </p: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xmlns="" id="{B09029AC-11B5-578D-1CE4-5FBA2882061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19873" y="1732735"/>
            <a:ext cx="3925824" cy="471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82079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Heap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64163"/>
            <a:ext cx="11018520" cy="4554232"/>
          </a:xfrm>
        </p:spPr>
        <p:txBody>
          <a:bodyPr>
            <a:normAutofit/>
          </a:bodyPr>
          <a:lstStyle/>
          <a:p>
            <a:r>
              <a:rPr lang="en-CA" sz="2000" dirty="0"/>
              <a:t>Here’s an image from Wikipedia, showing how a heap could be stored as a tree, and also as a 1D array:</a:t>
            </a:r>
          </a:p>
          <a:p>
            <a:r>
              <a:rPr lang="en-CA" sz="2000" dirty="0"/>
              <a:t>The location of the children are at 2n and 2n+1:</a:t>
            </a:r>
          </a:p>
          <a:p>
            <a:endParaRPr lang="en-CA" dirty="0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xmlns="" id="{88B8EF2D-FFB1-46D5-8A69-3FFABB59DB4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054" y="2527130"/>
            <a:ext cx="8967424" cy="3456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86CC83F-18D3-4AC7-824F-0F87F66B5C93}"/>
              </a:ext>
            </a:extLst>
          </p:cNvPr>
          <p:cNvSpPr txBox="1"/>
          <p:nvPr/>
        </p:nvSpPr>
        <p:spPr>
          <a:xfrm>
            <a:off x="3976168" y="3165267"/>
            <a:ext cx="485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“19” is at 2(1)=index </a:t>
            </a:r>
            <a:r>
              <a:rPr lang="en-CA" b="1" i="1" dirty="0"/>
              <a:t>2</a:t>
            </a:r>
            <a:r>
              <a:rPr lang="en-CA" dirty="0"/>
              <a:t>;    “36” is at 2(1)+1=index </a:t>
            </a:r>
            <a:r>
              <a:rPr lang="en-CA" b="1" i="1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41D0A6E-7271-44DE-BBDA-6421947A1081}"/>
              </a:ext>
            </a:extLst>
          </p:cNvPr>
          <p:cNvSpPr txBox="1"/>
          <p:nvPr/>
        </p:nvSpPr>
        <p:spPr>
          <a:xfrm>
            <a:off x="2701456" y="2527130"/>
            <a:ext cx="2008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“100” is at =index </a:t>
            </a:r>
            <a:r>
              <a:rPr lang="en-CA" b="1" i="1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D3861BB-B136-4796-B5F8-064DE202D762}"/>
              </a:ext>
            </a:extLst>
          </p:cNvPr>
          <p:cNvSpPr txBox="1"/>
          <p:nvPr/>
        </p:nvSpPr>
        <p:spPr>
          <a:xfrm>
            <a:off x="5737860" y="6187200"/>
            <a:ext cx="5320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“11” is at 2(3)+4=index </a:t>
            </a:r>
            <a:r>
              <a:rPr lang="en-CA" b="1" i="1" dirty="0"/>
              <a:t>10</a:t>
            </a:r>
            <a:r>
              <a:rPr lang="en-CA" dirty="0"/>
              <a:t>;    “13” is at 2(3)+5=index </a:t>
            </a:r>
            <a:r>
              <a:rPr lang="en-CA" b="1" i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xmlns="" val="3900843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Traversing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Traversing a tree means visiting every node in the tree.</a:t>
            </a:r>
          </a:p>
          <a:p>
            <a:r>
              <a:rPr lang="en-CA" dirty="0"/>
              <a:t>Hierarchical data structures like trees can be traversed in different ways.</a:t>
            </a:r>
          </a:p>
          <a:p>
            <a:endParaRPr lang="en-CA" dirty="0"/>
          </a:p>
          <a:p>
            <a:r>
              <a:rPr lang="en-CA" dirty="0"/>
              <a:t>Every tree is a combination of</a:t>
            </a:r>
          </a:p>
          <a:p>
            <a:pPr lvl="1"/>
            <a:r>
              <a:rPr lang="en-CA" dirty="0"/>
              <a:t>A node carrying data</a:t>
            </a:r>
          </a:p>
          <a:p>
            <a:pPr lvl="1"/>
            <a:r>
              <a:rPr lang="en-CA" dirty="0"/>
              <a:t>Two subtrees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16053" y="2906077"/>
            <a:ext cx="3618462" cy="251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4210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In-order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20" y="1425123"/>
            <a:ext cx="5434965" cy="4554232"/>
          </a:xfrm>
        </p:spPr>
        <p:txBody>
          <a:bodyPr/>
          <a:lstStyle/>
          <a:p>
            <a:r>
              <a:rPr lang="en-CA" dirty="0"/>
              <a:t>Visit all the nodes in the left subtree (recursively call </a:t>
            </a:r>
            <a:r>
              <a:rPr lang="en-CA" dirty="0" err="1"/>
              <a:t>inorder</a:t>
            </a:r>
            <a:r>
              <a:rPr lang="en-CA" dirty="0"/>
              <a:t>(root-&gt;</a:t>
            </a:r>
            <a:r>
              <a:rPr lang="en-CA" b="1" i="1" u="sng" dirty="0"/>
              <a:t>left</a:t>
            </a:r>
            <a:r>
              <a:rPr lang="en-CA" dirty="0"/>
              <a:t>) )</a:t>
            </a:r>
          </a:p>
          <a:p>
            <a:r>
              <a:rPr lang="en-CA" dirty="0"/>
              <a:t>Visit the root node</a:t>
            </a:r>
          </a:p>
          <a:p>
            <a:r>
              <a:rPr lang="en-CA" dirty="0"/>
              <a:t>Visit all the nodes in the right subtree (recursively call </a:t>
            </a:r>
            <a:r>
              <a:rPr lang="en-CA" dirty="0" err="1"/>
              <a:t>inorder</a:t>
            </a:r>
            <a:r>
              <a:rPr lang="en-CA" dirty="0"/>
              <a:t>(root-&gt;</a:t>
            </a:r>
            <a:r>
              <a:rPr lang="en-CA" b="1" i="1" u="sng" dirty="0"/>
              <a:t>right</a:t>
            </a:r>
            <a:r>
              <a:rPr lang="en-CA" dirty="0"/>
              <a:t>) 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11711" y="1425123"/>
            <a:ext cx="4476750" cy="42379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11711" y="5432877"/>
            <a:ext cx="526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0112" y="4614901"/>
            <a:ext cx="399097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68241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Pre-order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" y="1524183"/>
            <a:ext cx="4892040" cy="4554232"/>
          </a:xfrm>
        </p:spPr>
        <p:txBody>
          <a:bodyPr/>
          <a:lstStyle/>
          <a:p>
            <a:r>
              <a:rPr lang="en-CA" dirty="0"/>
              <a:t>Visit the root node</a:t>
            </a:r>
          </a:p>
          <a:p>
            <a:r>
              <a:rPr lang="en-CA" dirty="0"/>
              <a:t>Visit all the nodes in the left subtree (recursively call </a:t>
            </a:r>
            <a:r>
              <a:rPr lang="en-CA" dirty="0" err="1"/>
              <a:t>inorder</a:t>
            </a:r>
            <a:r>
              <a:rPr lang="en-CA" dirty="0"/>
              <a:t>(root-&gt;</a:t>
            </a:r>
            <a:r>
              <a:rPr lang="en-CA" b="1" i="1" u="sng" dirty="0"/>
              <a:t>left</a:t>
            </a:r>
            <a:r>
              <a:rPr lang="en-CA" dirty="0"/>
              <a:t>) )</a:t>
            </a:r>
          </a:p>
          <a:p>
            <a:r>
              <a:rPr lang="en-CA" dirty="0"/>
              <a:t>Visit all the nodes in the right subtree (recursively call </a:t>
            </a:r>
            <a:r>
              <a:rPr lang="en-CA" dirty="0" err="1"/>
              <a:t>inorder</a:t>
            </a:r>
            <a:r>
              <a:rPr lang="en-CA" dirty="0"/>
              <a:t>(root-&gt;</a:t>
            </a:r>
            <a:r>
              <a:rPr lang="en-CA" b="1" i="1" u="sng" dirty="0"/>
              <a:t>right</a:t>
            </a:r>
            <a:r>
              <a:rPr lang="en-CA" dirty="0"/>
              <a:t>) )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55030" y="1702117"/>
            <a:ext cx="4690110" cy="41429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81062" y="4631433"/>
            <a:ext cx="402907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67780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 err="1">
                <a:solidFill>
                  <a:schemeClr val="bg1"/>
                </a:solidFill>
              </a:rPr>
              <a:t>Postorder</a:t>
            </a:r>
            <a:r>
              <a:rPr lang="en-CA" dirty="0">
                <a:solidFill>
                  <a:schemeClr val="bg1"/>
                </a:solidFill>
              </a:rPr>
              <a:t> 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8943"/>
            <a:ext cx="4564380" cy="4554232"/>
          </a:xfrm>
        </p:spPr>
        <p:txBody>
          <a:bodyPr/>
          <a:lstStyle/>
          <a:p>
            <a:r>
              <a:rPr lang="en-CA" dirty="0"/>
              <a:t>visit all the nodes in the left subtree (recursively call </a:t>
            </a:r>
            <a:r>
              <a:rPr lang="en-CA" dirty="0" err="1"/>
              <a:t>inorder</a:t>
            </a:r>
            <a:r>
              <a:rPr lang="en-CA" dirty="0"/>
              <a:t>(root-&gt;left) )</a:t>
            </a:r>
          </a:p>
          <a:p>
            <a:r>
              <a:rPr lang="en-CA" dirty="0"/>
              <a:t>visit all the nodes in the right subtree (recursively call </a:t>
            </a:r>
            <a:r>
              <a:rPr lang="en-CA" dirty="0" err="1"/>
              <a:t>inorder</a:t>
            </a:r>
            <a:r>
              <a:rPr lang="en-CA" dirty="0"/>
              <a:t>(root-&gt;right) )</a:t>
            </a:r>
          </a:p>
          <a:p>
            <a:r>
              <a:rPr lang="en-CA" dirty="0"/>
              <a:t>visit the root node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42610" y="1670842"/>
            <a:ext cx="4789170" cy="42304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05852" y="4606642"/>
            <a:ext cx="40290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29498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Insert, Delete, Reorder, Rebalance…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8942"/>
            <a:ext cx="10515600" cy="4868997"/>
          </a:xfrm>
        </p:spPr>
        <p:txBody>
          <a:bodyPr>
            <a:normAutofit/>
          </a:bodyPr>
          <a:lstStyle/>
          <a:p>
            <a:r>
              <a:rPr lang="en-CA" dirty="0"/>
              <a:t>These operations are can be more sophisticated than linear structures</a:t>
            </a:r>
          </a:p>
          <a:p>
            <a:r>
              <a:rPr lang="en-CA" dirty="0"/>
              <a:t>We will visit some of these:</a:t>
            </a:r>
          </a:p>
          <a:p>
            <a:pPr lvl="1"/>
            <a:r>
              <a:rPr lang="en-CA" dirty="0"/>
              <a:t>Enumerating all the items</a:t>
            </a:r>
          </a:p>
          <a:p>
            <a:pPr lvl="1"/>
            <a:r>
              <a:rPr lang="en-CA" dirty="0"/>
              <a:t>Enumerating a section of a tree</a:t>
            </a:r>
          </a:p>
          <a:p>
            <a:pPr lvl="1"/>
            <a:r>
              <a:rPr lang="en-CA" dirty="0"/>
              <a:t>Searching for an item</a:t>
            </a:r>
          </a:p>
          <a:p>
            <a:pPr lvl="1"/>
            <a:r>
              <a:rPr lang="en-CA" dirty="0"/>
              <a:t>Adding a new item at a certain position in the tree</a:t>
            </a:r>
          </a:p>
          <a:p>
            <a:pPr lvl="1"/>
            <a:r>
              <a:rPr lang="en-CA" dirty="0"/>
              <a:t>Deleting an item</a:t>
            </a:r>
          </a:p>
          <a:p>
            <a:pPr lvl="1"/>
            <a:r>
              <a:rPr lang="en-CA" dirty="0"/>
              <a:t>Pruning: Removing a whole section of a tree</a:t>
            </a:r>
          </a:p>
          <a:p>
            <a:pPr lvl="1"/>
            <a:r>
              <a:rPr lang="en-CA" dirty="0"/>
              <a:t>Grafting: Adding a whole section to a tree</a:t>
            </a:r>
          </a:p>
          <a:p>
            <a:pPr lvl="1"/>
            <a:r>
              <a:rPr lang="en-CA" dirty="0"/>
              <a:t>Finding the root for any node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xmlns="" val="2015340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710907" cy="830629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Terms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Root: the topmost node of the tree</a:t>
            </a:r>
          </a:p>
          <a:p>
            <a:r>
              <a:rPr lang="en-CA" dirty="0"/>
              <a:t>Edge: the link between 2 nodes</a:t>
            </a:r>
          </a:p>
          <a:p>
            <a:r>
              <a:rPr lang="en-CA" dirty="0"/>
              <a:t>Child: a node that has a parent node</a:t>
            </a:r>
          </a:p>
          <a:p>
            <a:r>
              <a:rPr lang="en-CA" dirty="0"/>
              <a:t>Parent: a node that has an edge to a child node</a:t>
            </a:r>
          </a:p>
          <a:p>
            <a:r>
              <a:rPr lang="en-CA" dirty="0"/>
              <a:t>Leaf: a node that does not have a child node in the tree</a:t>
            </a:r>
          </a:p>
          <a:p>
            <a:r>
              <a:rPr lang="en-CA" dirty="0"/>
              <a:t>Height: The height of a tree is the length of the longest path to a leaf.</a:t>
            </a:r>
          </a:p>
          <a:p>
            <a:r>
              <a:rPr lang="en-CA" dirty="0"/>
              <a:t>Depth: The depth of a node is the length of the path to its root.</a:t>
            </a:r>
          </a:p>
        </p:txBody>
      </p:sp>
    </p:spTree>
    <p:extLst>
      <p:ext uri="{BB962C8B-B14F-4D97-AF65-F5344CB8AC3E}">
        <p14:creationId xmlns:p14="http://schemas.microsoft.com/office/powerpoint/2010/main" xmlns="" val="128968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1491</TotalTime>
  <Words>1710</Words>
  <Application>Microsoft Office PowerPoint</Application>
  <PresentationFormat>Custom</PresentationFormat>
  <Paragraphs>177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Trees</vt:lpstr>
      <vt:lpstr>Trees</vt:lpstr>
      <vt:lpstr>Trees</vt:lpstr>
      <vt:lpstr>Not Trees</vt:lpstr>
      <vt:lpstr>Trees</vt:lpstr>
      <vt:lpstr>Tree semantics/terms</vt:lpstr>
      <vt:lpstr>Tree categories</vt:lpstr>
      <vt:lpstr>Tree Types</vt:lpstr>
      <vt:lpstr>Tree Types</vt:lpstr>
      <vt:lpstr>Rotation, re-balancing</vt:lpstr>
      <vt:lpstr>Balanced?</vt:lpstr>
      <vt:lpstr>Binary Tree</vt:lpstr>
      <vt:lpstr>Binary Search Tree</vt:lpstr>
      <vt:lpstr>AVL – Height balanced tree </vt:lpstr>
      <vt:lpstr>Red Black Tree</vt:lpstr>
      <vt:lpstr>N-ary Tree</vt:lpstr>
      <vt:lpstr>Heap Tree</vt:lpstr>
      <vt:lpstr>Heap Tree</vt:lpstr>
      <vt:lpstr>Traversing Trees</vt:lpstr>
      <vt:lpstr>In-order traversal</vt:lpstr>
      <vt:lpstr>Pre-order traversal</vt:lpstr>
      <vt:lpstr>Postorder traversal</vt:lpstr>
      <vt:lpstr>Insert, Delete, Reorder, Rebalance…</vt:lpstr>
      <vt:lpstr>Terms Review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mfeeney</cp:lastModifiedBy>
  <cp:revision>142</cp:revision>
  <dcterms:created xsi:type="dcterms:W3CDTF">2018-09-03T16:13:27Z</dcterms:created>
  <dcterms:modified xsi:type="dcterms:W3CDTF">2025-11-10T11:00:37Z</dcterms:modified>
</cp:coreProperties>
</file>