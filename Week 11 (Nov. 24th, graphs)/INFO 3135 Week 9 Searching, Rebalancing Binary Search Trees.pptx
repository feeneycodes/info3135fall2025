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90C-21F4-4F8C-99EC-400671FA2A52}" type="datetimeFigureOut">
              <a:rPr lang="en-CA" smtClean="0"/>
              <a:t>2022-11-16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AFED-F42B-4C11-A265-15E77C9D3D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4866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90C-21F4-4F8C-99EC-400671FA2A52}" type="datetimeFigureOut">
              <a:rPr lang="en-CA" smtClean="0"/>
              <a:t>2022-11-16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AFED-F42B-4C11-A265-15E77C9D3D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5609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90C-21F4-4F8C-99EC-400671FA2A52}" type="datetimeFigureOut">
              <a:rPr lang="en-CA" smtClean="0"/>
              <a:t>2022-11-16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AFED-F42B-4C11-A265-15E77C9D3D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2397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90C-21F4-4F8C-99EC-400671FA2A52}" type="datetimeFigureOut">
              <a:rPr lang="en-CA" smtClean="0"/>
              <a:t>2022-11-16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AFED-F42B-4C11-A265-15E77C9D3D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7168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90C-21F4-4F8C-99EC-400671FA2A52}" type="datetimeFigureOut">
              <a:rPr lang="en-CA" smtClean="0"/>
              <a:t>2022-11-16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AFED-F42B-4C11-A265-15E77C9D3D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568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90C-21F4-4F8C-99EC-400671FA2A52}" type="datetimeFigureOut">
              <a:rPr lang="en-CA" smtClean="0"/>
              <a:t>2022-11-16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AFED-F42B-4C11-A265-15E77C9D3D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7075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90C-21F4-4F8C-99EC-400671FA2A52}" type="datetimeFigureOut">
              <a:rPr lang="en-CA" smtClean="0"/>
              <a:t>2022-11-16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AFED-F42B-4C11-A265-15E77C9D3D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5681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90C-21F4-4F8C-99EC-400671FA2A52}" type="datetimeFigureOut">
              <a:rPr lang="en-CA" smtClean="0"/>
              <a:t>2022-11-16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AFED-F42B-4C11-A265-15E77C9D3D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833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90C-21F4-4F8C-99EC-400671FA2A52}" type="datetimeFigureOut">
              <a:rPr lang="en-CA" smtClean="0"/>
              <a:t>2022-11-16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AFED-F42B-4C11-A265-15E77C9D3D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89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90C-21F4-4F8C-99EC-400671FA2A52}" type="datetimeFigureOut">
              <a:rPr lang="en-CA" smtClean="0"/>
              <a:t>2022-11-16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AFED-F42B-4C11-A265-15E77C9D3D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738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3590C-21F4-4F8C-99EC-400671FA2A52}" type="datetimeFigureOut">
              <a:rPr lang="en-CA" smtClean="0"/>
              <a:t>2022-11-16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AFED-F42B-4C11-A265-15E77C9D3D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3238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39815" y="182245"/>
            <a:ext cx="9313985" cy="8306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8943"/>
            <a:ext cx="10515600" cy="4554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3590C-21F4-4F8C-99EC-400671FA2A52}" type="datetimeFigureOut">
              <a:rPr lang="en-CA" smtClean="0"/>
              <a:t>2022-11-16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AFED-F42B-4C11-A265-15E77C9D3DC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8675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645C-EE79-4448-8141-BD10A20460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INFO-3135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6901A-D426-4AC7-90E1-C5E875A64F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Searching, Rebalancing Binary Search Trees (BST)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975309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E122-C586-4078-B855-1DCBD160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Review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22D7B-D0C8-4DC3-B6C0-50D6F112F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Binary Search Tree (BST) Rules :</a:t>
            </a:r>
          </a:p>
          <a:p>
            <a:pPr lvl="1"/>
            <a:r>
              <a:rPr lang="en-CA" dirty="0"/>
              <a:t>the data of all the nodes in the left sub-tree of the root node should be &lt;= the data of the root. </a:t>
            </a:r>
          </a:p>
          <a:p>
            <a:pPr lvl="1"/>
            <a:r>
              <a:rPr lang="en-CA" dirty="0"/>
              <a:t>the data of all the nodes in the right subtree of the root node should be &gt; the data of the root.</a:t>
            </a:r>
          </a:p>
          <a:p>
            <a:pPr lvl="1"/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34052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E122-C586-4078-B855-1DCBD160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Review</a:t>
            </a:r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71F0FF-5894-4FD3-9154-2BD7AE9093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6468" y="1604658"/>
            <a:ext cx="7259063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541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E122-C586-4078-B855-1DCBD160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Searching A Binary Search Tree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05CD4-9523-4B80-8B54-9843DAB73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Uses a divide and conquer technique</a:t>
            </a:r>
          </a:p>
          <a:p>
            <a:pPr lvl="1"/>
            <a:r>
              <a:rPr lang="en-US" dirty="0"/>
              <a:t>We can eliminate half of the nodes from our search each step until we find our value using the following algorithm:</a:t>
            </a:r>
          </a:p>
          <a:p>
            <a:pPr lvl="1"/>
            <a:r>
              <a:rPr lang="en-US" dirty="0"/>
              <a:t>If </a:t>
            </a:r>
            <a:r>
              <a:rPr lang="en-US" dirty="0" err="1"/>
              <a:t>search_value</a:t>
            </a:r>
            <a:r>
              <a:rPr lang="en-US" dirty="0"/>
              <a:t> &lt; </a:t>
            </a:r>
            <a:r>
              <a:rPr lang="en-US" dirty="0" err="1"/>
              <a:t>current_node</a:t>
            </a:r>
            <a:endParaRPr lang="en-US" dirty="0"/>
          </a:p>
          <a:p>
            <a:pPr lvl="2"/>
            <a:r>
              <a:rPr lang="en-US" dirty="0"/>
              <a:t>Move to left node</a:t>
            </a:r>
          </a:p>
          <a:p>
            <a:pPr lvl="3"/>
            <a:r>
              <a:rPr lang="en-US" dirty="0"/>
              <a:t>If this node does not exist, the </a:t>
            </a:r>
            <a:br>
              <a:rPr lang="en-US" dirty="0"/>
            </a:br>
            <a:r>
              <a:rPr lang="en-US" dirty="0"/>
              <a:t>value does not exist in the tree</a:t>
            </a:r>
          </a:p>
          <a:p>
            <a:pPr lvl="1"/>
            <a:r>
              <a:rPr lang="en-US" dirty="0"/>
              <a:t>If </a:t>
            </a:r>
            <a:r>
              <a:rPr lang="en-US" dirty="0" err="1"/>
              <a:t>search_value</a:t>
            </a:r>
            <a:r>
              <a:rPr lang="en-US" dirty="0"/>
              <a:t> &gt; </a:t>
            </a:r>
            <a:r>
              <a:rPr lang="en-US" dirty="0" err="1"/>
              <a:t>current_node</a:t>
            </a:r>
            <a:endParaRPr lang="en-US" dirty="0"/>
          </a:p>
          <a:p>
            <a:pPr lvl="2"/>
            <a:r>
              <a:rPr lang="en-US" dirty="0"/>
              <a:t>Move to right node</a:t>
            </a:r>
          </a:p>
          <a:p>
            <a:pPr lvl="3"/>
            <a:r>
              <a:rPr lang="en-US" dirty="0"/>
              <a:t>If this node does not exist, the </a:t>
            </a:r>
            <a:br>
              <a:rPr lang="en-US" dirty="0"/>
            </a:br>
            <a:r>
              <a:rPr lang="en-US" dirty="0"/>
              <a:t>value does not exist in the tree</a:t>
            </a:r>
          </a:p>
          <a:p>
            <a:pPr lvl="1"/>
            <a:r>
              <a:rPr lang="en-US" dirty="0"/>
              <a:t>If </a:t>
            </a:r>
            <a:r>
              <a:rPr lang="en-US" dirty="0" err="1"/>
              <a:t>search_value</a:t>
            </a:r>
            <a:r>
              <a:rPr lang="en-US" dirty="0"/>
              <a:t> == </a:t>
            </a:r>
            <a:r>
              <a:rPr lang="en-US" dirty="0" err="1"/>
              <a:t>current_node</a:t>
            </a:r>
            <a:endParaRPr lang="en-US" dirty="0"/>
          </a:p>
          <a:p>
            <a:pPr lvl="2"/>
            <a:r>
              <a:rPr lang="en-US" dirty="0"/>
              <a:t>Found the node we are looking for</a:t>
            </a:r>
          </a:p>
          <a:p>
            <a:pPr lvl="1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5D9F0C-90E3-4348-9F1E-CA6D70AF7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8611" y="2887825"/>
            <a:ext cx="3171825" cy="279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74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E122-C586-4078-B855-1DCBD160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Searching A Binary Search Tree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05CD4-9523-4B80-8B54-9843DAB73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implement a search functionality to the </a:t>
            </a:r>
            <a:r>
              <a:rPr lang="en-US" dirty="0" err="1"/>
              <a:t>BinaryTree</a:t>
            </a:r>
            <a:r>
              <a:rPr lang="en-US" dirty="0"/>
              <a:t> class we created in week.</a:t>
            </a:r>
          </a:p>
          <a:p>
            <a:pPr lvl="1"/>
            <a:r>
              <a:rPr lang="en-US" dirty="0"/>
              <a:t>We will do two implementations</a:t>
            </a:r>
          </a:p>
          <a:p>
            <a:pPr lvl="2"/>
            <a:r>
              <a:rPr lang="en-US" dirty="0"/>
              <a:t>One recursive</a:t>
            </a:r>
          </a:p>
          <a:p>
            <a:pPr lvl="2"/>
            <a:r>
              <a:rPr lang="en-US" dirty="0"/>
              <a:t>One iterative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425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E122-C586-4078-B855-1DCBD160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Rebalancing Binary Trees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05CD4-9523-4B80-8B54-9843DAB73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The performance of the search depends on if the tree is balanced or not.</a:t>
            </a:r>
          </a:p>
          <a:p>
            <a:pPr lvl="1"/>
            <a:r>
              <a:rPr lang="en-US" dirty="0"/>
              <a:t>With an unbalanced tree we may have to visit every node before we find our value. </a:t>
            </a:r>
          </a:p>
          <a:p>
            <a:pPr lvl="2"/>
            <a:r>
              <a:rPr lang="en-US" dirty="0"/>
              <a:t>Divide and conquer doesn’t work here</a:t>
            </a:r>
          </a:p>
          <a:p>
            <a:pPr lvl="3"/>
            <a:r>
              <a:rPr lang="en-US" dirty="0"/>
              <a:t>Worst Case O(n) to find our element</a:t>
            </a:r>
          </a:p>
          <a:p>
            <a:pPr lvl="3"/>
            <a:endParaRPr lang="en-US" dirty="0"/>
          </a:p>
          <a:p>
            <a:pPr lvl="1"/>
            <a:r>
              <a:rPr lang="en-US" dirty="0"/>
              <a:t>This is the same performance as linked list.</a:t>
            </a:r>
          </a:p>
          <a:p>
            <a:pPr lvl="2"/>
            <a:r>
              <a:rPr lang="en-US" dirty="0"/>
              <a:t>Not a surprise if we look at the structure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08F814A-91DB-4271-BE3B-4C7A284DE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579" y="3167527"/>
            <a:ext cx="7259063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51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E122-C586-4078-B855-1DCBD1600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Rebalancing Binary Trees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05CD4-9523-4B80-8B54-9843DAB73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How do we convert the non-balanced tree to a balanced?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30EF008B-AF69-4DAC-B1AD-0ED737AEE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823" y="2075845"/>
            <a:ext cx="7259063" cy="43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9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00D7-1BD2-47E4-A949-84F36D8B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Rebalancing Binary Trees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CCC1A-F5BA-407E-B297-0C5A8764B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The algorithm:</a:t>
            </a:r>
          </a:p>
          <a:p>
            <a:pPr lvl="2"/>
            <a:r>
              <a:rPr lang="en-US" dirty="0"/>
              <a:t>Traverse the BST </a:t>
            </a:r>
            <a:r>
              <a:rPr lang="en-US" b="1" dirty="0" err="1"/>
              <a:t>inorder</a:t>
            </a:r>
            <a:r>
              <a:rPr lang="en-US" b="1" dirty="0"/>
              <a:t> </a:t>
            </a:r>
            <a:r>
              <a:rPr lang="en-US" dirty="0"/>
              <a:t>and place the values into an array (vector)</a:t>
            </a:r>
          </a:p>
          <a:p>
            <a:pPr lvl="3"/>
            <a:r>
              <a:rPr lang="en-US" dirty="0"/>
              <a:t>This returns the existing values in sorted sequence.</a:t>
            </a:r>
          </a:p>
          <a:p>
            <a:pPr lvl="2"/>
            <a:r>
              <a:rPr lang="en-US" dirty="0"/>
              <a:t>Build a balanced tree using the sorted array</a:t>
            </a:r>
          </a:p>
          <a:p>
            <a:pPr lvl="3"/>
            <a:r>
              <a:rPr lang="en-US" dirty="0"/>
              <a:t>Find the middle and make it root</a:t>
            </a:r>
          </a:p>
          <a:p>
            <a:pPr lvl="3"/>
            <a:r>
              <a:rPr lang="en-US" dirty="0"/>
              <a:t>Recursively do the same for both the left and right half of the array</a:t>
            </a:r>
          </a:p>
          <a:p>
            <a:pPr lvl="4"/>
            <a:r>
              <a:rPr lang="en-US" dirty="0"/>
              <a:t>Get the middle of left half</a:t>
            </a:r>
          </a:p>
          <a:p>
            <a:pPr lvl="5"/>
            <a:r>
              <a:rPr lang="en-US" dirty="0"/>
              <a:t>Make it left child of the root</a:t>
            </a:r>
          </a:p>
          <a:p>
            <a:pPr lvl="4"/>
            <a:r>
              <a:rPr lang="en-US" dirty="0"/>
              <a:t>Get the middle of right half</a:t>
            </a:r>
          </a:p>
          <a:p>
            <a:pPr lvl="5"/>
            <a:r>
              <a:rPr lang="en-US" dirty="0"/>
              <a:t>Make it right child of the root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955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00D7-1BD2-47E4-A949-84F36D8B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Rebalancing Binary Trees</a:t>
            </a:r>
            <a:endParaRPr lang="en-CA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D16D5017-3401-45A6-81A6-55DE110D29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4592899"/>
              </p:ext>
            </p:extLst>
          </p:nvPr>
        </p:nvGraphicFramePr>
        <p:xfrm>
          <a:off x="838200" y="1509713"/>
          <a:ext cx="105156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89113981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4369122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3344675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104759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65071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n-CA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n-CA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n-CA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n-CA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5</a:t>
                      </a:r>
                      <a:endParaRPr lang="en-CA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2410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16F9B75-1F7C-40B6-9951-8F16CE6CB65C}"/>
              </a:ext>
            </a:extLst>
          </p:cNvPr>
          <p:cNvSpPr txBox="1"/>
          <p:nvPr/>
        </p:nvSpPr>
        <p:spPr>
          <a:xfrm>
            <a:off x="838200" y="2647315"/>
            <a:ext cx="105156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Node* reconstruct(</a:t>
            </a:r>
            <a:r>
              <a:rPr lang="en-US" sz="2400" dirty="0" err="1"/>
              <a:t>arr</a:t>
            </a:r>
            <a:r>
              <a:rPr lang="en-US" sz="2400" dirty="0"/>
              <a:t>, min, max){</a:t>
            </a:r>
          </a:p>
          <a:p>
            <a:r>
              <a:rPr lang="en-US" sz="2400" dirty="0"/>
              <a:t>   if(min&gt;max) return </a:t>
            </a:r>
            <a:r>
              <a:rPr lang="en-US" sz="2400" dirty="0" err="1"/>
              <a:t>nullptr</a:t>
            </a:r>
            <a:r>
              <a:rPr lang="en-US" sz="2400" dirty="0"/>
              <a:t>;</a:t>
            </a:r>
          </a:p>
          <a:p>
            <a:r>
              <a:rPr lang="en-US" sz="2400" dirty="0"/>
              <a:t>   </a:t>
            </a:r>
            <a:br>
              <a:rPr lang="en-US" sz="2400" dirty="0"/>
            </a:br>
            <a:r>
              <a:rPr lang="en-US" sz="2400" dirty="0"/>
              <a:t>   mid = (max-min)/2;</a:t>
            </a:r>
          </a:p>
          <a:p>
            <a:r>
              <a:rPr lang="en-US" sz="2400" dirty="0"/>
              <a:t>   </a:t>
            </a:r>
            <a:br>
              <a:rPr lang="en-US" sz="2400" dirty="0"/>
            </a:br>
            <a:r>
              <a:rPr lang="en-US" sz="2400" dirty="0"/>
              <a:t>   root = new Node(</a:t>
            </a:r>
            <a:r>
              <a:rPr lang="en-US" sz="2400" dirty="0" err="1"/>
              <a:t>arr</a:t>
            </a:r>
            <a:r>
              <a:rPr lang="en-US" sz="2400" dirty="0"/>
              <a:t>[mid]);</a:t>
            </a:r>
          </a:p>
          <a:p>
            <a:r>
              <a:rPr lang="en-US" sz="2400" dirty="0"/>
              <a:t>   root-&gt;left = reconstruct(</a:t>
            </a:r>
            <a:r>
              <a:rPr lang="en-US" sz="2400" dirty="0" err="1"/>
              <a:t>arr</a:t>
            </a:r>
            <a:r>
              <a:rPr lang="en-US" sz="2400" dirty="0"/>
              <a:t>, min, mid -1) ;</a:t>
            </a:r>
          </a:p>
          <a:p>
            <a:r>
              <a:rPr lang="en-US" sz="2400" dirty="0"/>
              <a:t>   root-&gt;right = reconstruct(</a:t>
            </a:r>
            <a:r>
              <a:rPr lang="en-US" sz="2400" dirty="0" err="1"/>
              <a:t>arr</a:t>
            </a:r>
            <a:r>
              <a:rPr lang="en-US" sz="2400" dirty="0"/>
              <a:t>, mid+1, max);</a:t>
            </a:r>
          </a:p>
          <a:p>
            <a:r>
              <a:rPr lang="en-US" sz="2400" dirty="0"/>
              <a:t>   </a:t>
            </a:r>
            <a:br>
              <a:rPr lang="en-US" sz="2400" dirty="0"/>
            </a:br>
            <a:r>
              <a:rPr lang="en-US" sz="2400" dirty="0"/>
              <a:t>   return root;</a:t>
            </a:r>
          </a:p>
          <a:p>
            <a:r>
              <a:rPr lang="en-US" sz="2400" dirty="0"/>
              <a:t>}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85146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600D7-1BD2-47E4-A949-84F36D8B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Rebalancing Binary Trees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001C9-6DC4-4983-B977-D11AF7AEA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Before we code:</a:t>
            </a:r>
          </a:p>
          <a:p>
            <a:pPr lvl="1"/>
            <a:r>
              <a:rPr lang="en-US" dirty="0"/>
              <a:t>Quiz #6 </a:t>
            </a:r>
          </a:p>
          <a:p>
            <a:pPr lvl="2"/>
            <a:r>
              <a:rPr lang="en-US" dirty="0"/>
              <a:t>Due next </a:t>
            </a:r>
            <a:r>
              <a:rPr lang="en-US"/>
              <a:t>week </a:t>
            </a:r>
            <a:endParaRPr lang="en-US" smtClean="0"/>
          </a:p>
          <a:p>
            <a:pPr lvl="2"/>
            <a:r>
              <a:rPr lang="en-US" smtClean="0"/>
              <a:t>Graph </a:t>
            </a:r>
            <a:r>
              <a:rPr lang="en-US" dirty="0"/>
              <a:t>Terminology / Definitions</a:t>
            </a:r>
          </a:p>
          <a:p>
            <a:r>
              <a:rPr lang="en-US" dirty="0"/>
              <a:t>Let’s code it up:</a:t>
            </a:r>
          </a:p>
          <a:p>
            <a:pPr lvl="1"/>
            <a:r>
              <a:rPr lang="en-US" dirty="0"/>
              <a:t>We will also code up a naive function to check if our BST is unbalanced.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23756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nshawe_F202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nshawe_F2020" id="{3E729443-EF42-41F3-A241-659D98D35E2E}" vid="{AB8BE6BD-5223-4ADB-A124-8EBB7E608F2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Fanshawe_F2020</Template>
  <TotalTime>0</TotalTime>
  <Words>461</Words>
  <Application>Microsoft Office PowerPoint</Application>
  <PresentationFormat>Widescreen</PresentationFormat>
  <Paragraphs>67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Fanshawe_F2020</vt:lpstr>
      <vt:lpstr>INFO-3135</vt:lpstr>
      <vt:lpstr>Review</vt:lpstr>
      <vt:lpstr>Review</vt:lpstr>
      <vt:lpstr>Searching A Binary Search Tree</vt:lpstr>
      <vt:lpstr>Searching A Binary Search Tree</vt:lpstr>
      <vt:lpstr>Rebalancing Binary Trees</vt:lpstr>
      <vt:lpstr>Rebalancing Binary Trees</vt:lpstr>
      <vt:lpstr>Rebalancing Binary Trees</vt:lpstr>
      <vt:lpstr>Rebalancing Binary Trees</vt:lpstr>
      <vt:lpstr>Rebalancing Binary Trees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INFO-3135</dc:title>
  <dc:creator>Daniel Maclam</dc:creator>
  <cp:lastModifiedBy>Bestan Maaroof</cp:lastModifiedBy>
  <cp:revision>10</cp:revision>
  <dcterms:created xsi:type="dcterms:W3CDTF">2020-11-19T19:04:23Z</dcterms:created>
  <dcterms:modified xsi:type="dcterms:W3CDTF">2022-11-16T11:36:52Z</dcterms:modified>
</cp:coreProperties>
</file>