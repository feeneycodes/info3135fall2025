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2" r:id="rId3"/>
    <p:sldId id="257" r:id="rId4"/>
    <p:sldId id="258" r:id="rId5"/>
    <p:sldId id="259" r:id="rId6"/>
    <p:sldId id="260" r:id="rId7"/>
    <p:sldId id="261" r:id="rId8"/>
    <p:sldId id="262" r:id="rId9"/>
    <p:sldId id="263" r:id="rId10"/>
    <p:sldId id="264" r:id="rId11"/>
    <p:sldId id="266" r:id="rId12"/>
    <p:sldId id="268" r:id="rId13"/>
    <p:sldId id="267" r:id="rId14"/>
    <p:sldId id="265"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07705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96301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A8252-26A2-422C-8021-53F2FA7F3083}" type="datetimeFigureOut">
              <a:rPr lang="en-CA" smtClean="0"/>
              <a:t>2020-11-26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25508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1E4A8252-26A2-422C-8021-53F2FA7F3083}" type="datetimeFigureOut">
              <a:rPr lang="en-CA" smtClean="0"/>
              <a:t>2020-11-26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034710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1E4A8252-26A2-422C-8021-53F2FA7F3083}" type="datetimeFigureOut">
              <a:rPr lang="en-CA" smtClean="0"/>
              <a:t>2020-11-26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89477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1E4A8252-26A2-422C-8021-53F2FA7F3083}" type="datetimeFigureOut">
              <a:rPr lang="en-CA" smtClean="0"/>
              <a:t>2020-11-26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67836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A8252-26A2-422C-8021-53F2FA7F3083}" type="datetimeFigureOut">
              <a:rPr lang="en-CA" smtClean="0"/>
              <a:t>2020-11-26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28041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2020-11-26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439465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2020-11-26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493598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17923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69705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39815" y="182245"/>
            <a:ext cx="9313985" cy="830629"/>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508943"/>
            <a:ext cx="10515600" cy="4554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A8252-26A2-422C-8021-53F2FA7F3083}" type="datetimeFigureOut">
              <a:rPr lang="en-CA" smtClean="0"/>
              <a:t>2020-11-26</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8DDE3-37DC-4FC1-86DE-98D0EA336BFE}" type="slidenum">
              <a:rPr lang="en-CA" smtClean="0"/>
              <a:t>‹#›</a:t>
            </a:fld>
            <a:endParaRPr lang="en-CA"/>
          </a:p>
        </p:txBody>
      </p:sp>
    </p:spTree>
    <p:extLst>
      <p:ext uri="{BB962C8B-B14F-4D97-AF65-F5344CB8AC3E}">
        <p14:creationId xmlns:p14="http://schemas.microsoft.com/office/powerpoint/2010/main" val="177197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9836-32A1-4AC4-80D2-C4EA531980CF}"/>
              </a:ext>
            </a:extLst>
          </p:cNvPr>
          <p:cNvSpPr>
            <a:spLocks noGrp="1"/>
          </p:cNvSpPr>
          <p:nvPr>
            <p:ph type="ctrTitle"/>
          </p:nvPr>
        </p:nvSpPr>
        <p:spPr/>
        <p:txBody>
          <a:bodyPr/>
          <a:lstStyle/>
          <a:p>
            <a:r>
              <a:rPr lang="en-US" dirty="0"/>
              <a:t>Big-O Notation</a:t>
            </a:r>
            <a:endParaRPr lang="en-CA" dirty="0"/>
          </a:p>
        </p:txBody>
      </p:sp>
      <p:sp>
        <p:nvSpPr>
          <p:cNvPr id="3" name="Subtitle 2">
            <a:extLst>
              <a:ext uri="{FF2B5EF4-FFF2-40B4-BE49-F238E27FC236}">
                <a16:creationId xmlns:a16="http://schemas.microsoft.com/office/drawing/2014/main" id="{0A39B5C3-DA62-4CBA-9B27-6F6A1174C34B}"/>
              </a:ext>
            </a:extLst>
          </p:cNvPr>
          <p:cNvSpPr>
            <a:spLocks noGrp="1"/>
          </p:cNvSpPr>
          <p:nvPr>
            <p:ph type="subTitle" idx="1"/>
          </p:nvPr>
        </p:nvSpPr>
        <p:spPr/>
        <p:txBody>
          <a:bodyPr/>
          <a:lstStyle/>
          <a:p>
            <a:r>
              <a:rPr lang="en-US" dirty="0"/>
              <a:t>INFO-3135</a:t>
            </a:r>
            <a:endParaRPr lang="en-CA" dirty="0"/>
          </a:p>
        </p:txBody>
      </p:sp>
    </p:spTree>
    <p:extLst>
      <p:ext uri="{BB962C8B-B14F-4D97-AF65-F5344CB8AC3E}">
        <p14:creationId xmlns:p14="http://schemas.microsoft.com/office/powerpoint/2010/main" val="57484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p:txBody>
          <a:bodyPr>
            <a:normAutofit fontScale="92500"/>
          </a:bodyPr>
          <a:lstStyle/>
          <a:p>
            <a:r>
              <a:rPr lang="en-CA" dirty="0"/>
              <a:t>Big O notation is used in Computer Science to describe the performance or complexity of an algorithm. </a:t>
            </a:r>
          </a:p>
          <a:p>
            <a:r>
              <a:rPr lang="en-CA" dirty="0"/>
              <a:t>Big O specifically describes the worst-case scenario, and can be used to describe the execution time required or the space used (e.g. in memory or on disk) by an algorithm.</a:t>
            </a:r>
          </a:p>
          <a:p>
            <a:r>
              <a:rPr lang="en-CA" dirty="0"/>
              <a:t>Anyone who doesn’t have a grounding in Mathematics will hit a wall when they reached mention of O(N log N) or other seemingly crazy syntax.</a:t>
            </a:r>
          </a:p>
          <a:p>
            <a:r>
              <a:rPr lang="en-CA" dirty="0"/>
              <a:t> The best way to understand Big O thoroughly is to examine some examples in code. </a:t>
            </a:r>
          </a:p>
          <a:p>
            <a:r>
              <a:rPr lang="en-CA" dirty="0"/>
              <a:t>We will look at some common orders of growth along with descriptions and examples where possible</a:t>
            </a:r>
          </a:p>
        </p:txBody>
      </p:sp>
    </p:spTree>
    <p:extLst>
      <p:ext uri="{BB962C8B-B14F-4D97-AF65-F5344CB8AC3E}">
        <p14:creationId xmlns:p14="http://schemas.microsoft.com/office/powerpoint/2010/main" val="414247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p:txBody>
          <a:bodyPr/>
          <a:lstStyle/>
          <a:p>
            <a:pPr marL="0" indent="0">
              <a:buNone/>
            </a:pPr>
            <a:r>
              <a:rPr lang="en-CA" sz="3600" dirty="0"/>
              <a:t>O(1)</a:t>
            </a:r>
          </a:p>
          <a:p>
            <a:r>
              <a:rPr lang="en-CA" dirty="0"/>
              <a:t>O(1) describes an algorithm that will always execute in the same time (or space) regardless of the size of the input data set.</a:t>
            </a:r>
          </a:p>
          <a:p>
            <a:endParaRPr lang="en-CA" dirty="0"/>
          </a:p>
          <a:p>
            <a:pPr marL="0" indent="0">
              <a:buNone/>
            </a:pPr>
            <a:r>
              <a:rPr lang="en-CA" dirty="0">
                <a:solidFill>
                  <a:srgbClr val="0070C0"/>
                </a:solidFill>
              </a:rPr>
              <a:t>bool </a:t>
            </a:r>
            <a:r>
              <a:rPr lang="en-CA" dirty="0" err="1">
                <a:solidFill>
                  <a:srgbClr val="0070C0"/>
                </a:solidFill>
              </a:rPr>
              <a:t>IsFirstElementNull</a:t>
            </a:r>
            <a:r>
              <a:rPr lang="en-CA" dirty="0">
                <a:solidFill>
                  <a:srgbClr val="0070C0"/>
                </a:solidFill>
              </a:rPr>
              <a:t>(</a:t>
            </a:r>
            <a:r>
              <a:rPr lang="en-CA" dirty="0" err="1">
                <a:solidFill>
                  <a:srgbClr val="0070C0"/>
                </a:solidFill>
              </a:rPr>
              <a:t>IList</a:t>
            </a:r>
            <a:r>
              <a:rPr lang="en-CA" dirty="0">
                <a:solidFill>
                  <a:srgbClr val="0070C0"/>
                </a:solidFill>
              </a:rPr>
              <a:t>&lt;string&gt; elements)</a:t>
            </a:r>
          </a:p>
          <a:p>
            <a:pPr marL="0" indent="0">
              <a:buNone/>
            </a:pPr>
            <a:r>
              <a:rPr lang="en-CA" dirty="0">
                <a:solidFill>
                  <a:srgbClr val="0070C0"/>
                </a:solidFill>
              </a:rPr>
              <a:t>{</a:t>
            </a:r>
          </a:p>
          <a:p>
            <a:pPr marL="0" indent="0">
              <a:buNone/>
            </a:pPr>
            <a:r>
              <a:rPr lang="en-CA" dirty="0">
                <a:solidFill>
                  <a:srgbClr val="0070C0"/>
                </a:solidFill>
              </a:rPr>
              <a:t>    return elements[0] == null;</a:t>
            </a:r>
          </a:p>
          <a:p>
            <a:pPr marL="0" indent="0">
              <a:buNone/>
            </a:pPr>
            <a:r>
              <a:rPr lang="en-CA" dirty="0">
                <a:solidFill>
                  <a:srgbClr val="0070C0"/>
                </a:solidFill>
              </a:rPr>
              <a:t>}</a:t>
            </a:r>
          </a:p>
        </p:txBody>
      </p:sp>
    </p:spTree>
    <p:extLst>
      <p:ext uri="{BB962C8B-B14F-4D97-AF65-F5344CB8AC3E}">
        <p14:creationId xmlns:p14="http://schemas.microsoft.com/office/powerpoint/2010/main" val="3393573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a:xfrm>
            <a:off x="838200" y="1508943"/>
            <a:ext cx="10515600" cy="4919566"/>
          </a:xfrm>
        </p:spPr>
        <p:txBody>
          <a:bodyPr>
            <a:normAutofit fontScale="70000" lnSpcReduction="20000"/>
          </a:bodyPr>
          <a:lstStyle/>
          <a:p>
            <a:pPr marL="0" indent="0">
              <a:buNone/>
            </a:pPr>
            <a:r>
              <a:rPr lang="en-CA" sz="5100" dirty="0"/>
              <a:t>O(N)</a:t>
            </a:r>
          </a:p>
          <a:p>
            <a:r>
              <a:rPr lang="en-CA" dirty="0"/>
              <a:t>O(N) describes an algorithm whose performance will grow linearly and in direct proportion to the size of the input data set. The example below also demonstrates how Big O favours the worst-case performance scenario; a matching string could be found during any iteration of the for loop and the function would return early, but Big O notation will always assume the upper limit where the algorithm will perform the maximum number of iterations.</a:t>
            </a:r>
          </a:p>
          <a:p>
            <a:endParaRPr lang="en-CA" dirty="0"/>
          </a:p>
          <a:p>
            <a:pPr marL="0" indent="0">
              <a:buNone/>
            </a:pPr>
            <a:r>
              <a:rPr lang="en-CA" dirty="0">
                <a:solidFill>
                  <a:srgbClr val="0070C0"/>
                </a:solidFill>
              </a:rPr>
              <a:t>bool </a:t>
            </a:r>
            <a:r>
              <a:rPr lang="en-CA" dirty="0" err="1">
                <a:solidFill>
                  <a:srgbClr val="0070C0"/>
                </a:solidFill>
              </a:rPr>
              <a:t>ContainsValue</a:t>
            </a:r>
            <a:r>
              <a:rPr lang="en-CA" dirty="0">
                <a:solidFill>
                  <a:srgbClr val="0070C0"/>
                </a:solidFill>
              </a:rPr>
              <a:t>(</a:t>
            </a:r>
            <a:r>
              <a:rPr lang="en-CA" dirty="0" err="1">
                <a:solidFill>
                  <a:srgbClr val="0070C0"/>
                </a:solidFill>
              </a:rPr>
              <a:t>IList</a:t>
            </a:r>
            <a:r>
              <a:rPr lang="en-CA" dirty="0">
                <a:solidFill>
                  <a:srgbClr val="0070C0"/>
                </a:solidFill>
              </a:rPr>
              <a:t>&lt;string&gt; elements, string value)</a:t>
            </a:r>
          </a:p>
          <a:p>
            <a:pPr marL="0" indent="0">
              <a:buNone/>
            </a:pPr>
            <a:r>
              <a:rPr lang="en-CA" dirty="0">
                <a:solidFill>
                  <a:srgbClr val="0070C0"/>
                </a:solidFill>
              </a:rPr>
              <a:t>{</a:t>
            </a:r>
          </a:p>
          <a:p>
            <a:pPr marL="0" indent="0">
              <a:buNone/>
            </a:pPr>
            <a:r>
              <a:rPr lang="en-CA" dirty="0">
                <a:solidFill>
                  <a:srgbClr val="0070C0"/>
                </a:solidFill>
              </a:rPr>
              <a:t>    </a:t>
            </a:r>
            <a:r>
              <a:rPr lang="en-CA" dirty="0" err="1">
                <a:solidFill>
                  <a:srgbClr val="0070C0"/>
                </a:solidFill>
              </a:rPr>
              <a:t>foreach</a:t>
            </a:r>
            <a:r>
              <a:rPr lang="en-CA" dirty="0">
                <a:solidFill>
                  <a:srgbClr val="0070C0"/>
                </a:solidFill>
              </a:rPr>
              <a:t> (</a:t>
            </a:r>
            <a:r>
              <a:rPr lang="en-CA" dirty="0" err="1">
                <a:solidFill>
                  <a:srgbClr val="0070C0"/>
                </a:solidFill>
              </a:rPr>
              <a:t>var</a:t>
            </a:r>
            <a:r>
              <a:rPr lang="en-CA" dirty="0">
                <a:solidFill>
                  <a:srgbClr val="0070C0"/>
                </a:solidFill>
              </a:rPr>
              <a:t> element in elements)</a:t>
            </a:r>
          </a:p>
          <a:p>
            <a:pPr marL="0" indent="0">
              <a:buNone/>
            </a:pPr>
            <a:r>
              <a:rPr lang="en-CA" dirty="0">
                <a:solidFill>
                  <a:srgbClr val="0070C0"/>
                </a:solidFill>
              </a:rPr>
              <a:t>    {</a:t>
            </a:r>
          </a:p>
          <a:p>
            <a:pPr marL="0" indent="0">
              <a:buNone/>
            </a:pPr>
            <a:r>
              <a:rPr lang="en-CA" dirty="0">
                <a:solidFill>
                  <a:srgbClr val="0070C0"/>
                </a:solidFill>
              </a:rPr>
              <a:t>        if (element == value) return true;</a:t>
            </a:r>
          </a:p>
          <a:p>
            <a:pPr marL="0" indent="0">
              <a:buNone/>
            </a:pPr>
            <a:r>
              <a:rPr lang="en-CA" dirty="0">
                <a:solidFill>
                  <a:srgbClr val="0070C0"/>
                </a:solidFill>
              </a:rPr>
              <a:t>    }</a:t>
            </a:r>
          </a:p>
          <a:p>
            <a:pPr marL="0" indent="0">
              <a:buNone/>
            </a:pPr>
            <a:r>
              <a:rPr lang="en-CA" dirty="0">
                <a:solidFill>
                  <a:srgbClr val="0070C0"/>
                </a:solidFill>
              </a:rPr>
              <a:t>    return false;</a:t>
            </a:r>
          </a:p>
          <a:p>
            <a:pPr marL="0" indent="0">
              <a:buNone/>
            </a:pPr>
            <a:r>
              <a:rPr lang="en-CA" dirty="0">
                <a:solidFill>
                  <a:srgbClr val="0070C0"/>
                </a:solidFill>
              </a:rPr>
              <a:t>}</a:t>
            </a:r>
          </a:p>
        </p:txBody>
      </p:sp>
    </p:spTree>
    <p:extLst>
      <p:ext uri="{BB962C8B-B14F-4D97-AF65-F5344CB8AC3E}">
        <p14:creationId xmlns:p14="http://schemas.microsoft.com/office/powerpoint/2010/main" val="1138047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a:xfrm>
            <a:off x="838200" y="1403927"/>
            <a:ext cx="10515600" cy="5227782"/>
          </a:xfrm>
        </p:spPr>
        <p:txBody>
          <a:bodyPr>
            <a:noAutofit/>
          </a:bodyPr>
          <a:lstStyle/>
          <a:p>
            <a:pPr marL="0" indent="0">
              <a:buNone/>
            </a:pPr>
            <a:r>
              <a:rPr lang="en-CA" dirty="0"/>
              <a:t>O(N</a:t>
            </a:r>
            <a:r>
              <a:rPr lang="en-CA" baseline="30000" dirty="0"/>
              <a:t>2</a:t>
            </a:r>
            <a:r>
              <a:rPr lang="en-CA" dirty="0"/>
              <a:t>)</a:t>
            </a:r>
          </a:p>
          <a:p>
            <a:r>
              <a:rPr lang="en-CA" sz="1800" dirty="0"/>
              <a:t>O(N</a:t>
            </a:r>
            <a:r>
              <a:rPr lang="en-CA" sz="1800" baseline="30000" dirty="0"/>
              <a:t>2</a:t>
            </a:r>
            <a:r>
              <a:rPr lang="en-CA" sz="1800" dirty="0"/>
              <a:t>) represents an algorithm whose performance is directly proportional to the square of the size of the input data set. This is common with algorithms that involve nested iterations over the data set. Deeper nested iterations will result in O(N</a:t>
            </a:r>
            <a:r>
              <a:rPr lang="en-CA" sz="1800" baseline="30000" dirty="0"/>
              <a:t>3</a:t>
            </a:r>
            <a:r>
              <a:rPr lang="en-CA" sz="1800" dirty="0"/>
              <a:t>), O(N</a:t>
            </a:r>
            <a:r>
              <a:rPr lang="en-CA" sz="1800" baseline="30000" dirty="0"/>
              <a:t>4</a:t>
            </a:r>
            <a:r>
              <a:rPr lang="en-CA" sz="1800" dirty="0"/>
              <a:t>) etc.</a:t>
            </a:r>
          </a:p>
          <a:p>
            <a:pPr marL="0" indent="0">
              <a:buNone/>
            </a:pPr>
            <a:r>
              <a:rPr lang="en-CA" sz="1800" dirty="0">
                <a:solidFill>
                  <a:srgbClr val="0070C0"/>
                </a:solidFill>
              </a:rPr>
              <a:t>bool </a:t>
            </a:r>
            <a:r>
              <a:rPr lang="en-CA" sz="1800" dirty="0" err="1">
                <a:solidFill>
                  <a:srgbClr val="0070C0"/>
                </a:solidFill>
              </a:rPr>
              <a:t>ContainsDuplicates</a:t>
            </a:r>
            <a:r>
              <a:rPr lang="en-CA" sz="1800" dirty="0">
                <a:solidFill>
                  <a:srgbClr val="0070C0"/>
                </a:solidFill>
              </a:rPr>
              <a:t>(</a:t>
            </a:r>
            <a:r>
              <a:rPr lang="en-CA" sz="1800" dirty="0" err="1">
                <a:solidFill>
                  <a:srgbClr val="0070C0"/>
                </a:solidFill>
              </a:rPr>
              <a:t>IList</a:t>
            </a:r>
            <a:r>
              <a:rPr lang="en-CA" sz="1800" dirty="0">
                <a:solidFill>
                  <a:srgbClr val="0070C0"/>
                </a:solidFill>
              </a:rPr>
              <a:t>&lt;string&gt; elements){</a:t>
            </a:r>
          </a:p>
          <a:p>
            <a:pPr marL="0" indent="0">
              <a:buNone/>
            </a:pPr>
            <a:r>
              <a:rPr lang="en-CA" sz="1800" dirty="0">
                <a:solidFill>
                  <a:srgbClr val="0070C0"/>
                </a:solidFill>
              </a:rPr>
              <a:t>    for (</a:t>
            </a:r>
            <a:r>
              <a:rPr lang="en-CA" sz="1800" dirty="0" err="1">
                <a:solidFill>
                  <a:srgbClr val="0070C0"/>
                </a:solidFill>
              </a:rPr>
              <a:t>var</a:t>
            </a:r>
            <a:r>
              <a:rPr lang="en-CA" sz="1800" dirty="0">
                <a:solidFill>
                  <a:srgbClr val="0070C0"/>
                </a:solidFill>
              </a:rPr>
              <a:t> outer = 0; outer &lt; </a:t>
            </a:r>
            <a:r>
              <a:rPr lang="en-CA" sz="1800" dirty="0" err="1">
                <a:solidFill>
                  <a:srgbClr val="0070C0"/>
                </a:solidFill>
              </a:rPr>
              <a:t>elements.Count</a:t>
            </a:r>
            <a:r>
              <a:rPr lang="en-CA" sz="1800" dirty="0">
                <a:solidFill>
                  <a:srgbClr val="0070C0"/>
                </a:solidFill>
              </a:rPr>
              <a:t>; outer++){</a:t>
            </a:r>
          </a:p>
          <a:p>
            <a:pPr marL="0" indent="0">
              <a:buNone/>
            </a:pPr>
            <a:r>
              <a:rPr lang="en-CA" sz="1800" dirty="0">
                <a:solidFill>
                  <a:srgbClr val="0070C0"/>
                </a:solidFill>
              </a:rPr>
              <a:t>        for (</a:t>
            </a:r>
            <a:r>
              <a:rPr lang="en-CA" sz="1800" dirty="0" err="1">
                <a:solidFill>
                  <a:srgbClr val="0070C0"/>
                </a:solidFill>
              </a:rPr>
              <a:t>var</a:t>
            </a:r>
            <a:r>
              <a:rPr lang="en-CA" sz="1800" dirty="0">
                <a:solidFill>
                  <a:srgbClr val="0070C0"/>
                </a:solidFill>
              </a:rPr>
              <a:t> inner = 0; inner &lt; </a:t>
            </a:r>
            <a:r>
              <a:rPr lang="en-CA" sz="1800" dirty="0" err="1">
                <a:solidFill>
                  <a:srgbClr val="0070C0"/>
                </a:solidFill>
              </a:rPr>
              <a:t>elements.Count</a:t>
            </a:r>
            <a:r>
              <a:rPr lang="en-CA" sz="1800" dirty="0">
                <a:solidFill>
                  <a:srgbClr val="0070C0"/>
                </a:solidFill>
              </a:rPr>
              <a:t>; inner++)</a:t>
            </a:r>
          </a:p>
          <a:p>
            <a:pPr marL="0" indent="0">
              <a:buNone/>
            </a:pPr>
            <a:r>
              <a:rPr lang="en-CA" sz="1800" dirty="0">
                <a:solidFill>
                  <a:srgbClr val="0070C0"/>
                </a:solidFill>
              </a:rPr>
              <a:t>        {    // Don't compare with self</a:t>
            </a:r>
          </a:p>
          <a:p>
            <a:pPr marL="0" indent="0">
              <a:buNone/>
            </a:pPr>
            <a:r>
              <a:rPr lang="en-CA" sz="1800" dirty="0">
                <a:solidFill>
                  <a:srgbClr val="0070C0"/>
                </a:solidFill>
              </a:rPr>
              <a:t>            if (outer == inner) continue;</a:t>
            </a:r>
          </a:p>
          <a:p>
            <a:pPr marL="0" indent="0">
              <a:buNone/>
            </a:pPr>
            <a:r>
              <a:rPr lang="en-CA" sz="1800" dirty="0">
                <a:solidFill>
                  <a:srgbClr val="0070C0"/>
                </a:solidFill>
              </a:rPr>
              <a:t>            if (elements[outer] == elements[inner]) return true;</a:t>
            </a:r>
          </a:p>
          <a:p>
            <a:pPr marL="0" indent="0">
              <a:buNone/>
            </a:pPr>
            <a:r>
              <a:rPr lang="en-CA" sz="1800" dirty="0">
                <a:solidFill>
                  <a:srgbClr val="0070C0"/>
                </a:solidFill>
              </a:rPr>
              <a:t>        }</a:t>
            </a:r>
          </a:p>
          <a:p>
            <a:pPr marL="0" indent="0">
              <a:buNone/>
            </a:pPr>
            <a:r>
              <a:rPr lang="en-CA" sz="1800" dirty="0">
                <a:solidFill>
                  <a:srgbClr val="0070C0"/>
                </a:solidFill>
              </a:rPr>
              <a:t>    }</a:t>
            </a:r>
          </a:p>
          <a:p>
            <a:pPr marL="0" indent="0">
              <a:buNone/>
            </a:pPr>
            <a:r>
              <a:rPr lang="en-CA" sz="1800" dirty="0">
                <a:solidFill>
                  <a:srgbClr val="0070C0"/>
                </a:solidFill>
              </a:rPr>
              <a:t>    return false;</a:t>
            </a:r>
          </a:p>
          <a:p>
            <a:pPr marL="0" indent="0">
              <a:buNone/>
            </a:pPr>
            <a:r>
              <a:rPr lang="en-CA" sz="1800" dirty="0">
                <a:solidFill>
                  <a:srgbClr val="0070C0"/>
                </a:solidFill>
              </a:rPr>
              <a:t>}</a:t>
            </a:r>
          </a:p>
        </p:txBody>
      </p:sp>
    </p:spTree>
    <p:extLst>
      <p:ext uri="{BB962C8B-B14F-4D97-AF65-F5344CB8AC3E}">
        <p14:creationId xmlns:p14="http://schemas.microsoft.com/office/powerpoint/2010/main" val="948100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p:txBody>
          <a:bodyPr>
            <a:normAutofit fontScale="92500" lnSpcReduction="10000"/>
          </a:bodyPr>
          <a:lstStyle/>
          <a:p>
            <a:pPr marL="0" indent="0">
              <a:buNone/>
            </a:pPr>
            <a:r>
              <a:rPr lang="en-CA" dirty="0"/>
              <a:t>O(2^N)</a:t>
            </a:r>
          </a:p>
          <a:p>
            <a:r>
              <a:rPr lang="en-CA" dirty="0"/>
              <a:t>O(2^N) denotes an algorithm whose growth doubles with each addition to the input data set. The growth curve of an O(2^N) function is exponential - starting off very shallow, then rising meteorically. An example of an O(2^N) function is the recursive calculation of Fibonacci numbers:</a:t>
            </a:r>
          </a:p>
          <a:p>
            <a:endParaRPr lang="en-CA" dirty="0"/>
          </a:p>
          <a:p>
            <a:pPr marL="0" indent="0">
              <a:buNone/>
            </a:pPr>
            <a:r>
              <a:rPr lang="en-CA" dirty="0" err="1">
                <a:solidFill>
                  <a:srgbClr val="0070C0"/>
                </a:solidFill>
              </a:rPr>
              <a:t>int</a:t>
            </a:r>
            <a:r>
              <a:rPr lang="en-CA" dirty="0">
                <a:solidFill>
                  <a:srgbClr val="0070C0"/>
                </a:solidFill>
              </a:rPr>
              <a:t> Fibonacci(</a:t>
            </a:r>
            <a:r>
              <a:rPr lang="en-CA" dirty="0" err="1">
                <a:solidFill>
                  <a:srgbClr val="0070C0"/>
                </a:solidFill>
              </a:rPr>
              <a:t>int</a:t>
            </a:r>
            <a:r>
              <a:rPr lang="en-CA" dirty="0">
                <a:solidFill>
                  <a:srgbClr val="0070C0"/>
                </a:solidFill>
              </a:rPr>
              <a:t> number)</a:t>
            </a:r>
          </a:p>
          <a:p>
            <a:pPr marL="0" indent="0">
              <a:buNone/>
            </a:pPr>
            <a:r>
              <a:rPr lang="en-CA" dirty="0">
                <a:solidFill>
                  <a:srgbClr val="0070C0"/>
                </a:solidFill>
              </a:rPr>
              <a:t>{</a:t>
            </a:r>
          </a:p>
          <a:p>
            <a:pPr marL="0" indent="0">
              <a:buNone/>
            </a:pPr>
            <a:r>
              <a:rPr lang="en-CA" dirty="0">
                <a:solidFill>
                  <a:srgbClr val="0070C0"/>
                </a:solidFill>
              </a:rPr>
              <a:t>    if (number &lt;= 1) return number;</a:t>
            </a:r>
          </a:p>
          <a:p>
            <a:pPr marL="0" indent="0">
              <a:buNone/>
            </a:pPr>
            <a:r>
              <a:rPr lang="en-CA" dirty="0">
                <a:solidFill>
                  <a:srgbClr val="0070C0"/>
                </a:solidFill>
              </a:rPr>
              <a:t>    return Fibonacci(number - 2) + Fibonacci(number - 1);</a:t>
            </a:r>
          </a:p>
          <a:p>
            <a:pPr marL="0" indent="0">
              <a:buNone/>
            </a:pPr>
            <a:r>
              <a:rPr lang="en-CA" dirty="0">
                <a:solidFill>
                  <a:srgbClr val="0070C0"/>
                </a:solidFill>
              </a:rPr>
              <a:t>}</a:t>
            </a:r>
          </a:p>
        </p:txBody>
      </p:sp>
    </p:spTree>
    <p:extLst>
      <p:ext uri="{BB962C8B-B14F-4D97-AF65-F5344CB8AC3E}">
        <p14:creationId xmlns:p14="http://schemas.microsoft.com/office/powerpoint/2010/main" val="4251423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Logarithms</a:t>
            </a:r>
          </a:p>
        </p:txBody>
      </p:sp>
      <p:sp>
        <p:nvSpPr>
          <p:cNvPr id="3" name="Content Placeholder 2"/>
          <p:cNvSpPr>
            <a:spLocks noGrp="1"/>
          </p:cNvSpPr>
          <p:nvPr>
            <p:ph idx="1"/>
          </p:nvPr>
        </p:nvSpPr>
        <p:spPr>
          <a:xfrm>
            <a:off x="838200" y="1508943"/>
            <a:ext cx="10515600" cy="4873384"/>
          </a:xfrm>
        </p:spPr>
        <p:txBody>
          <a:bodyPr>
            <a:normAutofit/>
          </a:bodyPr>
          <a:lstStyle/>
          <a:p>
            <a:r>
              <a:rPr lang="en-CA" sz="2400" dirty="0"/>
              <a:t>A Binary search is a technique used to search sorted data sets. It works by selecting the middle element of the data set, essentially the median, and compares it against a target value. </a:t>
            </a:r>
          </a:p>
          <a:p>
            <a:r>
              <a:rPr lang="en-CA" sz="2400" dirty="0"/>
              <a:t>If the values match it will return success. </a:t>
            </a:r>
          </a:p>
          <a:p>
            <a:r>
              <a:rPr lang="en-CA" sz="2400" dirty="0"/>
              <a:t>If the target value is higher than the value of the probe element it will take the upper half of the data set and perform the same operation against it. </a:t>
            </a:r>
          </a:p>
          <a:p>
            <a:r>
              <a:rPr lang="en-CA" sz="2400" dirty="0"/>
              <a:t>Likewise, if the target value is lower than the value of the probe element it will perform the operation against the lower half. </a:t>
            </a:r>
          </a:p>
          <a:p>
            <a:r>
              <a:rPr lang="en-CA" sz="2400" dirty="0"/>
              <a:t>It will continue to halve the data set with each iteration until the value has been found or until it can no longer split the data set.</a:t>
            </a:r>
          </a:p>
          <a:p>
            <a:r>
              <a:rPr lang="en-CA" dirty="0">
                <a:solidFill>
                  <a:srgbClr val="0070C0"/>
                </a:solidFill>
              </a:rPr>
              <a:t>This type of algorithm is described as O(log N)</a:t>
            </a:r>
          </a:p>
          <a:p>
            <a:endParaRPr lang="en-CA" dirty="0"/>
          </a:p>
        </p:txBody>
      </p:sp>
    </p:spTree>
    <p:extLst>
      <p:ext uri="{BB962C8B-B14F-4D97-AF65-F5344CB8AC3E}">
        <p14:creationId xmlns:p14="http://schemas.microsoft.com/office/powerpoint/2010/main" val="262923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O(log N)</a:t>
            </a:r>
          </a:p>
        </p:txBody>
      </p:sp>
      <p:sp>
        <p:nvSpPr>
          <p:cNvPr id="3" name="Content Placeholder 2"/>
          <p:cNvSpPr>
            <a:spLocks noGrp="1"/>
          </p:cNvSpPr>
          <p:nvPr>
            <p:ph idx="1"/>
          </p:nvPr>
        </p:nvSpPr>
        <p:spPr/>
        <p:txBody>
          <a:bodyPr>
            <a:normAutofit lnSpcReduction="10000"/>
          </a:bodyPr>
          <a:lstStyle/>
          <a:p>
            <a:r>
              <a:rPr lang="en-CA" dirty="0"/>
              <a:t>The iterative halving of data sets described in the binary search example produces a growth curve that peaks at the beginning and slowly flattens out as the size of the data sets increase </a:t>
            </a:r>
          </a:p>
          <a:p>
            <a:r>
              <a:rPr lang="en-CA" dirty="0"/>
              <a:t>e.g. an input data set containing 10 items takes one second to complete, a data set containing 100 items takes two seconds, and a data set containing 1000 items will take three seconds. </a:t>
            </a:r>
          </a:p>
          <a:p>
            <a:r>
              <a:rPr lang="en-CA" dirty="0"/>
              <a:t>Doubling the size of the input data set has little effect on its growth as after a single iteration of the algorithm the data set will be halved and therefore on a par with an input data set half the size. </a:t>
            </a:r>
          </a:p>
          <a:p>
            <a:r>
              <a:rPr lang="en-CA" dirty="0"/>
              <a:t>This makes algorithms like binary search extremely efficient when dealing with large data sets.</a:t>
            </a:r>
          </a:p>
        </p:txBody>
      </p:sp>
    </p:spTree>
    <p:extLst>
      <p:ext uri="{BB962C8B-B14F-4D97-AF65-F5344CB8AC3E}">
        <p14:creationId xmlns:p14="http://schemas.microsoft.com/office/powerpoint/2010/main" val="389425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 another Perspective</a:t>
            </a:r>
          </a:p>
        </p:txBody>
      </p:sp>
      <p:sp>
        <p:nvSpPr>
          <p:cNvPr id="3" name="Content Placeholder 2"/>
          <p:cNvSpPr>
            <a:spLocks noGrp="1"/>
          </p:cNvSpPr>
          <p:nvPr>
            <p:ph idx="1"/>
          </p:nvPr>
        </p:nvSpPr>
        <p:spPr/>
        <p:txBody>
          <a:bodyPr/>
          <a:lstStyle/>
          <a:p>
            <a:pPr marL="0" indent="0">
              <a:buNone/>
            </a:pPr>
            <a:r>
              <a:rPr lang="en-CA"/>
              <a:t>O(n)</a:t>
            </a:r>
            <a:endParaRPr lang="en-CA" dirty="0"/>
          </a:p>
          <a:p>
            <a:pPr marL="0" indent="0">
              <a:buNone/>
            </a:pPr>
            <a:r>
              <a:rPr lang="en-CA" dirty="0"/>
              <a:t>Linear time</a:t>
            </a:r>
          </a:p>
          <a:p>
            <a:r>
              <a:rPr lang="en-CA" dirty="0"/>
              <a:t>An algorithm with complexity T(n) = n -1. </a:t>
            </a:r>
          </a:p>
          <a:p>
            <a:r>
              <a:rPr lang="en-CA" dirty="0"/>
              <a:t>Using Big O notation this can be written as T(n) ∊ O(n). </a:t>
            </a:r>
          </a:p>
          <a:p>
            <a:r>
              <a:rPr lang="en-CA" dirty="0"/>
              <a:t>An algorithm with T(n) ∊ O(n) is said to have linear time complexity.</a:t>
            </a:r>
          </a:p>
          <a:p>
            <a:endParaRPr lang="en-CA" dirty="0"/>
          </a:p>
        </p:txBody>
      </p:sp>
    </p:spTree>
    <p:extLst>
      <p:ext uri="{BB962C8B-B14F-4D97-AF65-F5344CB8AC3E}">
        <p14:creationId xmlns:p14="http://schemas.microsoft.com/office/powerpoint/2010/main" val="2569803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p:txBody>
          <a:bodyPr/>
          <a:lstStyle/>
          <a:p>
            <a:pPr marL="0" indent="0">
              <a:buNone/>
            </a:pPr>
            <a:r>
              <a:rPr lang="en-CA" dirty="0"/>
              <a:t>O(n</a:t>
            </a:r>
            <a:r>
              <a:rPr lang="en-CA" baseline="30000" dirty="0"/>
              <a:t>2</a:t>
            </a:r>
            <a:r>
              <a:rPr lang="en-CA" dirty="0"/>
              <a:t>)</a:t>
            </a:r>
          </a:p>
          <a:p>
            <a:pPr marL="0" indent="0">
              <a:buNone/>
            </a:pPr>
            <a:r>
              <a:rPr lang="en-CA" dirty="0"/>
              <a:t>Quadratic time</a:t>
            </a:r>
          </a:p>
          <a:p>
            <a:r>
              <a:rPr lang="en-CA" dirty="0"/>
              <a:t>An algorithm with time complexity of T(n) = n2/2 - n/2. </a:t>
            </a:r>
          </a:p>
          <a:p>
            <a:r>
              <a:rPr lang="en-CA" dirty="0"/>
              <a:t>With Big O notation, this becomes T(n) ∊ O(n</a:t>
            </a:r>
            <a:r>
              <a:rPr lang="en-CA" baseline="30000" dirty="0"/>
              <a:t>2</a:t>
            </a:r>
            <a:r>
              <a:rPr lang="en-CA" dirty="0"/>
              <a:t>), and we say that the algorithm has quadratic time complexity.</a:t>
            </a:r>
          </a:p>
        </p:txBody>
      </p:sp>
    </p:spTree>
    <p:extLst>
      <p:ext uri="{BB962C8B-B14F-4D97-AF65-F5344CB8AC3E}">
        <p14:creationId xmlns:p14="http://schemas.microsoft.com/office/powerpoint/2010/main" val="18269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a:xfrm>
            <a:off x="514927" y="2016943"/>
            <a:ext cx="3364346" cy="874039"/>
          </a:xfrm>
        </p:spPr>
        <p:txBody>
          <a:bodyPr/>
          <a:lstStyle/>
          <a:p>
            <a:pPr marL="0" indent="0">
              <a:buNone/>
            </a:pPr>
            <a:r>
              <a:rPr lang="en-CA" dirty="0"/>
              <a:t>Linear vs Quadratic</a:t>
            </a:r>
          </a:p>
        </p:txBody>
      </p:sp>
      <p:pic>
        <p:nvPicPr>
          <p:cNvPr id="4" name="Picture 3"/>
          <p:cNvPicPr>
            <a:picLocks noChangeAspect="1"/>
          </p:cNvPicPr>
          <p:nvPr/>
        </p:nvPicPr>
        <p:blipFill>
          <a:blip r:embed="rId2"/>
          <a:stretch>
            <a:fillRect/>
          </a:stretch>
        </p:blipFill>
        <p:spPr>
          <a:xfrm>
            <a:off x="4185817" y="1672420"/>
            <a:ext cx="6990183" cy="4668845"/>
          </a:xfrm>
          <a:prstGeom prst="rect">
            <a:avLst/>
          </a:prstGeom>
        </p:spPr>
      </p:pic>
    </p:spTree>
    <p:extLst>
      <p:ext uri="{BB962C8B-B14F-4D97-AF65-F5344CB8AC3E}">
        <p14:creationId xmlns:p14="http://schemas.microsoft.com/office/powerpoint/2010/main" val="1728636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a:xfrm>
            <a:off x="211015" y="2922107"/>
            <a:ext cx="3657599" cy="680075"/>
          </a:xfrm>
        </p:spPr>
        <p:txBody>
          <a:bodyPr/>
          <a:lstStyle/>
          <a:p>
            <a:r>
              <a:rPr lang="en-CA" dirty="0"/>
              <a:t>Linear vs Logarithmic</a:t>
            </a:r>
          </a:p>
        </p:txBody>
      </p:sp>
      <p:pic>
        <p:nvPicPr>
          <p:cNvPr id="4" name="Picture 3"/>
          <p:cNvPicPr>
            <a:picLocks noChangeAspect="1"/>
          </p:cNvPicPr>
          <p:nvPr/>
        </p:nvPicPr>
        <p:blipFill>
          <a:blip r:embed="rId2"/>
          <a:stretch>
            <a:fillRect/>
          </a:stretch>
        </p:blipFill>
        <p:spPr>
          <a:xfrm>
            <a:off x="4058575" y="1397467"/>
            <a:ext cx="7692147" cy="5137697"/>
          </a:xfrm>
          <a:prstGeom prst="rect">
            <a:avLst/>
          </a:prstGeom>
        </p:spPr>
      </p:pic>
    </p:spTree>
    <p:extLst>
      <p:ext uri="{BB962C8B-B14F-4D97-AF65-F5344CB8AC3E}">
        <p14:creationId xmlns:p14="http://schemas.microsoft.com/office/powerpoint/2010/main" val="2681752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sp>
        <p:nvSpPr>
          <p:cNvPr id="3" name="Content Placeholder 2"/>
          <p:cNvSpPr>
            <a:spLocks noGrp="1"/>
          </p:cNvSpPr>
          <p:nvPr>
            <p:ph idx="1"/>
          </p:nvPr>
        </p:nvSpPr>
        <p:spPr>
          <a:xfrm>
            <a:off x="397164" y="1508943"/>
            <a:ext cx="10956636" cy="4554232"/>
          </a:xfrm>
        </p:spPr>
        <p:txBody>
          <a:bodyPr/>
          <a:lstStyle/>
          <a:p>
            <a:r>
              <a:rPr lang="en-CA" dirty="0"/>
              <a:t>When analyzing algorithms you often come across the following time complexities.</a:t>
            </a:r>
          </a:p>
          <a:p>
            <a:r>
              <a:rPr lang="en-CA" dirty="0"/>
              <a:t>O(n log n) is really good</a:t>
            </a:r>
          </a:p>
          <a:p>
            <a:r>
              <a:rPr lang="en-CA" dirty="0"/>
              <a:t>The first four complexities indicate an </a:t>
            </a:r>
            <a:br>
              <a:rPr lang="en-CA" dirty="0"/>
            </a:br>
            <a:r>
              <a:rPr lang="en-CA" dirty="0"/>
              <a:t>excellent algorithm. An algorithm with </a:t>
            </a:r>
            <a:br>
              <a:rPr lang="en-CA" dirty="0"/>
            </a:br>
            <a:r>
              <a:rPr lang="en-CA" dirty="0"/>
              <a:t>worst-case time complexity </a:t>
            </a:r>
            <a:br>
              <a:rPr lang="en-CA" dirty="0"/>
            </a:br>
            <a:r>
              <a:rPr lang="en-CA" dirty="0"/>
              <a:t>W(n) ∊ O(n log n) scales very well, </a:t>
            </a:r>
            <a:br>
              <a:rPr lang="en-CA" dirty="0"/>
            </a:br>
            <a:r>
              <a:rPr lang="en-CA" dirty="0"/>
              <a:t>since logarithms grow very slowly.</a:t>
            </a:r>
          </a:p>
          <a:p>
            <a:endParaRPr lang="en-CA" dirty="0"/>
          </a:p>
        </p:txBody>
      </p:sp>
      <p:pic>
        <p:nvPicPr>
          <p:cNvPr id="4" name="Picture 3"/>
          <p:cNvPicPr>
            <a:picLocks noChangeAspect="1"/>
          </p:cNvPicPr>
          <p:nvPr/>
        </p:nvPicPr>
        <p:blipFill>
          <a:blip r:embed="rId2"/>
          <a:stretch>
            <a:fillRect/>
          </a:stretch>
        </p:blipFill>
        <p:spPr>
          <a:xfrm>
            <a:off x="6600825" y="2202087"/>
            <a:ext cx="4752975" cy="3676650"/>
          </a:xfrm>
          <a:prstGeom prst="rect">
            <a:avLst/>
          </a:prstGeom>
        </p:spPr>
      </p:pic>
      <p:pic>
        <p:nvPicPr>
          <p:cNvPr id="5" name="Picture 4"/>
          <p:cNvPicPr>
            <a:picLocks noChangeAspect="1"/>
          </p:cNvPicPr>
          <p:nvPr/>
        </p:nvPicPr>
        <p:blipFill>
          <a:blip r:embed="rId3"/>
          <a:stretch>
            <a:fillRect/>
          </a:stretch>
        </p:blipFill>
        <p:spPr>
          <a:xfrm>
            <a:off x="1744519" y="5114203"/>
            <a:ext cx="2514600" cy="1247775"/>
          </a:xfrm>
          <a:prstGeom prst="rect">
            <a:avLst/>
          </a:prstGeom>
        </p:spPr>
      </p:pic>
    </p:spTree>
    <p:extLst>
      <p:ext uri="{BB962C8B-B14F-4D97-AF65-F5344CB8AC3E}">
        <p14:creationId xmlns:p14="http://schemas.microsoft.com/office/powerpoint/2010/main" val="240207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Big O Notation</a:t>
            </a:r>
          </a:p>
        </p:txBody>
      </p:sp>
      <p:pic>
        <p:nvPicPr>
          <p:cNvPr id="4" name="Picture 3"/>
          <p:cNvPicPr>
            <a:picLocks noChangeAspect="1"/>
          </p:cNvPicPr>
          <p:nvPr/>
        </p:nvPicPr>
        <p:blipFill>
          <a:blip r:embed="rId2"/>
          <a:stretch>
            <a:fillRect/>
          </a:stretch>
        </p:blipFill>
        <p:spPr>
          <a:xfrm>
            <a:off x="454891" y="1323975"/>
            <a:ext cx="8382000" cy="5429250"/>
          </a:xfrm>
          <a:prstGeom prst="rect">
            <a:avLst/>
          </a:prstGeom>
        </p:spPr>
      </p:pic>
      <p:pic>
        <p:nvPicPr>
          <p:cNvPr id="5" name="Picture 4"/>
          <p:cNvPicPr>
            <a:picLocks noChangeAspect="1"/>
          </p:cNvPicPr>
          <p:nvPr/>
        </p:nvPicPr>
        <p:blipFill>
          <a:blip r:embed="rId3"/>
          <a:stretch>
            <a:fillRect/>
          </a:stretch>
        </p:blipFill>
        <p:spPr>
          <a:xfrm>
            <a:off x="9078873" y="2486876"/>
            <a:ext cx="2365453" cy="2456901"/>
          </a:xfrm>
          <a:prstGeom prst="rect">
            <a:avLst/>
          </a:prstGeom>
        </p:spPr>
      </p:pic>
    </p:spTree>
    <p:extLst>
      <p:ext uri="{BB962C8B-B14F-4D97-AF65-F5344CB8AC3E}">
        <p14:creationId xmlns:p14="http://schemas.microsoft.com/office/powerpoint/2010/main" val="104332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Calculating Big O</a:t>
            </a:r>
          </a:p>
        </p:txBody>
      </p:sp>
      <p:sp>
        <p:nvSpPr>
          <p:cNvPr id="3" name="Content Placeholder 2"/>
          <p:cNvSpPr>
            <a:spLocks noGrp="1"/>
          </p:cNvSpPr>
          <p:nvPr>
            <p:ph idx="1"/>
          </p:nvPr>
        </p:nvSpPr>
        <p:spPr>
          <a:xfrm>
            <a:off x="838200" y="1508943"/>
            <a:ext cx="10515600" cy="4873384"/>
          </a:xfrm>
        </p:spPr>
        <p:txBody>
          <a:bodyPr>
            <a:normAutofit lnSpcReduction="10000"/>
          </a:bodyPr>
          <a:lstStyle/>
          <a:p>
            <a:r>
              <a:rPr lang="en-CA" dirty="0"/>
              <a:t>It's as easy as following along with your code and counting along the way</a:t>
            </a:r>
          </a:p>
          <a:p>
            <a:r>
              <a:rPr lang="en-CA" dirty="0"/>
              <a:t>Begin with a simple loop to calculate the sum of numbers in an array:</a:t>
            </a:r>
          </a:p>
          <a:p>
            <a:pPr marL="0" indent="0">
              <a:buNone/>
            </a:pPr>
            <a:r>
              <a:rPr lang="en-CA" dirty="0"/>
              <a:t>for (</a:t>
            </a:r>
            <a:r>
              <a:rPr lang="en-CA" dirty="0" err="1"/>
              <a:t>i</a:t>
            </a:r>
            <a:r>
              <a:rPr lang="en-CA" dirty="0"/>
              <a:t> = sum = 0; </a:t>
            </a:r>
            <a:r>
              <a:rPr lang="en-CA" dirty="0" err="1"/>
              <a:t>i</a:t>
            </a:r>
            <a:r>
              <a:rPr lang="en-CA" dirty="0"/>
              <a:t> &lt; n; </a:t>
            </a:r>
            <a:r>
              <a:rPr lang="en-CA" dirty="0" err="1"/>
              <a:t>i</a:t>
            </a:r>
            <a:r>
              <a:rPr lang="en-CA" dirty="0"/>
              <a:t>++)</a:t>
            </a:r>
          </a:p>
          <a:p>
            <a:pPr marL="0" indent="0">
              <a:buNone/>
            </a:pPr>
            <a:r>
              <a:rPr lang="en-CA" dirty="0"/>
              <a:t>	sum += a[</a:t>
            </a:r>
            <a:r>
              <a:rPr lang="en-CA" dirty="0" err="1"/>
              <a:t>i</a:t>
            </a:r>
            <a:r>
              <a:rPr lang="en-CA" dirty="0"/>
              <a:t>];</a:t>
            </a:r>
          </a:p>
          <a:p>
            <a:r>
              <a:rPr lang="en-CA" dirty="0"/>
              <a:t>First, two variables are initialized, then the for loop iterates n times, and during each iteration, it executes two assignments, one of which updates sum and the other of which updates </a:t>
            </a:r>
            <a:r>
              <a:rPr lang="en-CA" dirty="0" err="1"/>
              <a:t>i</a:t>
            </a:r>
            <a:r>
              <a:rPr lang="en-CA" dirty="0"/>
              <a:t>. </a:t>
            </a:r>
          </a:p>
          <a:p>
            <a:r>
              <a:rPr lang="en-CA" dirty="0"/>
              <a:t>Thus, there are 2 + 2n assignments for the complete run of this for loop </a:t>
            </a:r>
          </a:p>
          <a:p>
            <a:r>
              <a:rPr lang="en-CA" dirty="0"/>
              <a:t>complexity is O(n).</a:t>
            </a:r>
          </a:p>
        </p:txBody>
      </p:sp>
    </p:spTree>
    <p:extLst>
      <p:ext uri="{BB962C8B-B14F-4D97-AF65-F5344CB8AC3E}">
        <p14:creationId xmlns:p14="http://schemas.microsoft.com/office/powerpoint/2010/main" val="97093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Calculating Big O</a:t>
            </a:r>
          </a:p>
        </p:txBody>
      </p:sp>
      <p:sp>
        <p:nvSpPr>
          <p:cNvPr id="3" name="Content Placeholder 2"/>
          <p:cNvSpPr>
            <a:spLocks noGrp="1"/>
          </p:cNvSpPr>
          <p:nvPr>
            <p:ph idx="1"/>
          </p:nvPr>
        </p:nvSpPr>
        <p:spPr/>
        <p:txBody>
          <a:bodyPr>
            <a:normAutofit fontScale="77500" lnSpcReduction="20000"/>
          </a:bodyPr>
          <a:lstStyle/>
          <a:p>
            <a:r>
              <a:rPr lang="en-CA" dirty="0"/>
              <a:t>Complexity usually grows if nested loops are used, as in the following code, which outputs the sums of all the subarrays that begin with position 0:</a:t>
            </a:r>
          </a:p>
          <a:p>
            <a:pPr marL="0" indent="0">
              <a:buNone/>
            </a:pPr>
            <a:r>
              <a:rPr lang="en-CA" dirty="0"/>
              <a:t>for (</a:t>
            </a:r>
            <a:r>
              <a:rPr lang="en-CA" dirty="0" err="1"/>
              <a:t>i</a:t>
            </a:r>
            <a:r>
              <a:rPr lang="en-CA" dirty="0"/>
              <a:t> = 0; </a:t>
            </a:r>
            <a:r>
              <a:rPr lang="en-CA" dirty="0" err="1"/>
              <a:t>i</a:t>
            </a:r>
            <a:r>
              <a:rPr lang="en-CA" dirty="0"/>
              <a:t> &lt; n; </a:t>
            </a:r>
            <a:r>
              <a:rPr lang="en-CA" dirty="0" err="1"/>
              <a:t>i</a:t>
            </a:r>
            <a:r>
              <a:rPr lang="en-CA" dirty="0"/>
              <a:t>++) {</a:t>
            </a:r>
          </a:p>
          <a:p>
            <a:pPr marL="0" indent="0">
              <a:buNone/>
            </a:pPr>
            <a:r>
              <a:rPr lang="en-CA" dirty="0"/>
              <a:t>	for (j = 1, sum = a[0]; j &lt;= </a:t>
            </a:r>
            <a:r>
              <a:rPr lang="en-CA" dirty="0" err="1"/>
              <a:t>i</a:t>
            </a:r>
            <a:r>
              <a:rPr lang="en-CA" dirty="0"/>
              <a:t>; </a:t>
            </a:r>
            <a:r>
              <a:rPr lang="en-CA" dirty="0" err="1"/>
              <a:t>j++</a:t>
            </a:r>
            <a:r>
              <a:rPr lang="en-CA" dirty="0"/>
              <a:t>)</a:t>
            </a:r>
          </a:p>
          <a:p>
            <a:pPr marL="0" indent="0">
              <a:buNone/>
            </a:pPr>
            <a:r>
              <a:rPr lang="en-CA" dirty="0"/>
              <a:t>	           sum += a[j];</a:t>
            </a:r>
          </a:p>
          <a:p>
            <a:pPr marL="0" indent="0">
              <a:buNone/>
            </a:pPr>
            <a:r>
              <a:rPr lang="en-CA" dirty="0"/>
              <a:t>	</a:t>
            </a:r>
            <a:r>
              <a:rPr lang="en-CA" dirty="0" err="1"/>
              <a:t>cout</a:t>
            </a:r>
            <a:r>
              <a:rPr lang="en-CA" dirty="0"/>
              <a:t>&lt;&lt;”sum for subarray 0 through “&lt;&lt; </a:t>
            </a:r>
            <a:r>
              <a:rPr lang="en-CA" dirty="0" err="1"/>
              <a:t>i</a:t>
            </a:r>
            <a:r>
              <a:rPr lang="en-CA" dirty="0"/>
              <a:t> &lt;&lt;” is “&lt;&lt;sum&lt;&lt;end1;</a:t>
            </a:r>
          </a:p>
          <a:p>
            <a:pPr marL="0" indent="0">
              <a:buNone/>
            </a:pPr>
            <a:r>
              <a:rPr lang="en-CA" dirty="0"/>
              <a:t>}</a:t>
            </a:r>
          </a:p>
          <a:p>
            <a:r>
              <a:rPr lang="en-CA" dirty="0"/>
              <a:t>Before the loops start, </a:t>
            </a:r>
            <a:r>
              <a:rPr lang="en-CA" dirty="0" err="1"/>
              <a:t>i</a:t>
            </a:r>
            <a:r>
              <a:rPr lang="en-CA" dirty="0"/>
              <a:t> is initialized. The outer loop is performed n times, executing in each iteration an inner for loop, print statement, and assignment statements for </a:t>
            </a:r>
            <a:r>
              <a:rPr lang="en-CA" dirty="0" err="1"/>
              <a:t>i</a:t>
            </a:r>
            <a:r>
              <a:rPr lang="en-CA" dirty="0"/>
              <a:t>, j, and sum. </a:t>
            </a:r>
          </a:p>
          <a:p>
            <a:r>
              <a:rPr lang="en-CA" dirty="0"/>
              <a:t>The inner loop is executed </a:t>
            </a:r>
            <a:r>
              <a:rPr lang="en-CA" dirty="0" err="1"/>
              <a:t>i</a:t>
            </a:r>
            <a:r>
              <a:rPr lang="en-CA" dirty="0"/>
              <a:t> times for each </a:t>
            </a:r>
            <a:r>
              <a:rPr lang="en-CA" dirty="0" err="1"/>
              <a:t>i</a:t>
            </a:r>
            <a:r>
              <a:rPr lang="en-CA" dirty="0"/>
              <a:t> ∈ {1, . . . , n – 1} with two assignments in each iteration: one for sum and one for j. </a:t>
            </a:r>
          </a:p>
          <a:p>
            <a:r>
              <a:rPr lang="en-CA" dirty="0"/>
              <a:t>Therefore, there are 1 + 3n + </a:t>
            </a:r>
            <a:r>
              <a:rPr lang="en-CA" dirty="0" err="1"/>
              <a:t>Σn</a:t>
            </a:r>
            <a:r>
              <a:rPr lang="en-CA" dirty="0"/>
              <a:t>–1 </a:t>
            </a:r>
            <a:r>
              <a:rPr lang="en-CA" dirty="0" err="1"/>
              <a:t>i</a:t>
            </a:r>
            <a:r>
              <a:rPr lang="en-CA" dirty="0"/>
              <a:t>=1 2i = 1 + 3n + 2(1 + 2 + · · · + n – 1) = 1 + 3n + n(n – 1) = O(n) + O(n</a:t>
            </a:r>
            <a:r>
              <a:rPr lang="en-CA" baseline="30000" dirty="0"/>
              <a:t>2</a:t>
            </a:r>
            <a:r>
              <a:rPr lang="en-CA" dirty="0"/>
              <a:t>) = O(n</a:t>
            </a:r>
            <a:r>
              <a:rPr lang="en-CA" baseline="30000" dirty="0"/>
              <a:t>2</a:t>
            </a:r>
            <a:r>
              <a:rPr lang="en-CA" dirty="0"/>
              <a:t>) assignments executed before the program is completed</a:t>
            </a:r>
          </a:p>
        </p:txBody>
      </p:sp>
    </p:spTree>
    <p:extLst>
      <p:ext uri="{BB962C8B-B14F-4D97-AF65-F5344CB8AC3E}">
        <p14:creationId xmlns:p14="http://schemas.microsoft.com/office/powerpoint/2010/main" val="1977657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Calculating Big O</a:t>
            </a:r>
          </a:p>
        </p:txBody>
      </p:sp>
      <p:sp>
        <p:nvSpPr>
          <p:cNvPr id="3" name="Content Placeholder 2"/>
          <p:cNvSpPr>
            <a:spLocks noGrp="1"/>
          </p:cNvSpPr>
          <p:nvPr>
            <p:ph idx="1"/>
          </p:nvPr>
        </p:nvSpPr>
        <p:spPr>
          <a:xfrm>
            <a:off x="838200" y="1508942"/>
            <a:ext cx="10515600" cy="4836439"/>
          </a:xfrm>
        </p:spPr>
        <p:txBody>
          <a:bodyPr>
            <a:normAutofit fontScale="77500" lnSpcReduction="20000"/>
          </a:bodyPr>
          <a:lstStyle/>
          <a:p>
            <a:r>
              <a:rPr lang="en-CA" dirty="0"/>
              <a:t>Algorithms with nested loops usually have a larger complexity than algorithms with one loop, but it does not have to grow at all. For example, we may request printing sums of numbers in the last five cells of the subarrays starting in position 0. We adopt the foregoing code and transform it to</a:t>
            </a:r>
          </a:p>
          <a:p>
            <a:pPr marL="0" indent="0">
              <a:buNone/>
            </a:pPr>
            <a:r>
              <a:rPr lang="en-CA" dirty="0"/>
              <a:t>for (</a:t>
            </a:r>
            <a:r>
              <a:rPr lang="en-CA" dirty="0" err="1"/>
              <a:t>i</a:t>
            </a:r>
            <a:r>
              <a:rPr lang="en-CA" dirty="0"/>
              <a:t> = 4; </a:t>
            </a:r>
            <a:r>
              <a:rPr lang="en-CA" dirty="0" err="1"/>
              <a:t>i</a:t>
            </a:r>
            <a:r>
              <a:rPr lang="en-CA" dirty="0"/>
              <a:t> &lt; n; </a:t>
            </a:r>
            <a:r>
              <a:rPr lang="en-CA" dirty="0" err="1"/>
              <a:t>i</a:t>
            </a:r>
            <a:r>
              <a:rPr lang="en-CA" dirty="0"/>
              <a:t>++) {</a:t>
            </a:r>
          </a:p>
          <a:p>
            <a:pPr marL="0" indent="0">
              <a:buNone/>
            </a:pPr>
            <a:r>
              <a:rPr lang="en-CA" dirty="0"/>
              <a:t>          for (j = i-3, sum = a[i-4]; j &lt;= </a:t>
            </a:r>
            <a:r>
              <a:rPr lang="en-CA" dirty="0" err="1"/>
              <a:t>i</a:t>
            </a:r>
            <a:r>
              <a:rPr lang="en-CA" dirty="0"/>
              <a:t>; </a:t>
            </a:r>
            <a:r>
              <a:rPr lang="en-CA" dirty="0" err="1"/>
              <a:t>j++</a:t>
            </a:r>
            <a:r>
              <a:rPr lang="en-CA" dirty="0"/>
              <a:t>)</a:t>
            </a:r>
          </a:p>
          <a:p>
            <a:pPr marL="0" indent="0">
              <a:buNone/>
            </a:pPr>
            <a:r>
              <a:rPr lang="en-CA" dirty="0"/>
              <a:t>                  sum += a[j];</a:t>
            </a:r>
          </a:p>
          <a:p>
            <a:pPr marL="0" indent="0">
              <a:buNone/>
            </a:pPr>
            <a:r>
              <a:rPr lang="en-CA" dirty="0"/>
              <a:t>          </a:t>
            </a:r>
            <a:r>
              <a:rPr lang="en-CA" dirty="0" err="1"/>
              <a:t>cout</a:t>
            </a:r>
            <a:r>
              <a:rPr lang="en-CA" dirty="0"/>
              <a:t>&lt;&lt;”sum for subarray “&lt;&lt;i-4&lt;&lt;” through “&lt;&lt; </a:t>
            </a:r>
            <a:r>
              <a:rPr lang="en-CA" dirty="0" err="1"/>
              <a:t>i</a:t>
            </a:r>
            <a:r>
              <a:rPr lang="en-CA" dirty="0"/>
              <a:t> &lt;&lt;” is “”&lt;&lt;sum&lt;&lt;end1;</a:t>
            </a:r>
          </a:p>
          <a:p>
            <a:pPr marL="0" indent="0">
              <a:buNone/>
            </a:pPr>
            <a:r>
              <a:rPr lang="en-CA" dirty="0"/>
              <a:t>}</a:t>
            </a:r>
          </a:p>
          <a:p>
            <a:r>
              <a:rPr lang="en-CA" dirty="0"/>
              <a:t>The outer loop is executed n – 4 times. </a:t>
            </a:r>
          </a:p>
          <a:p>
            <a:r>
              <a:rPr lang="en-CA" dirty="0"/>
              <a:t>For each </a:t>
            </a:r>
            <a:r>
              <a:rPr lang="en-CA" dirty="0" err="1"/>
              <a:t>i</a:t>
            </a:r>
            <a:r>
              <a:rPr lang="en-CA" dirty="0"/>
              <a:t>, the inner loop is executed only four times; for each iteration of the outer loop there are eight assignments in the inner loop, and this number does not depend on the size of the array. </a:t>
            </a:r>
          </a:p>
          <a:p>
            <a:r>
              <a:rPr lang="en-CA" dirty="0"/>
              <a:t>With one initialization of </a:t>
            </a:r>
            <a:r>
              <a:rPr lang="en-CA" dirty="0" err="1"/>
              <a:t>i</a:t>
            </a:r>
            <a:r>
              <a:rPr lang="en-CA" dirty="0"/>
              <a:t>, n – 4 increments of </a:t>
            </a:r>
            <a:r>
              <a:rPr lang="en-CA" dirty="0" err="1"/>
              <a:t>i</a:t>
            </a:r>
            <a:r>
              <a:rPr lang="en-CA" dirty="0"/>
              <a:t>, and n – 4 initializations of j and sum, the program makes 1 + 8 • (n – 4) + 3 • (n – 4) = O(n) assignments.</a:t>
            </a:r>
          </a:p>
        </p:txBody>
      </p:sp>
    </p:spTree>
    <p:extLst>
      <p:ext uri="{BB962C8B-B14F-4D97-AF65-F5344CB8AC3E}">
        <p14:creationId xmlns:p14="http://schemas.microsoft.com/office/powerpoint/2010/main" val="3637027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TotalTime>
  <Words>1591</Words>
  <Application>Microsoft Office PowerPoint</Application>
  <PresentationFormat>Widescreen</PresentationFormat>
  <Paragraphs>110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Big-O Notation</vt:lpstr>
      <vt:lpstr>Big O Notation</vt:lpstr>
      <vt:lpstr>Big O Notation</vt:lpstr>
      <vt:lpstr>Big O Notation</vt:lpstr>
      <vt:lpstr>Big O Notation</vt:lpstr>
      <vt:lpstr>Big O Notation</vt:lpstr>
      <vt:lpstr>Logarithms</vt:lpstr>
      <vt:lpstr>O(log N)</vt:lpstr>
      <vt:lpstr>Big O Notation another Perspective</vt:lpstr>
      <vt:lpstr>Big O Notation</vt:lpstr>
      <vt:lpstr>Big O Notation</vt:lpstr>
      <vt:lpstr>Big O Notation</vt:lpstr>
      <vt:lpstr>Big O Notation</vt:lpstr>
      <vt:lpstr>Big O Notation</vt:lpstr>
      <vt:lpstr>Calculating Big O</vt:lpstr>
      <vt:lpstr>Calculating Big O</vt:lpstr>
      <vt:lpstr>Calculating Big 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Sharrie Wing</dc:creator>
  <cp:lastModifiedBy>Daniel Maclam</cp:lastModifiedBy>
  <cp:revision>75</cp:revision>
  <dcterms:created xsi:type="dcterms:W3CDTF">2018-09-03T16:13:27Z</dcterms:created>
  <dcterms:modified xsi:type="dcterms:W3CDTF">2020-11-26T20:40:49Z</dcterms:modified>
</cp:coreProperties>
</file>