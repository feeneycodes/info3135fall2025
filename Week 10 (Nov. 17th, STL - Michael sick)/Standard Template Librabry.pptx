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EEE9D-EA0D-4B8A-8D5B-F166ED190AD3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0E13E-EEFC-4DCB-A80D-CAE9B6D46C0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517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https://www.geeksforgeeks.org/the-c-standard-template-library-stl/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0E13E-EEFC-4DCB-A80D-CAE9B6D46C01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8096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0E13E-EEFC-4DCB-A80D-CAE9B6D46C01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41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0E13E-EEFC-4DCB-A80D-CAE9B6D46C01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742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0E13E-EEFC-4DCB-A80D-CAE9B6D46C01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1452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0E13E-EEFC-4DCB-A80D-CAE9B6D46C01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4197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0E13E-EEFC-4DCB-A80D-CAE9B6D46C01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044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0E13E-EEFC-4DCB-A80D-CAE9B6D46C01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0497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0E13E-EEFC-4DCB-A80D-CAE9B6D46C01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8399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0E13E-EEFC-4DCB-A80D-CAE9B6D46C01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0898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0E13E-EEFC-4DCB-A80D-CAE9B6D46C01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8079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0E13E-EEFC-4DCB-A80D-CAE9B6D46C01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1943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0E13E-EEFC-4DCB-A80D-CAE9B6D46C01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5701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8281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2419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0371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9766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6091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27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9862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641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7322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045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116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313985" cy="830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8943"/>
            <a:ext cx="10515600" cy="4554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BCBC4-B18E-4CE9-AE45-0D26726D84DA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1CC58-AFDE-4BAD-9CA7-D8FC8637A6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306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88E19-8676-4B06-8C2E-E0FE7AE0CD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Standard Template Library &amp; The &lt;algorithm&gt; Header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AC6C6-594A-4CD9-B7DE-ECE80659EB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INFO-3135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46131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FF1B-69B9-4308-A381-EBA83073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The STL?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DD9A-59BA-4961-B6AA-310DCBE54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urw-din"/>
              </a:rPr>
              <a:t>The Standard Template Library (STL) is a set of C++ template classes to provide common programming data structures and their functions</a:t>
            </a:r>
          </a:p>
          <a:p>
            <a:pPr lvl="1"/>
            <a:r>
              <a:rPr lang="en-US" b="0" i="0" dirty="0">
                <a:effectLst/>
                <a:latin typeface="urw-din"/>
              </a:rPr>
              <a:t>Though due to being so generic, may not have an ideal implementation for your use-case</a:t>
            </a:r>
          </a:p>
          <a:p>
            <a:endParaRPr lang="en-US" dirty="0">
              <a:latin typeface="urw-din"/>
            </a:endParaRPr>
          </a:p>
          <a:p>
            <a:r>
              <a:rPr lang="en-US" dirty="0">
                <a:latin typeface="urw-din"/>
              </a:rPr>
              <a:t>We can break the STL into four separate sections</a:t>
            </a:r>
          </a:p>
          <a:p>
            <a:pPr lvl="1"/>
            <a:r>
              <a:rPr lang="en-US" dirty="0">
                <a:latin typeface="urw-din"/>
              </a:rPr>
              <a:t>Containers (</a:t>
            </a:r>
            <a:r>
              <a:rPr lang="en-CA" b="0" i="0" dirty="0">
                <a:effectLst/>
                <a:latin typeface="urw-din"/>
              </a:rPr>
              <a:t>lists, stacks, arrays)</a:t>
            </a:r>
          </a:p>
          <a:p>
            <a:pPr lvl="1"/>
            <a:r>
              <a:rPr lang="en-CA" dirty="0">
                <a:latin typeface="urw-din"/>
              </a:rPr>
              <a:t>Functions</a:t>
            </a:r>
            <a:endParaRPr lang="en-CA" dirty="0"/>
          </a:p>
          <a:p>
            <a:pPr lvl="1"/>
            <a:r>
              <a:rPr lang="en-CA" dirty="0">
                <a:latin typeface="urw-din"/>
              </a:rPr>
              <a:t>Iterators</a:t>
            </a:r>
          </a:p>
          <a:p>
            <a:pPr lvl="1"/>
            <a:r>
              <a:rPr lang="en-CA" dirty="0">
                <a:latin typeface="urw-din"/>
              </a:rPr>
              <a:t>Algorithms</a:t>
            </a:r>
          </a:p>
        </p:txBody>
      </p:sp>
    </p:spTree>
    <p:extLst>
      <p:ext uri="{BB962C8B-B14F-4D97-AF65-F5344CB8AC3E}">
        <p14:creationId xmlns:p14="http://schemas.microsoft.com/office/powerpoint/2010/main" val="2008998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FF1B-69B9-4308-A381-EBA83073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Containers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DD9A-59BA-4961-B6AA-310DCBE54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urw-din"/>
              </a:rPr>
              <a:t>Types of Containers:</a:t>
            </a:r>
          </a:p>
          <a:p>
            <a:pPr lvl="1"/>
            <a:r>
              <a:rPr lang="en-US" dirty="0">
                <a:latin typeface="urw-din"/>
              </a:rPr>
              <a:t>Sequence</a:t>
            </a:r>
          </a:p>
          <a:p>
            <a:pPr lvl="1"/>
            <a:r>
              <a:rPr lang="en-US" dirty="0">
                <a:latin typeface="urw-din"/>
              </a:rPr>
              <a:t>Sequence Adapters</a:t>
            </a:r>
          </a:p>
          <a:p>
            <a:pPr lvl="1"/>
            <a:r>
              <a:rPr lang="en-US" dirty="0">
                <a:latin typeface="urw-din"/>
              </a:rPr>
              <a:t>Associative</a:t>
            </a:r>
          </a:p>
          <a:p>
            <a:pPr lvl="1"/>
            <a:r>
              <a:rPr lang="en-US" dirty="0">
                <a:latin typeface="urw-din"/>
              </a:rPr>
              <a:t>Un-ordered Associative</a:t>
            </a:r>
          </a:p>
          <a:p>
            <a:pPr lvl="1"/>
            <a:endParaRPr lang="en-US" dirty="0">
              <a:latin typeface="urw-din"/>
            </a:endParaRPr>
          </a:p>
          <a:p>
            <a:pPr lvl="1"/>
            <a:endParaRPr lang="en-US" dirty="0">
              <a:latin typeface="urw-din"/>
            </a:endParaRPr>
          </a:p>
          <a:p>
            <a:pPr marL="457200" lvl="1" indent="0">
              <a:buNone/>
            </a:pPr>
            <a:endParaRPr lang="en-CA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val="3177365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FF1B-69B9-4308-A381-EBA83073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Containers - Sequence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DD9A-59BA-4961-B6AA-310DCBE54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urw-din"/>
              </a:rPr>
              <a:t>Types of Containers:</a:t>
            </a:r>
          </a:p>
          <a:p>
            <a:pPr lvl="1"/>
            <a:r>
              <a:rPr lang="en-US" dirty="0">
                <a:latin typeface="urw-din"/>
              </a:rPr>
              <a:t>Array</a:t>
            </a:r>
          </a:p>
          <a:p>
            <a:pPr lvl="1"/>
            <a:r>
              <a:rPr lang="en-US" dirty="0">
                <a:latin typeface="urw-din"/>
              </a:rPr>
              <a:t>Vector</a:t>
            </a:r>
          </a:p>
          <a:p>
            <a:pPr lvl="1"/>
            <a:r>
              <a:rPr lang="en-US" dirty="0">
                <a:latin typeface="urw-din"/>
              </a:rPr>
              <a:t>List</a:t>
            </a:r>
          </a:p>
          <a:p>
            <a:pPr lvl="1"/>
            <a:r>
              <a:rPr lang="en-US" dirty="0">
                <a:latin typeface="urw-din"/>
              </a:rPr>
              <a:t>Deque</a:t>
            </a:r>
          </a:p>
          <a:p>
            <a:pPr marL="457200" lvl="1" indent="0">
              <a:buNone/>
            </a:pPr>
            <a:endParaRPr lang="en-US" dirty="0">
              <a:latin typeface="urw-din"/>
            </a:endParaRPr>
          </a:p>
          <a:p>
            <a:r>
              <a:rPr lang="en-US" dirty="0">
                <a:latin typeface="urw-din"/>
              </a:rPr>
              <a:t>Properties:</a:t>
            </a:r>
          </a:p>
          <a:p>
            <a:pPr lvl="1"/>
            <a:r>
              <a:rPr lang="en-US" dirty="0">
                <a:latin typeface="urw-din"/>
              </a:rPr>
              <a:t>Can access data in a sequential order</a:t>
            </a:r>
          </a:p>
          <a:p>
            <a:pPr lvl="2"/>
            <a:r>
              <a:rPr lang="en-US" dirty="0">
                <a:latin typeface="urw-din"/>
              </a:rPr>
              <a:t>Arrays and Vectors usually in contiguous memory, though not necessarily</a:t>
            </a:r>
          </a:p>
          <a:p>
            <a:pPr lvl="2"/>
            <a:r>
              <a:rPr lang="en-US" dirty="0">
                <a:latin typeface="urw-din"/>
              </a:rPr>
              <a:t>Lists and Deques Not usually not (in contiguous memory)</a:t>
            </a:r>
          </a:p>
          <a:p>
            <a:pPr lvl="1"/>
            <a:endParaRPr lang="en-US" dirty="0">
              <a:latin typeface="urw-din"/>
            </a:endParaRPr>
          </a:p>
          <a:p>
            <a:pPr lvl="1"/>
            <a:endParaRPr lang="en-US" dirty="0">
              <a:latin typeface="urw-din"/>
            </a:endParaRPr>
          </a:p>
          <a:p>
            <a:pPr marL="457200" lvl="1" indent="0">
              <a:buNone/>
            </a:pPr>
            <a:endParaRPr lang="en-CA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val="3057930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FF1B-69B9-4308-A381-EBA83073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Containers - Sequence Adapters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DD9A-59BA-4961-B6AA-310DCBE54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urw-din"/>
              </a:rPr>
              <a:t>Types of Containers:</a:t>
            </a:r>
          </a:p>
          <a:p>
            <a:pPr lvl="1"/>
            <a:r>
              <a:rPr lang="en-US" dirty="0">
                <a:latin typeface="urw-din"/>
              </a:rPr>
              <a:t>Queue</a:t>
            </a:r>
          </a:p>
          <a:p>
            <a:pPr lvl="1"/>
            <a:r>
              <a:rPr lang="en-US" dirty="0">
                <a:latin typeface="urw-din"/>
              </a:rPr>
              <a:t>Priority Queue</a:t>
            </a:r>
          </a:p>
          <a:p>
            <a:pPr lvl="1"/>
            <a:r>
              <a:rPr lang="en-US" dirty="0">
                <a:latin typeface="urw-din"/>
              </a:rPr>
              <a:t>Stack</a:t>
            </a:r>
          </a:p>
          <a:p>
            <a:pPr lvl="1"/>
            <a:endParaRPr lang="en-US" dirty="0">
              <a:latin typeface="urw-din"/>
            </a:endParaRPr>
          </a:p>
          <a:p>
            <a:r>
              <a:rPr lang="en-US" dirty="0">
                <a:latin typeface="urw-din"/>
              </a:rPr>
              <a:t>Properties:</a:t>
            </a:r>
          </a:p>
          <a:p>
            <a:pPr lvl="1"/>
            <a:r>
              <a:rPr lang="en-US" dirty="0">
                <a:latin typeface="urw-din"/>
              </a:rPr>
              <a:t>Provides a different interface/access for a sequence container</a:t>
            </a:r>
          </a:p>
          <a:p>
            <a:pPr lvl="1"/>
            <a:endParaRPr lang="en-US" dirty="0">
              <a:latin typeface="urw-din"/>
            </a:endParaRPr>
          </a:p>
          <a:p>
            <a:pPr lvl="1"/>
            <a:endParaRPr lang="en-US" dirty="0">
              <a:latin typeface="urw-din"/>
            </a:endParaRPr>
          </a:p>
          <a:p>
            <a:pPr marL="457200" lvl="1" indent="0">
              <a:buNone/>
            </a:pPr>
            <a:endParaRPr lang="en-CA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val="2525729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FF1B-69B9-4308-A381-EBA83073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Containers - Associative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DD9A-59BA-4961-B6AA-310DCBE54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urw-din"/>
              </a:rPr>
              <a:t>Types of Containers:</a:t>
            </a:r>
          </a:p>
          <a:p>
            <a:pPr lvl="1"/>
            <a:r>
              <a:rPr lang="en-US" dirty="0">
                <a:latin typeface="urw-din"/>
              </a:rPr>
              <a:t>Set</a:t>
            </a:r>
          </a:p>
          <a:p>
            <a:pPr lvl="1"/>
            <a:r>
              <a:rPr lang="en-US" dirty="0">
                <a:latin typeface="urw-din"/>
              </a:rPr>
              <a:t>Map</a:t>
            </a:r>
          </a:p>
          <a:p>
            <a:pPr lvl="1"/>
            <a:r>
              <a:rPr lang="en-US" dirty="0">
                <a:latin typeface="urw-din"/>
              </a:rPr>
              <a:t>Multi-Set</a:t>
            </a:r>
          </a:p>
          <a:p>
            <a:pPr lvl="1"/>
            <a:r>
              <a:rPr lang="en-US" dirty="0">
                <a:latin typeface="urw-din"/>
              </a:rPr>
              <a:t>Multi-Map</a:t>
            </a:r>
          </a:p>
          <a:p>
            <a:pPr lvl="1"/>
            <a:endParaRPr lang="en-US" dirty="0">
              <a:latin typeface="urw-din"/>
            </a:endParaRPr>
          </a:p>
          <a:p>
            <a:r>
              <a:rPr lang="en-US" dirty="0">
                <a:latin typeface="urw-din"/>
              </a:rPr>
              <a:t>Properties:</a:t>
            </a:r>
          </a:p>
          <a:p>
            <a:pPr lvl="1"/>
            <a:r>
              <a:rPr lang="en-US" dirty="0">
                <a:latin typeface="urw-din"/>
              </a:rPr>
              <a:t>Implement sorted data structures that can be quickly searched, </a:t>
            </a:r>
            <a:br>
              <a:rPr lang="en-US" dirty="0">
                <a:latin typeface="urw-din"/>
              </a:rPr>
            </a:br>
            <a:r>
              <a:rPr lang="en-US" dirty="0">
                <a:latin typeface="urw-din"/>
              </a:rPr>
              <a:t>often a red-black tree.</a:t>
            </a:r>
          </a:p>
          <a:p>
            <a:pPr lvl="2"/>
            <a:r>
              <a:rPr lang="en-US" dirty="0">
                <a:latin typeface="urw-din"/>
              </a:rPr>
              <a:t>O(log n) complexity (Binary Search)</a:t>
            </a:r>
          </a:p>
          <a:p>
            <a:pPr lvl="1"/>
            <a:endParaRPr lang="en-US" dirty="0">
              <a:latin typeface="urw-din"/>
            </a:endParaRPr>
          </a:p>
          <a:p>
            <a:pPr lvl="1"/>
            <a:endParaRPr lang="en-US" dirty="0">
              <a:latin typeface="urw-din"/>
            </a:endParaRPr>
          </a:p>
          <a:p>
            <a:pPr marL="457200" lvl="1" indent="0">
              <a:buNone/>
            </a:pPr>
            <a:endParaRPr lang="en-CA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val="3486255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FF1B-69B9-4308-A381-EBA83073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Containers - Un-ordered Associative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DD9A-59BA-4961-B6AA-310DCBE54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urw-din"/>
              </a:rPr>
              <a:t>Types of Containers:</a:t>
            </a:r>
          </a:p>
          <a:p>
            <a:pPr lvl="1"/>
            <a:r>
              <a:rPr lang="en-US" dirty="0">
                <a:latin typeface="urw-din"/>
              </a:rPr>
              <a:t>Unordered Set</a:t>
            </a:r>
          </a:p>
          <a:p>
            <a:pPr lvl="1"/>
            <a:r>
              <a:rPr lang="en-US" dirty="0">
                <a:latin typeface="urw-din"/>
              </a:rPr>
              <a:t>Unordered Map</a:t>
            </a:r>
          </a:p>
          <a:p>
            <a:pPr lvl="1"/>
            <a:r>
              <a:rPr lang="en-US" dirty="0">
                <a:latin typeface="urw-din"/>
              </a:rPr>
              <a:t>Unordered Multi-Set</a:t>
            </a:r>
          </a:p>
          <a:p>
            <a:pPr lvl="1"/>
            <a:r>
              <a:rPr lang="en-US" dirty="0">
                <a:latin typeface="urw-din"/>
              </a:rPr>
              <a:t>Unordered Multi-Map</a:t>
            </a:r>
          </a:p>
          <a:p>
            <a:pPr lvl="1"/>
            <a:endParaRPr lang="en-US" dirty="0">
              <a:latin typeface="urw-din"/>
            </a:endParaRPr>
          </a:p>
          <a:p>
            <a:r>
              <a:rPr lang="en-US" dirty="0">
                <a:latin typeface="urw-din"/>
              </a:rPr>
              <a:t>Properties:</a:t>
            </a:r>
          </a:p>
          <a:p>
            <a:pPr lvl="1"/>
            <a:r>
              <a:rPr lang="en-US" dirty="0">
                <a:latin typeface="urw-din"/>
              </a:rPr>
              <a:t>Implement unsorted data structures that can be quickly searched </a:t>
            </a:r>
          </a:p>
          <a:p>
            <a:pPr lvl="2"/>
            <a:r>
              <a:rPr lang="en-US" dirty="0">
                <a:latin typeface="urw-din"/>
              </a:rPr>
              <a:t>Typically O(1)</a:t>
            </a:r>
          </a:p>
          <a:p>
            <a:pPr lvl="2"/>
            <a:r>
              <a:rPr lang="en-US" dirty="0">
                <a:latin typeface="urw-din"/>
              </a:rPr>
              <a:t>Can be as bad as O(n) is some cases </a:t>
            </a:r>
          </a:p>
          <a:p>
            <a:pPr lvl="3"/>
            <a:r>
              <a:rPr lang="en-US" dirty="0">
                <a:latin typeface="urw-din"/>
              </a:rPr>
              <a:t>Bad hash function causing collisions</a:t>
            </a:r>
          </a:p>
          <a:p>
            <a:pPr lvl="1"/>
            <a:endParaRPr lang="en-US" dirty="0">
              <a:latin typeface="urw-din"/>
            </a:endParaRPr>
          </a:p>
          <a:p>
            <a:pPr lvl="1"/>
            <a:endParaRPr lang="en-US" dirty="0">
              <a:latin typeface="urw-din"/>
            </a:endParaRPr>
          </a:p>
          <a:p>
            <a:pPr marL="457200" lvl="1" indent="0">
              <a:buNone/>
            </a:pPr>
            <a:endParaRPr lang="en-CA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val="205400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FF1B-69B9-4308-A381-EBA83073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Predicate Functions / Functors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DD9A-59BA-4961-B6AA-310DCBE54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943"/>
            <a:ext cx="10515600" cy="4874102"/>
          </a:xfrm>
        </p:spPr>
        <p:txBody>
          <a:bodyPr>
            <a:normAutofit fontScale="92500" lnSpcReduction="10000"/>
          </a:bodyPr>
          <a:lstStyle/>
          <a:p>
            <a:r>
              <a:rPr lang="en-US" b="0" i="0" dirty="0">
                <a:effectLst/>
                <a:latin typeface="urw-din"/>
              </a:rPr>
              <a:t>The STL includes classes that overload the function call operator.</a:t>
            </a:r>
          </a:p>
          <a:p>
            <a:r>
              <a:rPr lang="en-US" b="0" i="0" dirty="0">
                <a:effectLst/>
                <a:latin typeface="urw-din"/>
              </a:rPr>
              <a:t>Theses are also known as ‘</a:t>
            </a:r>
            <a:r>
              <a:rPr lang="en-US" b="1" i="0" dirty="0">
                <a:effectLst/>
                <a:latin typeface="urw-din"/>
              </a:rPr>
              <a:t>Functors’</a:t>
            </a:r>
          </a:p>
          <a:p>
            <a:endParaRPr lang="en-US" b="1" dirty="0">
              <a:latin typeface="urw-din"/>
            </a:endParaRPr>
          </a:p>
          <a:p>
            <a:endParaRPr lang="en-US" b="1" i="0" dirty="0">
              <a:effectLst/>
              <a:latin typeface="urw-din"/>
            </a:endParaRPr>
          </a:p>
          <a:p>
            <a:endParaRPr lang="en-US" b="1" dirty="0">
              <a:latin typeface="urw-din"/>
            </a:endParaRPr>
          </a:p>
          <a:p>
            <a:endParaRPr lang="en-US" b="1" i="0" dirty="0">
              <a:effectLst/>
              <a:latin typeface="urw-din"/>
            </a:endParaRPr>
          </a:p>
          <a:p>
            <a:endParaRPr lang="en-US" b="1" dirty="0">
              <a:latin typeface="urw-din"/>
            </a:endParaRPr>
          </a:p>
          <a:p>
            <a:endParaRPr lang="en-US" b="1" i="0" dirty="0">
              <a:effectLst/>
              <a:latin typeface="urw-din"/>
            </a:endParaRPr>
          </a:p>
          <a:p>
            <a:endParaRPr lang="en-US" i="0" dirty="0">
              <a:effectLst/>
              <a:latin typeface="urw-din"/>
            </a:endParaRPr>
          </a:p>
          <a:p>
            <a:endParaRPr lang="en-US" dirty="0">
              <a:latin typeface="urw-din"/>
            </a:endParaRPr>
          </a:p>
          <a:p>
            <a:r>
              <a:rPr lang="en-US" dirty="0">
                <a:latin typeface="urw-din"/>
              </a:rPr>
              <a:t>More on this when we get to algorithms</a:t>
            </a:r>
            <a:endParaRPr lang="en-US" i="0" dirty="0">
              <a:effectLst/>
              <a:latin typeface="urw-din"/>
            </a:endParaRPr>
          </a:p>
          <a:p>
            <a:pPr lvl="1"/>
            <a:endParaRPr lang="en-US" dirty="0">
              <a:latin typeface="urw-din"/>
            </a:endParaRPr>
          </a:p>
          <a:p>
            <a:pPr marL="457200" lvl="1" indent="0">
              <a:buNone/>
            </a:pPr>
            <a:endParaRPr lang="en-CA" dirty="0">
              <a:latin typeface="urw-di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CBAB35-13E9-447C-BC57-279490A41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387" y="2559577"/>
            <a:ext cx="6957226" cy="299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505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FF1B-69B9-4308-A381-EBA83073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Iterators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DD9A-59BA-4961-B6AA-310DCBE54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latin typeface="urw-din"/>
              </a:rPr>
              <a:t>Iterators are used to point at the memory addresses of STL containers</a:t>
            </a:r>
          </a:p>
          <a:p>
            <a:pPr lvl="1"/>
            <a:r>
              <a:rPr lang="en-US" dirty="0">
                <a:latin typeface="urw-din"/>
              </a:rPr>
              <a:t>They tie containers with the algorithm library. </a:t>
            </a:r>
          </a:p>
          <a:p>
            <a:pPr lvl="2"/>
            <a:r>
              <a:rPr lang="en-US" dirty="0">
                <a:latin typeface="urw-din"/>
              </a:rPr>
              <a:t>Written to “look like” and </a:t>
            </a:r>
            <a:r>
              <a:rPr lang="en-US" i="1" dirty="0">
                <a:latin typeface="urw-din"/>
              </a:rPr>
              <a:t>somewhat </a:t>
            </a:r>
            <a:r>
              <a:rPr lang="en-US" dirty="0">
                <a:latin typeface="urw-din"/>
              </a:rPr>
              <a:t>behave like pointers - but aren’t </a:t>
            </a:r>
            <a:r>
              <a:rPr lang="en-US" i="1" dirty="0">
                <a:latin typeface="urw-din"/>
              </a:rPr>
              <a:t>at all</a:t>
            </a:r>
          </a:p>
          <a:p>
            <a:pPr lvl="2"/>
            <a:r>
              <a:rPr lang="en-US" dirty="0">
                <a:latin typeface="urw-din"/>
              </a:rPr>
              <a:t>Allow moving around &amp; accessing data within a container</a:t>
            </a:r>
          </a:p>
          <a:p>
            <a:pPr lvl="2"/>
            <a:r>
              <a:rPr lang="en-US" dirty="0">
                <a:latin typeface="urw-din"/>
              </a:rPr>
              <a:t>“Iterate” means “repeat”</a:t>
            </a:r>
          </a:p>
          <a:p>
            <a:pPr lvl="2"/>
            <a:r>
              <a:rPr lang="en-US" dirty="0">
                <a:latin typeface="urw-din"/>
              </a:rPr>
              <a:t>May restrict operations that you may perform</a:t>
            </a:r>
          </a:p>
          <a:p>
            <a:pPr lvl="3"/>
            <a:r>
              <a:rPr lang="en-US" dirty="0">
                <a:latin typeface="urw-din"/>
              </a:rPr>
              <a:t>Such as pointer arithmetic (add, decrement)</a:t>
            </a:r>
          </a:p>
          <a:p>
            <a:pPr lvl="2"/>
            <a:r>
              <a:rPr lang="en-US" dirty="0">
                <a:latin typeface="urw-din"/>
              </a:rPr>
              <a:t>Can reduce complexity of a program</a:t>
            </a:r>
          </a:p>
          <a:p>
            <a:pPr lvl="2"/>
            <a:r>
              <a:rPr lang="en-US" dirty="0">
                <a:latin typeface="urw-din"/>
              </a:rPr>
              <a:t>Not intended to reduce execution time (not that they are “slow” though…)</a:t>
            </a:r>
          </a:p>
          <a:p>
            <a:pPr lvl="1"/>
            <a:r>
              <a:rPr lang="en-US" dirty="0">
                <a:latin typeface="urw-din"/>
              </a:rPr>
              <a:t>Iterators are </a:t>
            </a:r>
            <a:r>
              <a:rPr lang="en-US" b="1" dirty="0">
                <a:latin typeface="urw-din"/>
              </a:rPr>
              <a:t>NOT</a:t>
            </a:r>
            <a:r>
              <a:rPr lang="en-US" dirty="0">
                <a:latin typeface="urw-din"/>
              </a:rPr>
              <a:t> raw memory addresses (even though the look like pointers)</a:t>
            </a:r>
          </a:p>
          <a:p>
            <a:pPr lvl="2"/>
            <a:r>
              <a:rPr lang="en-US" dirty="0">
                <a:latin typeface="urw-din"/>
              </a:rPr>
              <a:t>You cannot call </a:t>
            </a:r>
            <a:r>
              <a:rPr lang="en-US" b="1" dirty="0">
                <a:latin typeface="urw-din"/>
              </a:rPr>
              <a:t>delete</a:t>
            </a:r>
            <a:r>
              <a:rPr lang="en-US" dirty="0">
                <a:latin typeface="urw-din"/>
              </a:rPr>
              <a:t> on an iterator, for instance</a:t>
            </a:r>
          </a:p>
          <a:p>
            <a:pPr marL="914400" lvl="2" indent="0">
              <a:buNone/>
            </a:pPr>
            <a:endParaRPr lang="en-CA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val="3767164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FF1B-69B9-4308-A381-EBA83073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Algorithms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DD9A-59BA-4961-B6AA-310DCBE54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latin typeface="urw-din"/>
              </a:rPr>
              <a:t>The Standard Template Library (STL) provides algorithms that we commonly use no matter the underlying data structure</a:t>
            </a:r>
          </a:p>
          <a:p>
            <a:pPr lvl="1"/>
            <a:endParaRPr lang="en-US" dirty="0">
              <a:latin typeface="urw-din"/>
            </a:endParaRPr>
          </a:p>
          <a:p>
            <a:pPr lvl="1"/>
            <a:r>
              <a:rPr lang="en-US" dirty="0">
                <a:latin typeface="urw-din"/>
              </a:rPr>
              <a:t>These algorithms provide the following:</a:t>
            </a:r>
          </a:p>
          <a:p>
            <a:pPr lvl="2"/>
            <a:r>
              <a:rPr lang="en-US" dirty="0">
                <a:latin typeface="urw-din"/>
              </a:rPr>
              <a:t>Sorting</a:t>
            </a:r>
          </a:p>
          <a:p>
            <a:pPr lvl="2"/>
            <a:r>
              <a:rPr lang="en-US" dirty="0">
                <a:latin typeface="urw-din"/>
              </a:rPr>
              <a:t>Searching</a:t>
            </a:r>
          </a:p>
          <a:p>
            <a:pPr lvl="2"/>
            <a:r>
              <a:rPr lang="en-US" dirty="0">
                <a:latin typeface="urw-din"/>
              </a:rPr>
              <a:t>Data Transformation / Manipulation</a:t>
            </a:r>
          </a:p>
          <a:p>
            <a:pPr marL="914400" lvl="2" indent="0">
              <a:buNone/>
            </a:pPr>
            <a:endParaRPr lang="en-US" dirty="0">
              <a:latin typeface="urw-din"/>
            </a:endParaRPr>
          </a:p>
          <a:p>
            <a:pPr lvl="1"/>
            <a:r>
              <a:rPr lang="en-US" dirty="0">
                <a:latin typeface="urw-din"/>
              </a:rPr>
              <a:t>To gain access to all this power just add the &lt;algorithm&gt; header</a:t>
            </a:r>
          </a:p>
          <a:p>
            <a:pPr marL="914400" lvl="2" indent="0">
              <a:buNone/>
            </a:pPr>
            <a:endParaRPr lang="en-CA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val="657448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FF1B-69B9-4308-A381-EBA83073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Algorithms - Sorting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DD9A-59BA-4961-B6AA-310DCBE54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latin typeface="urw-din"/>
              </a:rPr>
              <a:t>std::sort(</a:t>
            </a:r>
            <a:r>
              <a:rPr lang="en-US" dirty="0" err="1">
                <a:latin typeface="urw-din"/>
              </a:rPr>
              <a:t>RandomAccessIterator</a:t>
            </a:r>
            <a:r>
              <a:rPr lang="en-US" dirty="0">
                <a:latin typeface="urw-din"/>
              </a:rPr>
              <a:t> start, </a:t>
            </a:r>
            <a:r>
              <a:rPr lang="en-US" dirty="0" err="1">
                <a:latin typeface="urw-din"/>
              </a:rPr>
              <a:t>RandomAccessIterator</a:t>
            </a:r>
            <a:r>
              <a:rPr lang="en-US" dirty="0">
                <a:latin typeface="urw-din"/>
              </a:rPr>
              <a:t> end)</a:t>
            </a:r>
          </a:p>
          <a:p>
            <a:pPr lvl="1"/>
            <a:r>
              <a:rPr lang="en-US" dirty="0">
                <a:latin typeface="urw-din"/>
              </a:rPr>
              <a:t>Will use the default &lt; operator if it exist for the object. </a:t>
            </a:r>
          </a:p>
          <a:p>
            <a:pPr lvl="2"/>
            <a:r>
              <a:rPr lang="en-US" dirty="0">
                <a:latin typeface="urw-din"/>
              </a:rPr>
              <a:t>If it doesn’t the code will not compile</a:t>
            </a:r>
          </a:p>
          <a:p>
            <a:pPr lvl="2"/>
            <a:r>
              <a:rPr lang="en-US" dirty="0">
                <a:latin typeface="urw-din"/>
              </a:rPr>
              <a:t>You can always overload it yourself if required</a:t>
            </a:r>
          </a:p>
          <a:p>
            <a:pPr lvl="2"/>
            <a:endParaRPr lang="en-US" dirty="0">
              <a:latin typeface="urw-din"/>
            </a:endParaRPr>
          </a:p>
          <a:p>
            <a:pPr lvl="1"/>
            <a:r>
              <a:rPr lang="en-US" dirty="0">
                <a:latin typeface="urw-din"/>
              </a:rPr>
              <a:t>std::sort(</a:t>
            </a:r>
            <a:r>
              <a:rPr lang="en-US" dirty="0" err="1">
                <a:latin typeface="urw-din"/>
              </a:rPr>
              <a:t>RandomAccessIterator</a:t>
            </a:r>
            <a:r>
              <a:rPr lang="en-US" dirty="0">
                <a:latin typeface="urw-din"/>
              </a:rPr>
              <a:t> start, </a:t>
            </a:r>
            <a:r>
              <a:rPr lang="en-US" dirty="0" err="1">
                <a:latin typeface="urw-din"/>
              </a:rPr>
              <a:t>RandomAccessIterator</a:t>
            </a:r>
            <a:r>
              <a:rPr lang="en-US" dirty="0">
                <a:latin typeface="urw-din"/>
              </a:rPr>
              <a:t> end, </a:t>
            </a:r>
            <a:r>
              <a:rPr lang="en-US" dirty="0" err="1">
                <a:latin typeface="urw-din"/>
              </a:rPr>
              <a:t>Pred</a:t>
            </a:r>
            <a:r>
              <a:rPr lang="en-US" dirty="0">
                <a:latin typeface="urw-din"/>
              </a:rPr>
              <a:t> </a:t>
            </a:r>
            <a:r>
              <a:rPr lang="en-US" dirty="0" err="1">
                <a:latin typeface="urw-din"/>
              </a:rPr>
              <a:t>predicate_function</a:t>
            </a:r>
            <a:r>
              <a:rPr lang="en-US" dirty="0">
                <a:latin typeface="urw-din"/>
              </a:rPr>
              <a:t>)</a:t>
            </a:r>
          </a:p>
          <a:p>
            <a:pPr lvl="2"/>
            <a:r>
              <a:rPr lang="en-US" dirty="0">
                <a:latin typeface="urw-din"/>
              </a:rPr>
              <a:t>Like in the sorting lab</a:t>
            </a:r>
          </a:p>
          <a:p>
            <a:pPr lvl="2"/>
            <a:r>
              <a:rPr lang="en-US" dirty="0">
                <a:latin typeface="urw-din"/>
              </a:rPr>
              <a:t>Takes a comparison function matching the signature</a:t>
            </a:r>
          </a:p>
          <a:p>
            <a:pPr lvl="3"/>
            <a:r>
              <a:rPr lang="en-US" dirty="0">
                <a:latin typeface="urw-din"/>
              </a:rPr>
              <a:t>bool </a:t>
            </a:r>
            <a:r>
              <a:rPr lang="en-US" dirty="0" err="1">
                <a:latin typeface="urw-din"/>
              </a:rPr>
              <a:t>function_name</a:t>
            </a:r>
            <a:r>
              <a:rPr lang="en-US" dirty="0">
                <a:latin typeface="urw-din"/>
              </a:rPr>
              <a:t>(const T&amp; </a:t>
            </a:r>
            <a:r>
              <a:rPr lang="en-US" dirty="0" err="1">
                <a:latin typeface="urw-din"/>
              </a:rPr>
              <a:t>lhs</a:t>
            </a:r>
            <a:r>
              <a:rPr lang="en-US" dirty="0">
                <a:latin typeface="urw-din"/>
              </a:rPr>
              <a:t>, const T&amp; </a:t>
            </a:r>
            <a:r>
              <a:rPr lang="en-US" dirty="0" err="1">
                <a:latin typeface="urw-din"/>
              </a:rPr>
              <a:t>rhs</a:t>
            </a:r>
            <a:r>
              <a:rPr lang="en-US" dirty="0">
                <a:latin typeface="urw-din"/>
              </a:rPr>
              <a:t>)</a:t>
            </a:r>
          </a:p>
          <a:p>
            <a:pPr lvl="4"/>
            <a:r>
              <a:rPr lang="en-US" dirty="0">
                <a:latin typeface="urw-din"/>
              </a:rPr>
              <a:t>This returns if true if the elements are in correct order</a:t>
            </a:r>
          </a:p>
          <a:p>
            <a:pPr lvl="1"/>
            <a:endParaRPr lang="en-US" dirty="0">
              <a:latin typeface="urw-din"/>
            </a:endParaRPr>
          </a:p>
          <a:p>
            <a:pPr lvl="1"/>
            <a:endParaRPr lang="en-US" dirty="0">
              <a:latin typeface="urw-din"/>
            </a:endParaRPr>
          </a:p>
          <a:p>
            <a:pPr lvl="2"/>
            <a:endParaRPr lang="en-US" dirty="0">
              <a:latin typeface="urw-din"/>
            </a:endParaRPr>
          </a:p>
          <a:p>
            <a:pPr lvl="1"/>
            <a:endParaRPr lang="en-CA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val="2648703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FF1B-69B9-4308-A381-EBA83073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Algorithms - Searching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DD9A-59BA-4961-B6AA-310DCBE54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9506"/>
            <a:ext cx="10515600" cy="4554232"/>
          </a:xfrm>
        </p:spPr>
        <p:txBody>
          <a:bodyPr/>
          <a:lstStyle/>
          <a:p>
            <a:pPr lvl="2"/>
            <a:endParaRPr lang="en-US" dirty="0">
              <a:latin typeface="urw-din"/>
            </a:endParaRPr>
          </a:p>
          <a:p>
            <a:pPr lvl="1"/>
            <a:r>
              <a:rPr lang="en-US" dirty="0">
                <a:latin typeface="urw-din"/>
              </a:rPr>
              <a:t>std::find(</a:t>
            </a:r>
            <a:r>
              <a:rPr lang="en-US" dirty="0" err="1">
                <a:latin typeface="urw-din"/>
              </a:rPr>
              <a:t>InputIterator</a:t>
            </a:r>
            <a:r>
              <a:rPr lang="en-US" dirty="0">
                <a:latin typeface="urw-din"/>
              </a:rPr>
              <a:t> start, </a:t>
            </a:r>
            <a:r>
              <a:rPr lang="en-US" dirty="0" err="1">
                <a:latin typeface="urw-din"/>
              </a:rPr>
              <a:t>InputIterator</a:t>
            </a:r>
            <a:r>
              <a:rPr lang="en-US" dirty="0">
                <a:latin typeface="urw-din"/>
              </a:rPr>
              <a:t> end, const T&amp; </a:t>
            </a:r>
            <a:r>
              <a:rPr lang="en-US" dirty="0" err="1">
                <a:latin typeface="urw-din"/>
              </a:rPr>
              <a:t>value_to_search_for</a:t>
            </a:r>
            <a:r>
              <a:rPr lang="en-US" dirty="0">
                <a:latin typeface="urw-din"/>
              </a:rPr>
              <a:t>)</a:t>
            </a:r>
          </a:p>
          <a:p>
            <a:pPr lvl="1"/>
            <a:r>
              <a:rPr lang="en-US" dirty="0">
                <a:latin typeface="urw-din"/>
              </a:rPr>
              <a:t>Searches and returns an iterator to the first element that has equal value. </a:t>
            </a:r>
          </a:p>
          <a:p>
            <a:pPr lvl="2"/>
            <a:r>
              <a:rPr lang="en-US" dirty="0">
                <a:latin typeface="urw-din"/>
              </a:rPr>
              <a:t>T needs a == operator </a:t>
            </a:r>
          </a:p>
          <a:p>
            <a:pPr lvl="1"/>
            <a:endParaRPr lang="en-US" dirty="0">
              <a:latin typeface="urw-din"/>
            </a:endParaRPr>
          </a:p>
          <a:p>
            <a:pPr lvl="1"/>
            <a:r>
              <a:rPr lang="en-US" dirty="0">
                <a:latin typeface="urw-din"/>
              </a:rPr>
              <a:t>What if the value doesn’t exist?</a:t>
            </a:r>
          </a:p>
          <a:p>
            <a:pPr lvl="2"/>
            <a:r>
              <a:rPr lang="en-US" dirty="0">
                <a:latin typeface="urw-din"/>
              </a:rPr>
              <a:t>std::find still returns an iterator</a:t>
            </a:r>
          </a:p>
          <a:p>
            <a:pPr lvl="3"/>
            <a:r>
              <a:rPr lang="en-US" dirty="0">
                <a:latin typeface="urw-din"/>
              </a:rPr>
              <a:t>But it points to the end of the container (or one past the last element)</a:t>
            </a:r>
          </a:p>
          <a:p>
            <a:pPr lvl="2"/>
            <a:r>
              <a:rPr lang="en-US" dirty="0">
                <a:latin typeface="urw-din"/>
              </a:rPr>
              <a:t>We can test for this and program to handle this situation</a:t>
            </a:r>
          </a:p>
          <a:p>
            <a:pPr lvl="1"/>
            <a:endParaRPr lang="en-US" dirty="0">
              <a:latin typeface="urw-din"/>
            </a:endParaRPr>
          </a:p>
          <a:p>
            <a:pPr lvl="1"/>
            <a:endParaRPr lang="en-CA" dirty="0">
              <a:latin typeface="urw-di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BC3987-241C-4354-AEAD-D73BE4198CE7}"/>
              </a:ext>
            </a:extLst>
          </p:cNvPr>
          <p:cNvSpPr/>
          <p:nvPr/>
        </p:nvSpPr>
        <p:spPr>
          <a:xfrm>
            <a:off x="3181874" y="4497089"/>
            <a:ext cx="465190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0C3A3-EC58-48A9-A903-22029DE2B691}"/>
              </a:ext>
            </a:extLst>
          </p:cNvPr>
          <p:cNvSpPr/>
          <p:nvPr/>
        </p:nvSpPr>
        <p:spPr>
          <a:xfrm>
            <a:off x="3371465" y="4661846"/>
            <a:ext cx="603681" cy="60368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C7043B-9357-48D9-B9EF-597F32D038EB}"/>
              </a:ext>
            </a:extLst>
          </p:cNvPr>
          <p:cNvSpPr/>
          <p:nvPr/>
        </p:nvSpPr>
        <p:spPr>
          <a:xfrm>
            <a:off x="4099064" y="4661846"/>
            <a:ext cx="603681" cy="60368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E3E688-71EB-4B59-8CE1-E5A5D7506C11}"/>
              </a:ext>
            </a:extLst>
          </p:cNvPr>
          <p:cNvSpPr/>
          <p:nvPr/>
        </p:nvSpPr>
        <p:spPr>
          <a:xfrm>
            <a:off x="4815365" y="4661846"/>
            <a:ext cx="603681" cy="60368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27EBBB-068A-44E3-A818-114BDBF9F742}"/>
              </a:ext>
            </a:extLst>
          </p:cNvPr>
          <p:cNvSpPr/>
          <p:nvPr/>
        </p:nvSpPr>
        <p:spPr>
          <a:xfrm>
            <a:off x="5542964" y="4661846"/>
            <a:ext cx="603681" cy="60368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FFB0CE-BAC3-43FB-96F1-2466902D1D76}"/>
              </a:ext>
            </a:extLst>
          </p:cNvPr>
          <p:cNvSpPr/>
          <p:nvPr/>
        </p:nvSpPr>
        <p:spPr>
          <a:xfrm>
            <a:off x="6304070" y="4661846"/>
            <a:ext cx="603681" cy="60368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C5F34D-5A4F-4F49-8892-F1135300025B}"/>
              </a:ext>
            </a:extLst>
          </p:cNvPr>
          <p:cNvSpPr/>
          <p:nvPr/>
        </p:nvSpPr>
        <p:spPr>
          <a:xfrm>
            <a:off x="7031669" y="4661846"/>
            <a:ext cx="603681" cy="60368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04DDFDD-5A90-4AC2-B291-9C3E70DE1EF0}"/>
              </a:ext>
            </a:extLst>
          </p:cNvPr>
          <p:cNvCxnSpPr>
            <a:cxnSpLocks/>
          </p:cNvCxnSpPr>
          <p:nvPr/>
        </p:nvCxnSpPr>
        <p:spPr>
          <a:xfrm flipV="1">
            <a:off x="3371465" y="5411489"/>
            <a:ext cx="0" cy="702984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12E481-A66C-4983-810A-DF202EB4C7BD}"/>
              </a:ext>
            </a:extLst>
          </p:cNvPr>
          <p:cNvCxnSpPr>
            <a:cxnSpLocks/>
          </p:cNvCxnSpPr>
          <p:nvPr/>
        </p:nvCxnSpPr>
        <p:spPr>
          <a:xfrm flipV="1">
            <a:off x="7640160" y="5411489"/>
            <a:ext cx="0" cy="702984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56C597F-7443-4288-A1F1-48C7DB540ED7}"/>
              </a:ext>
            </a:extLst>
          </p:cNvPr>
          <p:cNvSpPr txBox="1"/>
          <p:nvPr/>
        </p:nvSpPr>
        <p:spPr>
          <a:xfrm>
            <a:off x="3055320" y="6114473"/>
            <a:ext cx="632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Start</a:t>
            </a:r>
            <a:endParaRPr lang="en-CA" dirty="0">
              <a:solidFill>
                <a:schemeClr val="accent6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3E2A82-5E33-4851-8E7D-D1D3E1B4206B}"/>
              </a:ext>
            </a:extLst>
          </p:cNvPr>
          <p:cNvSpPr txBox="1"/>
          <p:nvPr/>
        </p:nvSpPr>
        <p:spPr>
          <a:xfrm>
            <a:off x="7365083" y="608037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End</a:t>
            </a:r>
            <a:endParaRPr lang="en-C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392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FF1B-69B9-4308-A381-EBA830737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560" y="237663"/>
            <a:ext cx="10318440" cy="83062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Algorithms - Data Transformation / Manipulation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DD9A-59BA-4961-B6AA-310DCBE54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>
                <a:latin typeface="urw-din"/>
              </a:rPr>
              <a:t>std::transform(</a:t>
            </a:r>
            <a:r>
              <a:rPr lang="en-US" dirty="0" err="1">
                <a:latin typeface="urw-din"/>
              </a:rPr>
              <a:t>InputIterator</a:t>
            </a:r>
            <a:r>
              <a:rPr lang="en-US" dirty="0">
                <a:latin typeface="urw-din"/>
              </a:rPr>
              <a:t> start, </a:t>
            </a:r>
            <a:r>
              <a:rPr lang="en-US" dirty="0" err="1">
                <a:latin typeface="urw-din"/>
              </a:rPr>
              <a:t>InputIterator</a:t>
            </a:r>
            <a:r>
              <a:rPr lang="en-US" dirty="0">
                <a:latin typeface="urw-din"/>
              </a:rPr>
              <a:t> end, </a:t>
            </a:r>
            <a:r>
              <a:rPr lang="en-US" dirty="0" err="1">
                <a:latin typeface="urw-din"/>
              </a:rPr>
              <a:t>OutputIterator</a:t>
            </a:r>
            <a:r>
              <a:rPr lang="en-US" dirty="0">
                <a:latin typeface="urw-din"/>
              </a:rPr>
              <a:t> </a:t>
            </a:r>
            <a:r>
              <a:rPr lang="en-US" dirty="0" err="1">
                <a:latin typeface="urw-din"/>
              </a:rPr>
              <a:t>out_begin</a:t>
            </a:r>
            <a:r>
              <a:rPr lang="en-US" dirty="0">
                <a:latin typeface="urw-din"/>
              </a:rPr>
              <a:t>, Function </a:t>
            </a:r>
            <a:r>
              <a:rPr lang="en-US" dirty="0" err="1">
                <a:latin typeface="urw-din"/>
              </a:rPr>
              <a:t>func</a:t>
            </a:r>
            <a:r>
              <a:rPr lang="en-US" dirty="0">
                <a:latin typeface="urw-din"/>
              </a:rPr>
              <a:t>)</a:t>
            </a:r>
          </a:p>
          <a:p>
            <a:pPr lvl="2"/>
            <a:r>
              <a:rPr lang="en-US" dirty="0">
                <a:latin typeface="urw-din"/>
              </a:rPr>
              <a:t>Allows us to perform a modification task on elements in our range</a:t>
            </a:r>
          </a:p>
          <a:p>
            <a:pPr lvl="2"/>
            <a:r>
              <a:rPr lang="en-US" dirty="0">
                <a:latin typeface="urw-din"/>
              </a:rPr>
              <a:t>This could be on some or all the elements</a:t>
            </a:r>
          </a:p>
          <a:p>
            <a:pPr lvl="2"/>
            <a:r>
              <a:rPr lang="en-US" dirty="0">
                <a:latin typeface="urw-din"/>
              </a:rPr>
              <a:t>The results can be stored back into the original container or stored in a new container. </a:t>
            </a:r>
          </a:p>
          <a:p>
            <a:pPr lvl="3"/>
            <a:r>
              <a:rPr lang="en-US" dirty="0">
                <a:latin typeface="urw-din"/>
              </a:rPr>
              <a:t>The result container must be the correct size for this to work</a:t>
            </a:r>
          </a:p>
          <a:p>
            <a:pPr lvl="4"/>
            <a:r>
              <a:rPr lang="en-US" dirty="0">
                <a:latin typeface="urw-din"/>
              </a:rPr>
              <a:t>If it is too small, it will throw an exception</a:t>
            </a:r>
          </a:p>
          <a:p>
            <a:pPr lvl="3"/>
            <a:endParaRPr lang="en-US" dirty="0">
              <a:latin typeface="urw-din"/>
            </a:endParaRPr>
          </a:p>
          <a:p>
            <a:pPr lvl="1"/>
            <a:r>
              <a:rPr lang="en-US" dirty="0">
                <a:latin typeface="urw-din"/>
              </a:rPr>
              <a:t>std::fill(</a:t>
            </a:r>
            <a:r>
              <a:rPr lang="en-US" dirty="0" err="1">
                <a:latin typeface="urw-din"/>
              </a:rPr>
              <a:t>InputIterator</a:t>
            </a:r>
            <a:r>
              <a:rPr lang="en-US" dirty="0">
                <a:latin typeface="urw-din"/>
              </a:rPr>
              <a:t> start, </a:t>
            </a:r>
            <a:r>
              <a:rPr lang="en-US" dirty="0" err="1">
                <a:latin typeface="urw-din"/>
              </a:rPr>
              <a:t>InputIterator</a:t>
            </a:r>
            <a:r>
              <a:rPr lang="en-US" dirty="0">
                <a:latin typeface="urw-din"/>
              </a:rPr>
              <a:t> end, </a:t>
            </a:r>
            <a:r>
              <a:rPr lang="en-US" dirty="0" err="1">
                <a:latin typeface="urw-din"/>
              </a:rPr>
              <a:t>OutputIterator</a:t>
            </a:r>
            <a:r>
              <a:rPr lang="en-US" dirty="0">
                <a:latin typeface="urw-din"/>
              </a:rPr>
              <a:t> </a:t>
            </a:r>
            <a:r>
              <a:rPr lang="en-US" dirty="0" err="1">
                <a:latin typeface="urw-din"/>
              </a:rPr>
              <a:t>out_begin</a:t>
            </a:r>
            <a:r>
              <a:rPr lang="en-US" dirty="0">
                <a:latin typeface="urw-din"/>
              </a:rPr>
              <a:t>, Function </a:t>
            </a:r>
            <a:r>
              <a:rPr lang="en-US" dirty="0" err="1">
                <a:latin typeface="urw-din"/>
              </a:rPr>
              <a:t>func</a:t>
            </a:r>
            <a:r>
              <a:rPr lang="en-US" dirty="0">
                <a:latin typeface="urw-din"/>
              </a:rPr>
              <a:t>)</a:t>
            </a:r>
          </a:p>
          <a:p>
            <a:pPr lvl="2"/>
            <a:r>
              <a:rPr lang="en-US" dirty="0">
                <a:latin typeface="urw-din"/>
              </a:rPr>
              <a:t>Populate our container will a common value</a:t>
            </a:r>
          </a:p>
          <a:p>
            <a:pPr lvl="1"/>
            <a:endParaRPr lang="en-US" dirty="0">
              <a:latin typeface="urw-din"/>
            </a:endParaRPr>
          </a:p>
          <a:p>
            <a:pPr lvl="1"/>
            <a:endParaRPr lang="en-US" dirty="0">
              <a:latin typeface="urw-din"/>
            </a:endParaRPr>
          </a:p>
          <a:p>
            <a:pPr lvl="2"/>
            <a:endParaRPr lang="en-US" dirty="0">
              <a:latin typeface="urw-din"/>
            </a:endParaRPr>
          </a:p>
          <a:p>
            <a:pPr lvl="1"/>
            <a:endParaRPr lang="en-CA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val="1902419208"/>
      </p:ext>
    </p:extLst>
  </p:cSld>
  <p:clrMapOvr>
    <a:masterClrMapping/>
  </p:clrMapOvr>
</p:sld>
</file>

<file path=ppt/theme/theme1.xml><?xml version="1.0" encoding="utf-8"?>
<a:theme xmlns:a="http://schemas.openxmlformats.org/drawingml/2006/main" name="Fanshawe_F202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nshawe_F2020" id="{3E729443-EF42-41F3-A241-659D98D35E2E}" vid="{AB8BE6BD-5223-4ADB-A124-8EBB7E608F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Fanshawe_F2020</Template>
  <TotalTime>315</TotalTime>
  <Words>746</Words>
  <Application>Microsoft Office PowerPoint</Application>
  <PresentationFormat>Widescreen</PresentationFormat>
  <Paragraphs>146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urw-din</vt:lpstr>
      <vt:lpstr>Fanshawe_F2020</vt:lpstr>
      <vt:lpstr>Standard Template Library &amp; The &lt;algorithm&gt; Header</vt:lpstr>
      <vt:lpstr>What Is The STL?</vt:lpstr>
      <vt:lpstr>Containers</vt:lpstr>
      <vt:lpstr>Containers - Sequence</vt:lpstr>
      <vt:lpstr>Containers - Sequence Adapters</vt:lpstr>
      <vt:lpstr>Containers - Associative</vt:lpstr>
      <vt:lpstr>Containers - Un-ordered Associative</vt:lpstr>
      <vt:lpstr>Predicate Functions / Functors</vt:lpstr>
      <vt:lpstr>Iterators</vt:lpstr>
      <vt:lpstr>Algorithms</vt:lpstr>
      <vt:lpstr>Algorithms - Sorting</vt:lpstr>
      <vt:lpstr>Algorithms - Searching</vt:lpstr>
      <vt:lpstr>Algorithms - Data Transformation / Manipulation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Template Library &amp; The &lt;algorithm&gt; Header</dc:title>
  <dc:creator>Daniel Maclam</dc:creator>
  <cp:lastModifiedBy>Feeney, Michael</cp:lastModifiedBy>
  <cp:revision>26</cp:revision>
  <dcterms:created xsi:type="dcterms:W3CDTF">2020-12-03T14:59:57Z</dcterms:created>
  <dcterms:modified xsi:type="dcterms:W3CDTF">2025-11-27T10:44:26Z</dcterms:modified>
</cp:coreProperties>
</file>